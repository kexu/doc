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7" r:id="rId3"/>
    <p:sldId id="268" r:id="rId4"/>
    <p:sldId id="265" r:id="rId5"/>
    <p:sldId id="269" r:id="rId6"/>
    <p:sldId id="270" r:id="rId7"/>
    <p:sldId id="271" r:id="rId8"/>
    <p:sldId id="272" r:id="rId9"/>
    <p:sldId id="266" r:id="rId10"/>
    <p:sldId id="273" r:id="rId11"/>
    <p:sldId id="275" r:id="rId12"/>
    <p:sldId id="274" r:id="rId13"/>
    <p:sldId id="276" r:id="rId14"/>
    <p:sldId id="264" r:id="rId15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361" autoAdjust="0"/>
  </p:normalViewPr>
  <p:slideViewPr>
    <p:cSldViewPr>
      <p:cViewPr varScale="1">
        <p:scale>
          <a:sx n="145" d="100"/>
          <a:sy n="145" d="100"/>
        </p:scale>
        <p:origin x="852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Headcount (HW</a:t>
            </a:r>
            <a:r>
              <a:rPr lang="en-US" baseline="0" dirty="0" smtClean="0">
                <a:latin typeface="Arial" panose="020B0604020202020204" pitchFamily="34" charset="0"/>
                <a:cs typeface="Arial" panose="020B0604020202020204" pitchFamily="34" charset="0"/>
              </a:rPr>
              <a:t> + FW + SW)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</c:dPt>
          <c:cat>
            <c:strRef>
              <c:f>Sheet1!$A$2:$A$6</c:f>
              <c:strCache>
                <c:ptCount val="5"/>
                <c:pt idx="0">
                  <c:v>GPU</c:v>
                </c:pt>
                <c:pt idx="1">
                  <c:v>Camera</c:v>
                </c:pt>
                <c:pt idx="2">
                  <c:v>Video</c:v>
                </c:pt>
                <c:pt idx="3">
                  <c:v>Audio</c:v>
                </c:pt>
                <c:pt idx="4">
                  <c:v>Display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</c:v>
                </c:pt>
                <c:pt idx="1">
                  <c:v>250</c:v>
                </c:pt>
                <c:pt idx="2">
                  <c:v>150</c:v>
                </c:pt>
                <c:pt idx="3">
                  <c:v>150</c:v>
                </c:pt>
                <c:pt idx="4">
                  <c:v>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0282904"/>
        <c:axId val="180283296"/>
      </c:barChart>
      <c:catAx>
        <c:axId val="180282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83296"/>
        <c:crosses val="autoZero"/>
        <c:auto val="1"/>
        <c:lblAlgn val="ctr"/>
        <c:lblOffset val="100"/>
        <c:noMultiLvlLbl val="0"/>
      </c:catAx>
      <c:valAx>
        <c:axId val="180283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82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2C9A3-5BAD-43E8-B77F-3F9D82DC2DB8}" type="datetimeFigureOut">
              <a:rPr lang="en-US" smtClean="0"/>
              <a:t>6/28/2015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C920FB-EE54-46DF-B7B1-D891745C4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35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768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3528" y="27216"/>
            <a:ext cx="8820472" cy="857250"/>
          </a:xfrm>
        </p:spPr>
        <p:txBody>
          <a:bodyPr/>
          <a:lstStyle>
            <a:lvl1pPr algn="l">
              <a:defRPr sz="32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altLang="ko-KR" dirty="0" smtClean="0"/>
              <a:t> Click to edit Master title style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9582"/>
            <a:ext cx="8229600" cy="3535041"/>
          </a:xfrm>
        </p:spPr>
        <p:txBody>
          <a:bodyPr/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Qualcomm Office Regular" panose="020B0503030202060203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Qualcomm Office Regular" panose="020B0503030202060203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Qualcomm Office Regular" panose="020B0503030202060203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Qualcomm Office Regular" panose="020B0503030202060203" pitchFamily="34" charset="0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Qualcomm Office Regular" panose="020B0503030202060203" pitchFamily="34" charset="0"/>
              </a:defRPr>
            </a:lvl5pPr>
          </a:lstStyle>
          <a:p>
            <a:pPr lvl="0"/>
            <a:r>
              <a:rPr lang="en-US" altLang="ko-KR" dirty="0" smtClean="0"/>
              <a:t>Click to edit 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ko-KR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2015-06-28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67544" y="843558"/>
            <a:ext cx="8219256" cy="0"/>
          </a:xfrm>
          <a:prstGeom prst="line">
            <a:avLst/>
          </a:prstGeom>
          <a:ln w="57150"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943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2015-06-28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80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2015-06-28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61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2015-06-28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51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2015-06-28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10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2015-06-28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2809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2015-06-28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0044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2015-06-28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59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2015-06-28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552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2015-06-28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0338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7216"/>
            <a:ext cx="6948264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C5CDB-1AEF-4522-8EAF-CE1F4E5D863E}" type="datetimeFigureOut">
              <a:rPr lang="ko-KR" altLang="en-US" smtClean="0"/>
              <a:t>2015-06-28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3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36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0232" y="4011910"/>
            <a:ext cx="12241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kumimoji="0" lang="en-US" altLang="ko-KR" sz="1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Xu, Ph.D.</a:t>
            </a:r>
            <a:endParaRPr kumimoji="0" lang="en-US" altLang="ko-KR" sz="1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3635896" y="3291830"/>
            <a:ext cx="43924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3200" b="1" dirty="0" smtClean="0">
                <a:solidFill>
                  <a:schemeClr val="bg1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Organization</a:t>
            </a:r>
          </a:p>
        </p:txBody>
      </p:sp>
    </p:spTree>
    <p:extLst>
      <p:ext uri="{BB962C8B-B14F-4D97-AF65-F5344CB8AC3E}">
        <p14:creationId xmlns:p14="http://schemas.microsoft.com/office/powerpoint/2010/main" val="30344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Leading Semiconductor Industry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 bwMode="gray">
          <a:xfrm>
            <a:off x="540626" y="849903"/>
            <a:ext cx="1385316" cy="1862048"/>
          </a:xfrm>
          <a:prstGeom prst="rect">
            <a:avLst/>
          </a:prstGeom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600" kern="0" baseline="30000" dirty="0" smtClean="0">
                <a:gradFill>
                  <a:gsLst>
                    <a:gs pos="50000">
                      <a:srgbClr val="000000">
                        <a:lumMod val="75000"/>
                        <a:lumOff val="25000"/>
                      </a:srgbClr>
                    </a:gs>
                    <a:gs pos="0">
                      <a:srgbClr val="FFFFFF">
                        <a:lumMod val="50000"/>
                      </a:srgbClr>
                    </a:gs>
                  </a:gsLst>
                  <a:lin ang="5400000" scaled="0"/>
                </a:gradFill>
                <a:latin typeface="Arial" charset="0"/>
              </a:rPr>
              <a:t>#</a:t>
            </a:r>
            <a:r>
              <a:rPr lang="en-US" sz="11200" b="1" kern="0" dirty="0" smtClean="0">
                <a:gradFill>
                  <a:gsLst>
                    <a:gs pos="50000">
                      <a:srgbClr val="000000">
                        <a:lumMod val="75000"/>
                        <a:lumOff val="25000"/>
                      </a:srgbClr>
                    </a:gs>
                    <a:gs pos="0">
                      <a:srgbClr val="FFFFFF">
                        <a:lumMod val="50000"/>
                      </a:srgbClr>
                    </a:gs>
                  </a:gsLst>
                  <a:lin ang="5400000" scaled="0"/>
                </a:gradFill>
                <a:latin typeface="Arial" charset="0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 bwMode="gray">
          <a:xfrm>
            <a:off x="757526" y="2358008"/>
            <a:ext cx="15101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5F0088"/>
                </a:solidFill>
                <a:latin typeface="Arial" charset="0"/>
              </a:rPr>
              <a:t>WIRELESS</a:t>
            </a:r>
            <a:br>
              <a:rPr lang="en-US" sz="2000" dirty="0" smtClean="0">
                <a:solidFill>
                  <a:srgbClr val="5F0088"/>
                </a:solidFill>
                <a:latin typeface="Arial" charset="0"/>
              </a:rPr>
            </a:br>
            <a:r>
              <a:rPr lang="en-US" sz="2000" dirty="0" smtClean="0">
                <a:solidFill>
                  <a:srgbClr val="5F0088"/>
                </a:solidFill>
                <a:latin typeface="Arial" charset="0"/>
              </a:rPr>
              <a:t>COMPANY</a:t>
            </a:r>
            <a:endParaRPr lang="en-US" sz="2000" dirty="0">
              <a:solidFill>
                <a:srgbClr val="5F0088"/>
              </a:solidFill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 bwMode="gray">
          <a:xfrm>
            <a:off x="2699792" y="849903"/>
            <a:ext cx="1385316" cy="1862048"/>
          </a:xfrm>
          <a:prstGeom prst="rect">
            <a:avLst/>
          </a:prstGeom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600" kern="0" baseline="30000" dirty="0" smtClean="0">
                <a:gradFill>
                  <a:gsLst>
                    <a:gs pos="50000">
                      <a:srgbClr val="000000">
                        <a:lumMod val="75000"/>
                        <a:lumOff val="25000"/>
                      </a:srgbClr>
                    </a:gs>
                    <a:gs pos="0">
                      <a:srgbClr val="FFFFFF">
                        <a:lumMod val="50000"/>
                      </a:srgbClr>
                    </a:gs>
                  </a:gsLst>
                  <a:lin ang="5400000" scaled="0"/>
                </a:gradFill>
                <a:latin typeface="Arial" charset="0"/>
              </a:rPr>
              <a:t>#</a:t>
            </a:r>
            <a:r>
              <a:rPr lang="en-US" sz="11200" b="1" kern="0" dirty="0" smtClean="0">
                <a:gradFill>
                  <a:gsLst>
                    <a:gs pos="50000">
                      <a:srgbClr val="000000">
                        <a:lumMod val="75000"/>
                        <a:lumOff val="25000"/>
                      </a:srgbClr>
                    </a:gs>
                    <a:gs pos="0">
                      <a:srgbClr val="FFFFFF">
                        <a:lumMod val="50000"/>
                      </a:srgbClr>
                    </a:gs>
                  </a:gsLst>
                  <a:lin ang="5400000" scaled="0"/>
                </a:gradFill>
                <a:latin typeface="Arial" charset="0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 bwMode="gray">
          <a:xfrm>
            <a:off x="2798404" y="2358008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5F0088"/>
                </a:solidFill>
                <a:latin typeface="Arial" charset="0"/>
              </a:rPr>
              <a:t>FABLESS</a:t>
            </a:r>
            <a:br>
              <a:rPr lang="en-US" sz="2000" dirty="0" smtClean="0">
                <a:solidFill>
                  <a:srgbClr val="5F0088"/>
                </a:solidFill>
                <a:latin typeface="Arial" charset="0"/>
              </a:rPr>
            </a:br>
            <a:r>
              <a:rPr lang="en-US" sz="2000" dirty="0" smtClean="0">
                <a:solidFill>
                  <a:srgbClr val="5F0088"/>
                </a:solidFill>
                <a:latin typeface="Arial" charset="0"/>
              </a:rPr>
              <a:t>COMPANY</a:t>
            </a:r>
          </a:p>
        </p:txBody>
      </p:sp>
      <p:sp>
        <p:nvSpPr>
          <p:cNvPr id="8" name="Rectangle 7"/>
          <p:cNvSpPr/>
          <p:nvPr/>
        </p:nvSpPr>
        <p:spPr bwMode="gray">
          <a:xfrm>
            <a:off x="4744343" y="849903"/>
            <a:ext cx="1385316" cy="1862048"/>
          </a:xfrm>
          <a:prstGeom prst="rect">
            <a:avLst/>
          </a:prstGeom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600" kern="0" baseline="30000" dirty="0" smtClean="0">
                <a:gradFill>
                  <a:gsLst>
                    <a:gs pos="50000">
                      <a:srgbClr val="000000">
                        <a:lumMod val="75000"/>
                        <a:lumOff val="25000"/>
                      </a:srgbClr>
                    </a:gs>
                    <a:gs pos="0">
                      <a:srgbClr val="FFFFFF">
                        <a:lumMod val="50000"/>
                      </a:srgbClr>
                    </a:gs>
                  </a:gsLst>
                  <a:lin ang="5400000" scaled="0"/>
                </a:gradFill>
                <a:latin typeface="Arial" charset="0"/>
              </a:rPr>
              <a:t>#</a:t>
            </a:r>
            <a:r>
              <a:rPr lang="en-US" sz="11200" b="1" kern="0" dirty="0" smtClean="0">
                <a:gradFill>
                  <a:gsLst>
                    <a:gs pos="50000">
                      <a:srgbClr val="000000">
                        <a:lumMod val="75000"/>
                        <a:lumOff val="25000"/>
                      </a:srgbClr>
                    </a:gs>
                    <a:gs pos="0">
                      <a:srgbClr val="FFFFFF">
                        <a:lumMod val="50000"/>
                      </a:srgbClr>
                    </a:gs>
                  </a:gsLst>
                  <a:lin ang="5400000" scaled="0"/>
                </a:gradFill>
                <a:latin typeface="Arial" charset="0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 bwMode="gray">
          <a:xfrm>
            <a:off x="4825621" y="2358008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5F0088"/>
                </a:solidFill>
                <a:latin typeface="Arial" charset="0"/>
              </a:rPr>
              <a:t>RFIC</a:t>
            </a:r>
            <a:br>
              <a:rPr lang="en-US" sz="2000" dirty="0" smtClean="0">
                <a:solidFill>
                  <a:srgbClr val="5F0088"/>
                </a:solidFill>
                <a:latin typeface="Arial" charset="0"/>
              </a:rPr>
            </a:br>
            <a:r>
              <a:rPr lang="en-US" sz="2000" dirty="0" smtClean="0">
                <a:solidFill>
                  <a:srgbClr val="5F0088"/>
                </a:solidFill>
                <a:latin typeface="Arial" charset="0"/>
              </a:rPr>
              <a:t>COMPANY</a:t>
            </a:r>
          </a:p>
        </p:txBody>
      </p:sp>
      <p:sp>
        <p:nvSpPr>
          <p:cNvPr id="10" name="Rectangle 9"/>
          <p:cNvSpPr/>
          <p:nvPr/>
        </p:nvSpPr>
        <p:spPr bwMode="gray">
          <a:xfrm>
            <a:off x="6936559" y="849903"/>
            <a:ext cx="1343638" cy="1815882"/>
          </a:xfrm>
          <a:prstGeom prst="rect">
            <a:avLst/>
          </a:prstGeom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600" kern="0" baseline="30000" dirty="0" smtClean="0">
                <a:gradFill>
                  <a:gsLst>
                    <a:gs pos="50000">
                      <a:srgbClr val="000000">
                        <a:lumMod val="75000"/>
                        <a:lumOff val="25000"/>
                      </a:srgbClr>
                    </a:gs>
                    <a:gs pos="0">
                      <a:srgbClr val="FFFFFF">
                        <a:lumMod val="50000"/>
                      </a:srgbClr>
                    </a:gs>
                  </a:gsLst>
                  <a:lin ang="5400000" scaled="0"/>
                </a:gradFill>
                <a:latin typeface="Arial" charset="0"/>
              </a:rPr>
              <a:t>#</a:t>
            </a:r>
            <a:r>
              <a:rPr lang="en-US" sz="11200" b="1" kern="0" dirty="0">
                <a:gradFill>
                  <a:gsLst>
                    <a:gs pos="50000">
                      <a:srgbClr val="000000">
                        <a:lumMod val="75000"/>
                        <a:lumOff val="25000"/>
                      </a:srgbClr>
                    </a:gs>
                    <a:gs pos="0">
                      <a:srgbClr val="FFFFFF">
                        <a:lumMod val="50000"/>
                      </a:srgbClr>
                    </a:gs>
                  </a:gsLst>
                  <a:lin ang="5400000" scaled="0"/>
                </a:gradFill>
                <a:latin typeface="Arial" charset="0"/>
              </a:rPr>
              <a:t>4</a:t>
            </a:r>
            <a:endParaRPr lang="en-US" sz="11200" b="1" kern="0" dirty="0" smtClean="0">
              <a:gradFill>
                <a:gsLst>
                  <a:gs pos="50000">
                    <a:srgbClr val="000000">
                      <a:lumMod val="75000"/>
                      <a:lumOff val="25000"/>
                    </a:srgbClr>
                  </a:gs>
                  <a:gs pos="0">
                    <a:srgbClr val="FFFFFF">
                      <a:lumMod val="50000"/>
                    </a:srgbClr>
                  </a:gs>
                </a:gsLst>
                <a:lin ang="5400000" scaled="0"/>
              </a:gradFill>
              <a:latin typeface="Arial" charset="0"/>
            </a:endParaRPr>
          </a:p>
        </p:txBody>
      </p:sp>
      <p:sp>
        <p:nvSpPr>
          <p:cNvPr id="11" name="TextBox 10"/>
          <p:cNvSpPr txBox="1"/>
          <p:nvPr/>
        </p:nvSpPr>
        <p:spPr bwMode="gray">
          <a:xfrm>
            <a:off x="6588224" y="2311842"/>
            <a:ext cx="2474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5F0088"/>
                </a:solidFill>
                <a:latin typeface="Arial" charset="0"/>
              </a:rPr>
              <a:t>SEMICONDUCTOR</a:t>
            </a:r>
            <a:br>
              <a:rPr lang="en-US" sz="2000" dirty="0" smtClean="0">
                <a:solidFill>
                  <a:srgbClr val="5F0088"/>
                </a:solidFill>
                <a:latin typeface="Arial" charset="0"/>
              </a:rPr>
            </a:br>
            <a:r>
              <a:rPr lang="en-US" sz="2000" dirty="0" smtClean="0">
                <a:solidFill>
                  <a:srgbClr val="5F0088"/>
                </a:solidFill>
                <a:latin typeface="Arial" charset="0"/>
              </a:rPr>
              <a:t>COMPANY</a:t>
            </a:r>
          </a:p>
        </p:txBody>
      </p:sp>
      <p:pic>
        <p:nvPicPr>
          <p:cNvPr id="12" name="ecxMA1.1290025680" descr="CCDEB9AD2F5F4C088276B64ECCDF4F11@DonnyP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4575" y="3065894"/>
            <a:ext cx="4135186" cy="190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1851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Global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945369"/>
            <a:ext cx="229985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Arial" charset="0"/>
                <a:ea typeface="ＭＳ Ｐゴシック" pitchFamily="-110" charset="-128"/>
              </a:rPr>
              <a:t>30</a:t>
            </a:r>
            <a:r>
              <a:rPr lang="en-US" sz="1800" b="1" dirty="0" smtClean="0">
                <a:solidFill>
                  <a:srgbClr val="7030A0"/>
                </a:solidFill>
                <a:latin typeface="Arial" charset="0"/>
                <a:ea typeface="ＭＳ Ｐゴシック" pitchFamily="-110" charset="-128"/>
              </a:rPr>
              <a:t>,000+ employees in 144 worldwide </a:t>
            </a:r>
          </a:p>
          <a:p>
            <a:r>
              <a:rPr lang="en-US" sz="1800" b="1" dirty="0" smtClean="0">
                <a:solidFill>
                  <a:srgbClr val="7030A0"/>
                </a:solidFill>
                <a:latin typeface="Arial" charset="0"/>
                <a:ea typeface="ＭＳ Ｐゴシック" pitchFamily="-110" charset="-128"/>
              </a:rPr>
              <a:t>office locations</a:t>
            </a:r>
          </a:p>
          <a:p>
            <a:pPr algn="ctr"/>
            <a:endParaRPr lang="en-US" sz="1800" b="1" dirty="0" smtClean="0">
              <a:solidFill>
                <a:srgbClr val="7030A0"/>
              </a:solidFill>
              <a:latin typeface="Arial" charset="0"/>
              <a:ea typeface="ＭＳ Ｐゴシック" pitchFamily="-110" charset="-128"/>
            </a:endParaRPr>
          </a:p>
          <a:p>
            <a:r>
              <a:rPr lang="en-US" sz="1800" b="1" dirty="0" smtClean="0">
                <a:solidFill>
                  <a:srgbClr val="7030A0"/>
                </a:solidFill>
                <a:latin typeface="Arial" charset="0"/>
                <a:ea typeface="ＭＳ Ｐゴシック" pitchFamily="-110" charset="-128"/>
              </a:rPr>
              <a:t>Offices in: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North America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Middle East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South America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Australia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Europe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Africa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India 	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Asia</a:t>
            </a:r>
            <a:r>
              <a:rPr lang="en-US" sz="1800" b="1" dirty="0" smtClean="0">
                <a:solidFill>
                  <a:srgbClr val="7030A0"/>
                </a:solidFill>
                <a:latin typeface="Arial" panose="020B0604020202020204" pitchFamily="34" charset="0"/>
                <a:ea typeface="ＭＳ Ｐゴシック" pitchFamily="-110" charset="-128"/>
                <a:cs typeface="Arial" panose="020B0604020202020204" pitchFamily="34" charset="0"/>
              </a:rPr>
              <a:t> </a:t>
            </a: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3848" y="915566"/>
            <a:ext cx="5258282" cy="3813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7267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Executives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987574"/>
            <a:ext cx="4256333" cy="36313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04048" y="3723878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rgbClr val="FFC000"/>
                </a:solidFill>
              </a:rPr>
              <a:t>3 PhD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rgbClr val="FFC000"/>
                </a:solidFill>
              </a:rPr>
              <a:t>6 Glasses </a:t>
            </a:r>
            <a:r>
              <a:rPr lang="en-US" dirty="0" smtClean="0">
                <a:solidFill>
                  <a:srgbClr val="FFC000"/>
                </a:solidFill>
                <a:sym typeface="Wingdings" panose="05000000000000000000" pitchFamily="2" charset="2"/>
              </a:rPr>
              <a:t>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08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Engines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 bwMode="gray">
          <a:xfrm>
            <a:off x="4414" y="964960"/>
            <a:ext cx="9144000" cy="2399402"/>
          </a:xfrm>
          <a:prstGeom prst="rect">
            <a:avLst/>
          </a:prstGeom>
          <a:gradFill>
            <a:gsLst>
              <a:gs pos="0">
                <a:schemeClr val="tx1">
                  <a:alpha val="75000"/>
                </a:schemeClr>
              </a:gs>
              <a:gs pos="50000">
                <a:schemeClr val="tx1">
                  <a:alpha val="85000"/>
                </a:schemeClr>
              </a:gs>
            </a:gsLst>
            <a:lin ang="5400000" scaled="0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  <a:defRPr/>
            </a:pPr>
            <a:endParaRPr lang="en-US" kern="0" dirty="0" smtClean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4799" r="36014" b="34873"/>
          <a:stretch>
            <a:fillRect/>
          </a:stretch>
        </p:blipFill>
        <p:spPr bwMode="gray">
          <a:xfrm>
            <a:off x="503445" y="1059582"/>
            <a:ext cx="2625169" cy="2304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 cstate="print"/>
          <a:srcRect l="13000" t="36924" r="29674"/>
          <a:stretch>
            <a:fillRect/>
          </a:stretch>
        </p:blipFill>
        <p:spPr bwMode="gray">
          <a:xfrm>
            <a:off x="3263828" y="1059582"/>
            <a:ext cx="2625170" cy="230478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 bwMode="gray">
          <a:xfrm>
            <a:off x="3263828" y="3403359"/>
            <a:ext cx="2625170" cy="152310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alpha val="40000"/>
                </a:schemeClr>
              </a:gs>
              <a:gs pos="100000">
                <a:schemeClr val="accent5">
                  <a:lumMod val="60000"/>
                  <a:lumOff val="40000"/>
                  <a:alpha val="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  <a:defRPr/>
            </a:pPr>
            <a:endParaRPr lang="en-US" dirty="0" smtClean="0"/>
          </a:p>
        </p:txBody>
      </p:sp>
      <p:sp>
        <p:nvSpPr>
          <p:cNvPr id="8" name="Rectangle 7"/>
          <p:cNvSpPr/>
          <p:nvPr/>
        </p:nvSpPr>
        <p:spPr bwMode="gray">
          <a:xfrm>
            <a:off x="503444" y="3403359"/>
            <a:ext cx="2625170" cy="152310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alpha val="40000"/>
                </a:schemeClr>
              </a:gs>
              <a:gs pos="100000">
                <a:schemeClr val="accent5">
                  <a:lumMod val="60000"/>
                  <a:lumOff val="40000"/>
                  <a:alpha val="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  <a:defRPr/>
            </a:pPr>
            <a:endParaRPr lang="en-US" dirty="0" smtClean="0"/>
          </a:p>
        </p:txBody>
      </p:sp>
      <p:sp>
        <p:nvSpPr>
          <p:cNvPr id="9" name="Rectangle 8"/>
          <p:cNvSpPr/>
          <p:nvPr/>
        </p:nvSpPr>
        <p:spPr bwMode="gray">
          <a:xfrm>
            <a:off x="3263828" y="2716324"/>
            <a:ext cx="2625170" cy="648038"/>
          </a:xfrm>
          <a:prstGeom prst="rect">
            <a:avLst/>
          </a:prstGeom>
          <a:solidFill>
            <a:srgbClr val="7030A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  <a:defRPr/>
            </a:pPr>
            <a:endParaRPr lang="en-US" dirty="0" smtClean="0"/>
          </a:p>
        </p:txBody>
      </p:sp>
      <p:sp>
        <p:nvSpPr>
          <p:cNvPr id="10" name="TextBox 9"/>
          <p:cNvSpPr txBox="1"/>
          <p:nvPr/>
        </p:nvSpPr>
        <p:spPr bwMode="gray">
          <a:xfrm>
            <a:off x="3340028" y="3555759"/>
            <a:ext cx="2404029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 smtClean="0">
                <a:solidFill>
                  <a:srgbClr val="7030A0"/>
                </a:solidFill>
              </a:rPr>
              <a:t>Semiconductor</a:t>
            </a:r>
            <a:br>
              <a:rPr lang="en-US" dirty="0" smtClean="0">
                <a:solidFill>
                  <a:srgbClr val="7030A0"/>
                </a:solidFill>
              </a:rPr>
            </a:br>
            <a:r>
              <a:rPr lang="en-US" dirty="0" smtClean="0">
                <a:solidFill>
                  <a:srgbClr val="7030A0"/>
                </a:solidFill>
              </a:rPr>
              <a:t>Business</a:t>
            </a:r>
          </a:p>
        </p:txBody>
      </p:sp>
      <p:sp>
        <p:nvSpPr>
          <p:cNvPr id="11" name="TextBox 10"/>
          <p:cNvSpPr txBox="1"/>
          <p:nvPr/>
        </p:nvSpPr>
        <p:spPr bwMode="gray">
          <a:xfrm>
            <a:off x="579643" y="3555759"/>
            <a:ext cx="261544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</a:t>
            </a:r>
            <a:br>
              <a:rPr lang="en-US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Licensing</a:t>
            </a:r>
          </a:p>
        </p:txBody>
      </p:sp>
      <p:sp>
        <p:nvSpPr>
          <p:cNvPr id="12" name="Rectangle 11"/>
          <p:cNvSpPr/>
          <p:nvPr/>
        </p:nvSpPr>
        <p:spPr bwMode="gray">
          <a:xfrm>
            <a:off x="503444" y="2716324"/>
            <a:ext cx="2625170" cy="648038"/>
          </a:xfrm>
          <a:prstGeom prst="rect">
            <a:avLst/>
          </a:prstGeom>
          <a:solidFill>
            <a:srgbClr val="7030A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  <a:defRPr/>
            </a:pPr>
            <a:endParaRPr lang="en-US" dirty="0" smtClean="0"/>
          </a:p>
        </p:txBody>
      </p:sp>
      <p:sp>
        <p:nvSpPr>
          <p:cNvPr id="13" name="TextBox 12"/>
          <p:cNvSpPr txBox="1"/>
          <p:nvPr/>
        </p:nvSpPr>
        <p:spPr bwMode="gray">
          <a:xfrm>
            <a:off x="3340029" y="2869959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900"/>
              </a:spcAft>
            </a:pPr>
            <a:r>
              <a:rPr lang="en-US" sz="2000" dirty="0" smtClean="0">
                <a:solidFill>
                  <a:schemeClr val="bg1"/>
                </a:solidFill>
              </a:rPr>
              <a:t>QCT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579643" y="2869959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900"/>
              </a:spcAft>
            </a:pPr>
            <a:r>
              <a:rPr lang="en-US" sz="2000" dirty="0" smtClean="0">
                <a:solidFill>
                  <a:schemeClr val="bg1"/>
                </a:solidFill>
              </a:rPr>
              <a:t>QTL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976" t="3729" r="1576" b="20957"/>
          <a:stretch>
            <a:fillRect/>
          </a:stretch>
        </p:blipFill>
        <p:spPr bwMode="gray">
          <a:xfrm flipH="1">
            <a:off x="6024212" y="1059582"/>
            <a:ext cx="2625170" cy="230478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Rectangle 15"/>
          <p:cNvSpPr/>
          <p:nvPr/>
        </p:nvSpPr>
        <p:spPr bwMode="gray">
          <a:xfrm>
            <a:off x="6024213" y="3403359"/>
            <a:ext cx="2625170" cy="152310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alpha val="40000"/>
                </a:schemeClr>
              </a:gs>
              <a:gs pos="100000">
                <a:schemeClr val="accent5">
                  <a:lumMod val="60000"/>
                  <a:lumOff val="40000"/>
                  <a:alpha val="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  <a:defRPr/>
            </a:pPr>
            <a:endParaRPr lang="en-US" dirty="0" smtClean="0"/>
          </a:p>
        </p:txBody>
      </p:sp>
      <p:sp>
        <p:nvSpPr>
          <p:cNvPr id="17" name="Rectangle 16"/>
          <p:cNvSpPr/>
          <p:nvPr/>
        </p:nvSpPr>
        <p:spPr bwMode="gray">
          <a:xfrm>
            <a:off x="6024213" y="2716324"/>
            <a:ext cx="2625170" cy="648038"/>
          </a:xfrm>
          <a:prstGeom prst="rect">
            <a:avLst/>
          </a:prstGeom>
          <a:solidFill>
            <a:srgbClr val="7030A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  <a:defRPr/>
            </a:pPr>
            <a:endParaRPr lang="en-US" dirty="0" smtClean="0"/>
          </a:p>
        </p:txBody>
      </p:sp>
      <p:sp>
        <p:nvSpPr>
          <p:cNvPr id="18" name="TextBox 17"/>
          <p:cNvSpPr txBox="1"/>
          <p:nvPr/>
        </p:nvSpPr>
        <p:spPr bwMode="gray">
          <a:xfrm>
            <a:off x="6100411" y="3555759"/>
            <a:ext cx="2419798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 smtClean="0">
                <a:solidFill>
                  <a:srgbClr val="7030A0"/>
                </a:solidFill>
              </a:rPr>
              <a:t>Wireless</a:t>
            </a:r>
            <a:br>
              <a:rPr lang="en-US" dirty="0" smtClean="0">
                <a:solidFill>
                  <a:srgbClr val="7030A0"/>
                </a:solidFill>
              </a:rPr>
            </a:br>
            <a:r>
              <a:rPr lang="en-US" dirty="0" smtClean="0">
                <a:solidFill>
                  <a:srgbClr val="7030A0"/>
                </a:solidFill>
              </a:rPr>
              <a:t>Internet</a:t>
            </a:r>
          </a:p>
        </p:txBody>
      </p:sp>
      <p:sp>
        <p:nvSpPr>
          <p:cNvPr id="19" name="TextBox 18"/>
          <p:cNvSpPr txBox="1"/>
          <p:nvPr/>
        </p:nvSpPr>
        <p:spPr bwMode="gray">
          <a:xfrm>
            <a:off x="6100411" y="2869959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900"/>
              </a:spcAft>
            </a:pPr>
            <a:r>
              <a:rPr lang="en-US" sz="2000" dirty="0" smtClean="0">
                <a:solidFill>
                  <a:schemeClr val="bg1"/>
                </a:solidFill>
              </a:rPr>
              <a:t>QWI</a:t>
            </a:r>
          </a:p>
        </p:txBody>
      </p:sp>
    </p:spTree>
    <p:extLst>
      <p:ext uri="{BB962C8B-B14F-4D97-AF65-F5344CB8AC3E}">
        <p14:creationId xmlns:p14="http://schemas.microsoft.com/office/powerpoint/2010/main" val="137494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Corporate Structure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77314" y="3363838"/>
            <a:ext cx="2870499" cy="8417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0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</a:p>
          <a:p>
            <a:pPr marL="171450" indent="-171450">
              <a:lnSpc>
                <a:spcPct val="9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Qualcomm Research </a:t>
            </a:r>
            <a:endParaRPr lang="en-US" sz="1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9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Qualcomm Corp. 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</a:t>
            </a:r>
            <a:r>
              <a:rPr lang="en-US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</a:p>
          <a:p>
            <a:pPr marL="171450" indent="-171450">
              <a:lnSpc>
                <a:spcPct val="9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Office 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Chief Scientist </a:t>
            </a:r>
            <a:endParaRPr lang="en-US" sz="1000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7315" y="4227934"/>
            <a:ext cx="2870498" cy="82401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000" b="1" u="sng" dirty="0">
                <a:latin typeface="Arial" panose="020B0604020202020204" pitchFamily="34" charset="0"/>
                <a:cs typeface="Arial" panose="020B0604020202020204" pitchFamily="34" charset="0"/>
              </a:rPr>
              <a:t>Shared </a:t>
            </a:r>
            <a:r>
              <a:rPr lang="en-US" sz="10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Aft>
                <a:spcPts val="300"/>
              </a:spcAft>
              <a:tabLst>
                <a:tab pos="169863" algn="l"/>
                <a:tab pos="914400" algn="l"/>
                <a:tab pos="1947863" algn="l"/>
              </a:tabLst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	HR	QREF	IT</a:t>
            </a:r>
          </a:p>
          <a:p>
            <a:pPr>
              <a:lnSpc>
                <a:spcPct val="90000"/>
              </a:lnSpc>
              <a:spcAft>
                <a:spcPts val="300"/>
              </a:spcAft>
              <a:tabLst>
                <a:tab pos="169863" algn="l"/>
                <a:tab pos="914400" algn="l"/>
                <a:tab pos="1947863" algn="l"/>
              </a:tabLst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	Legal	Marketing &amp; IR	Security</a:t>
            </a:r>
          </a:p>
          <a:p>
            <a:pPr>
              <a:lnSpc>
                <a:spcPct val="90000"/>
              </a:lnSpc>
              <a:spcAft>
                <a:spcPts val="300"/>
              </a:spcAft>
              <a:tabLst>
                <a:tab pos="169863" algn="l"/>
                <a:tab pos="914400" algn="l"/>
                <a:tab pos="1947863" algn="l"/>
              </a:tabLst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	Finance	Gov’t Affairs	GBO</a:t>
            </a:r>
            <a:endParaRPr lang="en-US" sz="1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 bwMode="gray">
          <a:xfrm>
            <a:off x="6127106" y="3372583"/>
            <a:ext cx="2874600" cy="164780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  <a:defRPr/>
            </a:pPr>
            <a:endParaRPr lang="en-US" dirty="0" smtClean="0"/>
          </a:p>
        </p:txBody>
      </p:sp>
      <p:sp>
        <p:nvSpPr>
          <p:cNvPr id="8" name="Rectangle 7"/>
          <p:cNvSpPr/>
          <p:nvPr/>
        </p:nvSpPr>
        <p:spPr bwMode="gray">
          <a:xfrm>
            <a:off x="3145780" y="3371989"/>
            <a:ext cx="2871483" cy="164803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  <a:defRPr/>
            </a:pPr>
            <a:endParaRPr lang="en-US" dirty="0" smtClean="0"/>
          </a:p>
        </p:txBody>
      </p:sp>
      <p:sp>
        <p:nvSpPr>
          <p:cNvPr id="9" name="Rectangle 8"/>
          <p:cNvSpPr/>
          <p:nvPr/>
        </p:nvSpPr>
        <p:spPr bwMode="gray">
          <a:xfrm>
            <a:off x="184317" y="2787774"/>
            <a:ext cx="2874680" cy="5335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  <a:defRPr/>
            </a:pPr>
            <a:endParaRPr lang="en-US" sz="1600" dirty="0" smtClean="0"/>
          </a:p>
        </p:txBody>
      </p:sp>
      <p:sp>
        <p:nvSpPr>
          <p:cNvPr id="10" name="TextBox 9"/>
          <p:cNvSpPr txBox="1"/>
          <p:nvPr/>
        </p:nvSpPr>
        <p:spPr bwMode="gray">
          <a:xfrm>
            <a:off x="185782" y="2829236"/>
            <a:ext cx="2805127" cy="483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900"/>
              </a:spcAft>
            </a:pPr>
            <a:r>
              <a:rPr lang="en-US" sz="1400" dirty="0" smtClean="0">
                <a:solidFill>
                  <a:schemeClr val="bg1"/>
                </a:solidFill>
              </a:rPr>
              <a:t>CORPORATE</a:t>
            </a:r>
            <a:br>
              <a:rPr lang="en-US" sz="1400" dirty="0" smtClean="0">
                <a:solidFill>
                  <a:schemeClr val="bg1"/>
                </a:solidFill>
              </a:rPr>
            </a:br>
            <a:r>
              <a:rPr lang="en-US" sz="1400" dirty="0" smtClean="0">
                <a:solidFill>
                  <a:schemeClr val="bg1"/>
                </a:solidFill>
              </a:rPr>
              <a:t>ACTIVITIES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gray">
          <a:xfrm>
            <a:off x="6114368" y="2787774"/>
            <a:ext cx="2874600" cy="53359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  <a:defRPr/>
            </a:pPr>
            <a:endParaRPr lang="en-US" dirty="0" smtClean="0"/>
          </a:p>
        </p:txBody>
      </p:sp>
      <p:sp>
        <p:nvSpPr>
          <p:cNvPr id="12" name="TextBox 11"/>
          <p:cNvSpPr txBox="1"/>
          <p:nvPr/>
        </p:nvSpPr>
        <p:spPr bwMode="gray">
          <a:xfrm>
            <a:off x="6130270" y="2829039"/>
            <a:ext cx="2720635" cy="483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900"/>
              </a:spcAft>
            </a:pPr>
            <a:r>
              <a:rPr lang="en-US" sz="1400" dirty="0" smtClean="0">
                <a:solidFill>
                  <a:schemeClr val="bg1"/>
                </a:solidFill>
              </a:rPr>
              <a:t>OTHER</a:t>
            </a:r>
            <a:br>
              <a:rPr lang="en-US" sz="1400" dirty="0" smtClean="0">
                <a:solidFill>
                  <a:schemeClr val="bg1"/>
                </a:solidFill>
              </a:rPr>
            </a:br>
            <a:r>
              <a:rPr lang="en-US" sz="1400" dirty="0" smtClean="0">
                <a:solidFill>
                  <a:schemeClr val="bg1"/>
                </a:solidFill>
              </a:rPr>
              <a:t>BUSINESSES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 bwMode="gray">
          <a:xfrm>
            <a:off x="6130270" y="3406118"/>
            <a:ext cx="2796835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9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000" b="1" dirty="0" smtClean="0"/>
              <a:t>Qualcomm MEMs Technologies, Inc.</a:t>
            </a:r>
          </a:p>
          <a:p>
            <a:pPr marL="171450" indent="-171450">
              <a:lnSpc>
                <a:spcPct val="9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000" b="1" dirty="0" smtClean="0"/>
              <a:t>Qualcomm Life, Inc.</a:t>
            </a:r>
          </a:p>
          <a:p>
            <a:pPr marL="171450" indent="-171450">
              <a:lnSpc>
                <a:spcPct val="9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000" b="1" dirty="0" err="1" smtClean="0"/>
              <a:t>SnapTracs</a:t>
            </a:r>
            <a:r>
              <a:rPr lang="en-US" sz="1000" b="1" dirty="0" smtClean="0"/>
              <a:t>, Inc. </a:t>
            </a:r>
          </a:p>
          <a:p>
            <a:pPr marL="171450" indent="-171450">
              <a:lnSpc>
                <a:spcPct val="9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000" b="1" dirty="0" smtClean="0"/>
              <a:t>Qualcomm Labs, </a:t>
            </a:r>
            <a:r>
              <a:rPr lang="en-US" sz="1000" b="1" dirty="0" err="1" smtClean="0"/>
              <a:t>Inc</a:t>
            </a:r>
            <a:endParaRPr lang="en-US" sz="1000" b="1" dirty="0" smtClean="0"/>
          </a:p>
        </p:txBody>
      </p:sp>
      <p:sp>
        <p:nvSpPr>
          <p:cNvPr id="14" name="Rectangle 13"/>
          <p:cNvSpPr/>
          <p:nvPr/>
        </p:nvSpPr>
        <p:spPr bwMode="gray">
          <a:xfrm>
            <a:off x="179921" y="949474"/>
            <a:ext cx="2876359" cy="5334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  <a:defRPr/>
            </a:pPr>
            <a:endParaRPr lang="en-US" sz="1600" dirty="0" smtClean="0"/>
          </a:p>
        </p:txBody>
      </p:sp>
      <p:sp>
        <p:nvSpPr>
          <p:cNvPr id="15" name="Rectangle 14"/>
          <p:cNvSpPr/>
          <p:nvPr/>
        </p:nvSpPr>
        <p:spPr bwMode="gray">
          <a:xfrm>
            <a:off x="3142728" y="949474"/>
            <a:ext cx="2876359" cy="5334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  <a:defRPr/>
            </a:pPr>
            <a:endParaRPr lang="en-US" sz="1600" dirty="0" smtClean="0"/>
          </a:p>
        </p:txBody>
      </p:sp>
      <p:sp>
        <p:nvSpPr>
          <p:cNvPr id="16" name="Rectangle 15"/>
          <p:cNvSpPr/>
          <p:nvPr/>
        </p:nvSpPr>
        <p:spPr bwMode="gray">
          <a:xfrm>
            <a:off x="178624" y="1501924"/>
            <a:ext cx="2876359" cy="121534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  <a:defRPr/>
            </a:pPr>
            <a:endParaRPr lang="en-US" dirty="0" smtClean="0"/>
          </a:p>
        </p:txBody>
      </p:sp>
      <p:sp>
        <p:nvSpPr>
          <p:cNvPr id="17" name="Rectangle 16"/>
          <p:cNvSpPr/>
          <p:nvPr/>
        </p:nvSpPr>
        <p:spPr bwMode="gray">
          <a:xfrm>
            <a:off x="3141428" y="1501924"/>
            <a:ext cx="2876359" cy="12153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  <a:defRPr/>
            </a:pPr>
            <a:endParaRPr lang="en-US" dirty="0" smtClean="0"/>
          </a:p>
        </p:txBody>
      </p:sp>
      <p:sp>
        <p:nvSpPr>
          <p:cNvPr id="18" name="TextBox 17"/>
          <p:cNvSpPr txBox="1"/>
          <p:nvPr/>
        </p:nvSpPr>
        <p:spPr bwMode="gray">
          <a:xfrm>
            <a:off x="219064" y="1563638"/>
            <a:ext cx="281704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  <a:r>
              <a:rPr lang="en-US" sz="1000" b="1" dirty="0" smtClean="0"/>
              <a:t>The largest provider of wireless chipset </a:t>
            </a:r>
          </a:p>
          <a:p>
            <a:pPr marL="171450" indent="-171450">
              <a:lnSpc>
                <a:spcPct val="9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Qualcomm Mobile Computing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Qualcomm Atheros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Qualcomm Innovation Center </a:t>
            </a:r>
          </a:p>
          <a:p>
            <a:endParaRPr lang="en-US" sz="1000" i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 bwMode="gray">
          <a:xfrm>
            <a:off x="3148586" y="1540025"/>
            <a:ext cx="26258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Aft>
                <a:spcPts val="300"/>
              </a:spcAft>
            </a:pPr>
            <a:r>
              <a:rPr lang="en-US" sz="1000" b="1" dirty="0" smtClean="0"/>
              <a:t>Manages Qualcomm’s extensive IP</a:t>
            </a:r>
          </a:p>
        </p:txBody>
      </p:sp>
      <p:sp>
        <p:nvSpPr>
          <p:cNvPr id="20" name="TextBox 19"/>
          <p:cNvSpPr txBox="1"/>
          <p:nvPr/>
        </p:nvSpPr>
        <p:spPr bwMode="gray">
          <a:xfrm>
            <a:off x="185782" y="987574"/>
            <a:ext cx="2254263" cy="289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900"/>
              </a:spcAft>
            </a:pPr>
            <a:r>
              <a:rPr lang="en-US" sz="1400" dirty="0" smtClean="0">
                <a:solidFill>
                  <a:schemeClr val="bg1"/>
                </a:solidFill>
              </a:rPr>
              <a:t>QCT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 bwMode="gray">
          <a:xfrm>
            <a:off x="3148586" y="987574"/>
            <a:ext cx="2254263" cy="289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900"/>
              </a:spcAft>
            </a:pPr>
            <a:r>
              <a:rPr lang="en-US" sz="1400" dirty="0" smtClean="0">
                <a:solidFill>
                  <a:schemeClr val="bg1"/>
                </a:solidFill>
              </a:rPr>
              <a:t>QTL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 bwMode="gray">
          <a:xfrm>
            <a:off x="185782" y="1206452"/>
            <a:ext cx="2897251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  <a:r>
              <a:rPr lang="en-US" sz="1000" b="1" dirty="0" smtClean="0">
                <a:solidFill>
                  <a:schemeClr val="bg1"/>
                </a:solidFill>
              </a:rPr>
              <a:t>Qualcomm CDMA Technologies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 bwMode="gray">
          <a:xfrm>
            <a:off x="3148586" y="1206452"/>
            <a:ext cx="2873108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  <a:r>
              <a:rPr lang="en-US" sz="1000" b="1" dirty="0" smtClean="0">
                <a:solidFill>
                  <a:schemeClr val="bg1"/>
                </a:solidFill>
              </a:rPr>
              <a:t>Qualcomm Technology Licensing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4" name="Rectangle 23"/>
          <p:cNvSpPr/>
          <p:nvPr/>
        </p:nvSpPr>
        <p:spPr bwMode="gray">
          <a:xfrm>
            <a:off x="6124410" y="949474"/>
            <a:ext cx="2876359" cy="5334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  <a:defRPr/>
            </a:pPr>
            <a:endParaRPr lang="en-US" sz="1600" dirty="0" smtClean="0"/>
          </a:p>
        </p:txBody>
      </p:sp>
      <p:sp>
        <p:nvSpPr>
          <p:cNvPr id="25" name="Rectangle 24"/>
          <p:cNvSpPr/>
          <p:nvPr/>
        </p:nvSpPr>
        <p:spPr bwMode="gray">
          <a:xfrm>
            <a:off x="6123110" y="1501924"/>
            <a:ext cx="2876359" cy="121534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  <a:defRPr/>
            </a:pPr>
            <a:endParaRPr lang="en-US" dirty="0" smtClean="0"/>
          </a:p>
        </p:txBody>
      </p:sp>
      <p:sp>
        <p:nvSpPr>
          <p:cNvPr id="26" name="TextBox 25"/>
          <p:cNvSpPr txBox="1"/>
          <p:nvPr/>
        </p:nvSpPr>
        <p:spPr bwMode="gray">
          <a:xfrm>
            <a:off x="6130270" y="987574"/>
            <a:ext cx="2254263" cy="289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900"/>
              </a:spcAft>
            </a:pPr>
            <a:r>
              <a:rPr lang="en-US" sz="1400" dirty="0" smtClean="0">
                <a:solidFill>
                  <a:schemeClr val="bg1"/>
                </a:solidFill>
              </a:rPr>
              <a:t>QWI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 bwMode="gray">
          <a:xfrm>
            <a:off x="6143009" y="1206452"/>
            <a:ext cx="3013047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  <a:r>
              <a:rPr lang="en-US" sz="1000" b="1" dirty="0" smtClean="0">
                <a:solidFill>
                  <a:schemeClr val="bg1"/>
                </a:solidFill>
              </a:rPr>
              <a:t>Qualcomm Wireless and Internet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 bwMode="gray">
          <a:xfrm>
            <a:off x="6143009" y="1540026"/>
            <a:ext cx="2784447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9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000" b="1" dirty="0" smtClean="0"/>
              <a:t>Qualcomm </a:t>
            </a:r>
            <a:r>
              <a:rPr lang="en-US" sz="1000" b="1" dirty="0"/>
              <a:t>Internet Services </a:t>
            </a:r>
            <a:endParaRPr lang="en-US" sz="1000" b="1" dirty="0" smtClean="0"/>
          </a:p>
          <a:p>
            <a:pPr marL="171450" indent="-171450">
              <a:lnSpc>
                <a:spcPct val="9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000" b="1" dirty="0" smtClean="0"/>
              <a:t>Qualcomm </a:t>
            </a:r>
            <a:r>
              <a:rPr lang="en-US" sz="1000" b="1" dirty="0"/>
              <a:t>Government </a:t>
            </a:r>
            <a:r>
              <a:rPr lang="en-US" sz="1000" b="1" dirty="0" smtClean="0"/>
              <a:t>Technologies</a:t>
            </a:r>
          </a:p>
          <a:p>
            <a:pPr marL="171450" indent="-171450">
              <a:lnSpc>
                <a:spcPct val="9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000" b="1" dirty="0" smtClean="0"/>
              <a:t>Qualcomm </a:t>
            </a:r>
            <a:r>
              <a:rPr lang="en-US" sz="1000" b="1" dirty="0"/>
              <a:t>Firethorn Mobile, </a:t>
            </a:r>
            <a:r>
              <a:rPr lang="en-US" sz="1000" b="1" dirty="0" smtClean="0"/>
              <a:t>Inc.</a:t>
            </a:r>
          </a:p>
          <a:p>
            <a:pPr marL="171450" indent="-171450">
              <a:lnSpc>
                <a:spcPct val="9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000" b="1" dirty="0" smtClean="0"/>
              <a:t>Qualcomm </a:t>
            </a:r>
            <a:r>
              <a:rPr lang="en-US" sz="1000" b="1" dirty="0"/>
              <a:t>Enterprise </a:t>
            </a:r>
            <a:r>
              <a:rPr lang="en-US" sz="1000" b="1" dirty="0" smtClean="0"/>
              <a:t>Services</a:t>
            </a:r>
            <a:endParaRPr lang="en-US" sz="1000" b="1" dirty="0"/>
          </a:p>
        </p:txBody>
      </p:sp>
      <p:sp>
        <p:nvSpPr>
          <p:cNvPr id="32" name="Rectangle 31"/>
          <p:cNvSpPr/>
          <p:nvPr/>
        </p:nvSpPr>
        <p:spPr bwMode="gray">
          <a:xfrm>
            <a:off x="3145780" y="2805502"/>
            <a:ext cx="2874680" cy="533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  <a:defRPr/>
            </a:pPr>
            <a:endParaRPr lang="en-US" dirty="0" smtClean="0"/>
          </a:p>
        </p:txBody>
      </p:sp>
      <p:sp>
        <p:nvSpPr>
          <p:cNvPr id="33" name="TextBox 32"/>
          <p:cNvSpPr txBox="1"/>
          <p:nvPr/>
        </p:nvSpPr>
        <p:spPr bwMode="gray">
          <a:xfrm>
            <a:off x="3155711" y="3420673"/>
            <a:ext cx="27999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lnSpc>
                <a:spcPct val="9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000" b="1" dirty="0" smtClean="0"/>
              <a:t>Qualcomm Ventures</a:t>
            </a:r>
          </a:p>
        </p:txBody>
      </p:sp>
      <p:sp>
        <p:nvSpPr>
          <p:cNvPr id="34" name="TextBox 33"/>
          <p:cNvSpPr txBox="1"/>
          <p:nvPr/>
        </p:nvSpPr>
        <p:spPr bwMode="gray">
          <a:xfrm>
            <a:off x="3148586" y="2846963"/>
            <a:ext cx="2254263" cy="289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900"/>
              </a:spcAft>
            </a:pPr>
            <a:r>
              <a:rPr lang="en-US" sz="1400" dirty="0" smtClean="0">
                <a:solidFill>
                  <a:schemeClr val="bg1"/>
                </a:solidFill>
              </a:rPr>
              <a:t>QSI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 bwMode="gray">
          <a:xfrm>
            <a:off x="3148586" y="3065841"/>
            <a:ext cx="2873108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  <a:r>
              <a:rPr lang="en-US" sz="1000" b="1" dirty="0" smtClean="0">
                <a:solidFill>
                  <a:schemeClr val="bg1"/>
                </a:solidFill>
              </a:rPr>
              <a:t>Qualcomm Strategic Initiatives</a:t>
            </a:r>
            <a:endParaRPr lang="en-US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685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Model</a:t>
            </a:r>
            <a:endParaRPr lang="en-US" dirty="0"/>
          </a:p>
        </p:txBody>
      </p:sp>
      <p:pic>
        <p:nvPicPr>
          <p:cNvPr id="4" name="Picture 12" descr="C:\Users\anne\Desktop\innovative_solutions.png"/>
          <p:cNvPicPr>
            <a:picLocks noChangeAspect="1" noChangeArrowheads="1"/>
          </p:cNvPicPr>
          <p:nvPr/>
        </p:nvPicPr>
        <p:blipFill>
          <a:blip r:embed="rId2" cstate="print"/>
          <a:srcRect l="5762" t="22046" r="55166" b="24322"/>
          <a:stretch>
            <a:fillRect/>
          </a:stretch>
        </p:blipFill>
        <p:spPr bwMode="auto">
          <a:xfrm>
            <a:off x="683568" y="1131590"/>
            <a:ext cx="3483429" cy="3126377"/>
          </a:xfrm>
          <a:prstGeom prst="rect">
            <a:avLst/>
          </a:prstGeom>
          <a:noFill/>
        </p:spPr>
      </p:pic>
      <p:pic>
        <p:nvPicPr>
          <p:cNvPr id="5" name="Picture 13" descr="C:\Users\anne\Desktop\revenue_left.png"/>
          <p:cNvPicPr>
            <a:picLocks noChangeAspect="1" noChangeArrowheads="1"/>
          </p:cNvPicPr>
          <p:nvPr/>
        </p:nvPicPr>
        <p:blipFill>
          <a:blip r:embed="rId3" cstate="print"/>
          <a:srcRect l="10123" t="32854" r="34761" b="13197"/>
          <a:stretch>
            <a:fillRect/>
          </a:stretch>
        </p:blipFill>
        <p:spPr bwMode="auto">
          <a:xfrm>
            <a:off x="1073336" y="1764629"/>
            <a:ext cx="4913832" cy="3144852"/>
          </a:xfrm>
          <a:prstGeom prst="rect">
            <a:avLst/>
          </a:prstGeom>
          <a:noFill/>
        </p:spPr>
      </p:pic>
      <p:pic>
        <p:nvPicPr>
          <p:cNvPr id="6" name="Picture 7" descr="C:\Users\anne\Desktop\purple_circle.png"/>
          <p:cNvPicPr>
            <a:picLocks noChangeAspect="1" noChangeArrowheads="1"/>
          </p:cNvPicPr>
          <p:nvPr/>
        </p:nvPicPr>
        <p:blipFill>
          <a:blip r:embed="rId4" cstate="print"/>
          <a:srcRect t="28103" r="74886" b="28063"/>
          <a:stretch>
            <a:fillRect/>
          </a:stretch>
        </p:blipFill>
        <p:spPr bwMode="auto">
          <a:xfrm>
            <a:off x="158940" y="1482618"/>
            <a:ext cx="2238995" cy="2555193"/>
          </a:xfrm>
          <a:prstGeom prst="rect">
            <a:avLst/>
          </a:prstGeom>
          <a:noFill/>
        </p:spPr>
      </p:pic>
      <p:pic>
        <p:nvPicPr>
          <p:cNvPr id="7" name="Picture 10" descr="C:\Users\anne\Desktop\revenue_right.png"/>
          <p:cNvPicPr>
            <a:picLocks noChangeAspect="1" noChangeArrowheads="1"/>
          </p:cNvPicPr>
          <p:nvPr/>
        </p:nvPicPr>
        <p:blipFill>
          <a:blip r:embed="rId5" cstate="print"/>
          <a:srcRect l="55768" t="22741" b="24923"/>
          <a:stretch>
            <a:fillRect/>
          </a:stretch>
        </p:blipFill>
        <p:spPr bwMode="auto">
          <a:xfrm>
            <a:off x="5142112" y="1174969"/>
            <a:ext cx="3943487" cy="3050849"/>
          </a:xfrm>
          <a:prstGeom prst="rect">
            <a:avLst/>
          </a:prstGeom>
          <a:noFill/>
        </p:spPr>
      </p:pic>
      <p:pic>
        <p:nvPicPr>
          <p:cNvPr id="8" name="Picture 11" descr="C:\Users\anne\Desktop\advanced_devices.png"/>
          <p:cNvPicPr>
            <a:picLocks noChangeAspect="1" noChangeArrowheads="1"/>
          </p:cNvPicPr>
          <p:nvPr/>
        </p:nvPicPr>
        <p:blipFill>
          <a:blip r:embed="rId6" cstate="print"/>
          <a:srcRect l="34665" t="34311" r="9701" b="13059"/>
          <a:stretch>
            <a:fillRect/>
          </a:stretch>
        </p:blipFill>
        <p:spPr bwMode="auto">
          <a:xfrm>
            <a:off x="3257643" y="1858634"/>
            <a:ext cx="4959979" cy="3067940"/>
          </a:xfrm>
          <a:prstGeom prst="rect">
            <a:avLst/>
          </a:prstGeom>
          <a:noFill/>
        </p:spPr>
      </p:pic>
      <p:pic>
        <p:nvPicPr>
          <p:cNvPr id="9" name="Picture 9" descr="C:\Users\anne\Desktop\blue_circle.png"/>
          <p:cNvPicPr>
            <a:picLocks noChangeAspect="1" noChangeArrowheads="1"/>
          </p:cNvPicPr>
          <p:nvPr/>
        </p:nvPicPr>
        <p:blipFill>
          <a:blip r:embed="rId7" cstate="print"/>
          <a:srcRect l="75437" t="29142" b="29663"/>
          <a:stretch>
            <a:fillRect/>
          </a:stretch>
        </p:blipFill>
        <p:spPr bwMode="auto">
          <a:xfrm>
            <a:off x="6893023" y="1550985"/>
            <a:ext cx="2189863" cy="2401368"/>
          </a:xfrm>
          <a:prstGeom prst="rect">
            <a:avLst/>
          </a:prstGeom>
          <a:noFill/>
        </p:spPr>
      </p:pic>
      <p:pic>
        <p:nvPicPr>
          <p:cNvPr id="10" name="Picture 8" descr="C:\Users\anne\Desktop\grey_circle.png"/>
          <p:cNvPicPr>
            <a:picLocks noChangeAspect="1" noChangeArrowheads="1"/>
          </p:cNvPicPr>
          <p:nvPr/>
        </p:nvPicPr>
        <p:blipFill>
          <a:blip r:embed="rId8" cstate="print"/>
          <a:srcRect l="36928" t="30640" r="38054" b="27139"/>
          <a:stretch>
            <a:fillRect/>
          </a:stretch>
        </p:blipFill>
        <p:spPr bwMode="auto">
          <a:xfrm>
            <a:off x="3457614" y="1636443"/>
            <a:ext cx="2230452" cy="24611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9207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5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All-in-One Snapdragon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741673" y="1131590"/>
            <a:ext cx="768096" cy="770312"/>
          </a:xfrm>
          <a:prstGeom prst="ellipse">
            <a:avLst/>
          </a:prstGeom>
          <a:gradFill flip="none" rotWithShape="1">
            <a:gsLst>
              <a:gs pos="0">
                <a:srgbClr val="237DC8"/>
              </a:gs>
              <a:gs pos="100000">
                <a:srgbClr val="2FA9DB"/>
              </a:gs>
            </a:gsLst>
            <a:lin ang="16200000" scaled="1"/>
            <a:tileRect/>
          </a:gradFill>
          <a:ln w="41275">
            <a:solidFill>
              <a:srgbClr val="237D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5" name="Group 95"/>
          <p:cNvGrpSpPr/>
          <p:nvPr/>
        </p:nvGrpSpPr>
        <p:grpSpPr>
          <a:xfrm>
            <a:off x="4953742" y="1264020"/>
            <a:ext cx="343959" cy="540397"/>
            <a:chOff x="4149541" y="1946202"/>
            <a:chExt cx="289504" cy="454843"/>
          </a:xfrm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grpSpPr>
        <p:sp>
          <p:nvSpPr>
            <p:cNvPr id="6" name="Freeform 7"/>
            <p:cNvSpPr>
              <a:spLocks/>
            </p:cNvSpPr>
            <p:nvPr/>
          </p:nvSpPr>
          <p:spPr bwMode="auto">
            <a:xfrm>
              <a:off x="4161835" y="1946202"/>
              <a:ext cx="277210" cy="78686"/>
            </a:xfrm>
            <a:custGeom>
              <a:avLst/>
              <a:gdLst/>
              <a:ahLst/>
              <a:cxnLst>
                <a:cxn ang="0">
                  <a:pos x="117" y="27"/>
                </a:cxn>
                <a:cxn ang="0">
                  <a:pos x="97" y="18"/>
                </a:cxn>
                <a:cxn ang="0">
                  <a:pos x="73" y="10"/>
                </a:cxn>
                <a:cxn ang="0">
                  <a:pos x="71" y="6"/>
                </a:cxn>
                <a:cxn ang="0">
                  <a:pos x="65" y="0"/>
                </a:cxn>
                <a:cxn ang="0">
                  <a:pos x="51" y="0"/>
                </a:cxn>
                <a:cxn ang="0">
                  <a:pos x="45" y="6"/>
                </a:cxn>
                <a:cxn ang="0">
                  <a:pos x="43" y="10"/>
                </a:cxn>
                <a:cxn ang="0">
                  <a:pos x="19" y="18"/>
                </a:cxn>
                <a:cxn ang="0">
                  <a:pos x="0" y="26"/>
                </a:cxn>
                <a:cxn ang="0">
                  <a:pos x="60" y="35"/>
                </a:cxn>
                <a:cxn ang="0">
                  <a:pos x="117" y="27"/>
                </a:cxn>
              </a:cxnLst>
              <a:rect l="0" t="0" r="r" b="b"/>
              <a:pathLst>
                <a:path w="117" h="35">
                  <a:moveTo>
                    <a:pt x="117" y="27"/>
                  </a:moveTo>
                  <a:cubicBezTo>
                    <a:pt x="114" y="24"/>
                    <a:pt x="107" y="21"/>
                    <a:pt x="97" y="18"/>
                  </a:cubicBezTo>
                  <a:cubicBezTo>
                    <a:pt x="96" y="14"/>
                    <a:pt x="87" y="11"/>
                    <a:pt x="73" y="10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3"/>
                    <a:pt x="68" y="0"/>
                    <a:pt x="65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8" y="0"/>
                    <a:pt x="45" y="3"/>
                    <a:pt x="45" y="6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29" y="11"/>
                    <a:pt x="19" y="14"/>
                    <a:pt x="19" y="18"/>
                  </a:cubicBezTo>
                  <a:cubicBezTo>
                    <a:pt x="9" y="20"/>
                    <a:pt x="3" y="23"/>
                    <a:pt x="0" y="26"/>
                  </a:cubicBezTo>
                  <a:cubicBezTo>
                    <a:pt x="9" y="29"/>
                    <a:pt x="31" y="35"/>
                    <a:pt x="60" y="35"/>
                  </a:cubicBezTo>
                  <a:cubicBezTo>
                    <a:pt x="81" y="35"/>
                    <a:pt x="102" y="31"/>
                    <a:pt x="117" y="27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7" name="Freeform 8"/>
            <p:cNvSpPr>
              <a:spLocks noEditPoints="1"/>
            </p:cNvSpPr>
            <p:nvPr/>
          </p:nvSpPr>
          <p:spPr bwMode="auto">
            <a:xfrm>
              <a:off x="4149541" y="2011451"/>
              <a:ext cx="281213" cy="389594"/>
            </a:xfrm>
            <a:custGeom>
              <a:avLst/>
              <a:gdLst/>
              <a:ahLst/>
              <a:cxnLst>
                <a:cxn ang="0">
                  <a:pos x="61" y="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48"/>
                </a:cxn>
                <a:cxn ang="0">
                  <a:pos x="119" y="148"/>
                </a:cxn>
                <a:cxn ang="0">
                  <a:pos x="119" y="1"/>
                </a:cxn>
                <a:cxn ang="0">
                  <a:pos x="61" y="9"/>
                </a:cxn>
                <a:cxn ang="0">
                  <a:pos x="73" y="150"/>
                </a:cxn>
                <a:cxn ang="0">
                  <a:pos x="45" y="150"/>
                </a:cxn>
                <a:cxn ang="0">
                  <a:pos x="45" y="141"/>
                </a:cxn>
                <a:cxn ang="0">
                  <a:pos x="73" y="141"/>
                </a:cxn>
                <a:cxn ang="0">
                  <a:pos x="73" y="150"/>
                </a:cxn>
                <a:cxn ang="0">
                  <a:pos x="73" y="36"/>
                </a:cxn>
                <a:cxn ang="0">
                  <a:pos x="64" y="36"/>
                </a:cxn>
                <a:cxn ang="0">
                  <a:pos x="64" y="46"/>
                </a:cxn>
                <a:cxn ang="0">
                  <a:pos x="54" y="46"/>
                </a:cxn>
                <a:cxn ang="0">
                  <a:pos x="54" y="36"/>
                </a:cxn>
                <a:cxn ang="0">
                  <a:pos x="45" y="36"/>
                </a:cxn>
                <a:cxn ang="0">
                  <a:pos x="45" y="27"/>
                </a:cxn>
                <a:cxn ang="0">
                  <a:pos x="54" y="27"/>
                </a:cxn>
                <a:cxn ang="0">
                  <a:pos x="54" y="18"/>
                </a:cxn>
                <a:cxn ang="0">
                  <a:pos x="64" y="18"/>
                </a:cxn>
                <a:cxn ang="0">
                  <a:pos x="64" y="27"/>
                </a:cxn>
                <a:cxn ang="0">
                  <a:pos x="73" y="27"/>
                </a:cxn>
                <a:cxn ang="0">
                  <a:pos x="73" y="36"/>
                </a:cxn>
              </a:cxnLst>
              <a:rect l="0" t="0" r="r" b="b"/>
              <a:pathLst>
                <a:path w="119" h="172">
                  <a:moveTo>
                    <a:pt x="61" y="9"/>
                  </a:moveTo>
                  <a:cubicBezTo>
                    <a:pt x="32" y="9"/>
                    <a:pt x="9" y="3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1" y="172"/>
                    <a:pt x="118" y="172"/>
                    <a:pt x="119" y="148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04" y="5"/>
                    <a:pt x="83" y="9"/>
                    <a:pt x="61" y="9"/>
                  </a:cubicBezTo>
                  <a:close/>
                  <a:moveTo>
                    <a:pt x="73" y="150"/>
                  </a:moveTo>
                  <a:cubicBezTo>
                    <a:pt x="45" y="150"/>
                    <a:pt x="45" y="150"/>
                    <a:pt x="45" y="150"/>
                  </a:cubicBezTo>
                  <a:cubicBezTo>
                    <a:pt x="45" y="141"/>
                    <a:pt x="45" y="141"/>
                    <a:pt x="45" y="141"/>
                  </a:cubicBezTo>
                  <a:cubicBezTo>
                    <a:pt x="73" y="141"/>
                    <a:pt x="73" y="141"/>
                    <a:pt x="73" y="141"/>
                  </a:cubicBezTo>
                  <a:lnTo>
                    <a:pt x="73" y="150"/>
                  </a:lnTo>
                  <a:close/>
                  <a:moveTo>
                    <a:pt x="73" y="36"/>
                  </a:moveTo>
                  <a:cubicBezTo>
                    <a:pt x="64" y="36"/>
                    <a:pt x="64" y="36"/>
                    <a:pt x="64" y="36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54" y="46"/>
                    <a:pt x="54" y="46"/>
                    <a:pt x="54" y="46"/>
                  </a:cubicBezTo>
                  <a:cubicBezTo>
                    <a:pt x="54" y="36"/>
                    <a:pt x="54" y="36"/>
                    <a:pt x="54" y="36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27"/>
                    <a:pt x="64" y="27"/>
                    <a:pt x="64" y="27"/>
                  </a:cubicBezTo>
                  <a:cubicBezTo>
                    <a:pt x="73" y="27"/>
                    <a:pt x="73" y="27"/>
                    <a:pt x="73" y="27"/>
                  </a:cubicBezTo>
                  <a:lnTo>
                    <a:pt x="73" y="3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</p:grpSp>
      <p:sp>
        <p:nvSpPr>
          <p:cNvPr id="8" name="Oval 7"/>
          <p:cNvSpPr/>
          <p:nvPr/>
        </p:nvSpPr>
        <p:spPr>
          <a:xfrm>
            <a:off x="6050743" y="1131590"/>
            <a:ext cx="768096" cy="770312"/>
          </a:xfrm>
          <a:prstGeom prst="ellipse">
            <a:avLst/>
          </a:prstGeom>
          <a:gradFill flip="none" rotWithShape="1">
            <a:gsLst>
              <a:gs pos="0">
                <a:srgbClr val="237DC8"/>
              </a:gs>
              <a:gs pos="100000">
                <a:srgbClr val="2FA9DB"/>
              </a:gs>
            </a:gsLst>
            <a:lin ang="16200000" scaled="1"/>
            <a:tileRect/>
          </a:gradFill>
          <a:ln w="41275">
            <a:solidFill>
              <a:srgbClr val="237DC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9" name="Group 100"/>
          <p:cNvGrpSpPr>
            <a:grpSpLocks noChangeAspect="1"/>
          </p:cNvGrpSpPr>
          <p:nvPr/>
        </p:nvGrpSpPr>
        <p:grpSpPr bwMode="auto">
          <a:xfrm>
            <a:off x="6171700" y="1281015"/>
            <a:ext cx="526184" cy="511588"/>
            <a:chOff x="5135" y="1472"/>
            <a:chExt cx="432" cy="417"/>
          </a:xfrm>
          <a:effectLst>
            <a:outerShdw blurRad="63500" sx="102000" sy="102000" algn="t" rotWithShape="0">
              <a:prstClr val="black">
                <a:alpha val="40000"/>
              </a:prstClr>
            </a:outerShdw>
          </a:effectLst>
        </p:grpSpPr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5327" y="1472"/>
              <a:ext cx="48" cy="417"/>
            </a:xfrm>
            <a:custGeom>
              <a:avLst/>
              <a:gdLst/>
              <a:ahLst/>
              <a:cxnLst>
                <a:cxn ang="0">
                  <a:pos x="24" y="196"/>
                </a:cxn>
                <a:cxn ang="0">
                  <a:pos x="12" y="205"/>
                </a:cxn>
                <a:cxn ang="0">
                  <a:pos x="12" y="205"/>
                </a:cxn>
                <a:cxn ang="0">
                  <a:pos x="0" y="196"/>
                </a:cxn>
                <a:cxn ang="0">
                  <a:pos x="0" y="9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24" y="9"/>
                </a:cxn>
                <a:cxn ang="0">
                  <a:pos x="24" y="196"/>
                </a:cxn>
              </a:cxnLst>
              <a:rect l="0" t="0" r="r" b="b"/>
              <a:pathLst>
                <a:path w="24" h="205">
                  <a:moveTo>
                    <a:pt x="24" y="196"/>
                  </a:moveTo>
                  <a:cubicBezTo>
                    <a:pt x="24" y="203"/>
                    <a:pt x="18" y="205"/>
                    <a:pt x="12" y="205"/>
                  </a:cubicBezTo>
                  <a:cubicBezTo>
                    <a:pt x="12" y="205"/>
                    <a:pt x="12" y="205"/>
                    <a:pt x="12" y="205"/>
                  </a:cubicBezTo>
                  <a:cubicBezTo>
                    <a:pt x="5" y="205"/>
                    <a:pt x="0" y="203"/>
                    <a:pt x="0" y="19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2"/>
                    <a:pt x="5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24" y="2"/>
                    <a:pt x="24" y="9"/>
                  </a:cubicBezTo>
                  <a:lnTo>
                    <a:pt x="24" y="19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5261" y="1474"/>
              <a:ext cx="33" cy="205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8" y="101"/>
                </a:cxn>
                <a:cxn ang="0">
                  <a:pos x="8" y="101"/>
                </a:cxn>
                <a:cxn ang="0">
                  <a:pos x="16" y="97"/>
                </a:cxn>
                <a:cxn ang="0">
                  <a:pos x="16" y="3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0" y="3"/>
                </a:cxn>
                <a:cxn ang="0">
                  <a:pos x="0" y="97"/>
                </a:cxn>
              </a:cxnLst>
              <a:rect l="0" t="0" r="r" b="b"/>
              <a:pathLst>
                <a:path w="16" h="101">
                  <a:moveTo>
                    <a:pt x="0" y="97"/>
                  </a:moveTo>
                  <a:cubicBezTo>
                    <a:pt x="0" y="99"/>
                    <a:pt x="3" y="101"/>
                    <a:pt x="8" y="101"/>
                  </a:cubicBezTo>
                  <a:cubicBezTo>
                    <a:pt x="8" y="101"/>
                    <a:pt x="8" y="101"/>
                    <a:pt x="8" y="101"/>
                  </a:cubicBezTo>
                  <a:cubicBezTo>
                    <a:pt x="12" y="101"/>
                    <a:pt x="16" y="99"/>
                    <a:pt x="16" y="97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6" y="1"/>
                    <a:pt x="12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1"/>
                    <a:pt x="0" y="3"/>
                  </a:cubicBezTo>
                  <a:lnTo>
                    <a:pt x="0" y="9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5286" y="1569"/>
              <a:ext cx="55" cy="1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276" y="1577"/>
              <a:ext cx="28" cy="11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4" y="50"/>
                </a:cxn>
                <a:cxn ang="0">
                  <a:pos x="7" y="57"/>
                </a:cxn>
                <a:cxn ang="0">
                  <a:pos x="7" y="57"/>
                </a:cxn>
                <a:cxn ang="0">
                  <a:pos x="0" y="50"/>
                </a:cxn>
                <a:cxn ang="0">
                  <a:pos x="0" y="43"/>
                </a:cxn>
              </a:cxnLst>
              <a:rect l="0" t="0" r="r" b="b"/>
              <a:pathLst>
                <a:path w="14" h="57">
                  <a:moveTo>
                    <a:pt x="14" y="0"/>
                  </a:moveTo>
                  <a:cubicBezTo>
                    <a:pt x="14" y="50"/>
                    <a:pt x="14" y="50"/>
                    <a:pt x="14" y="50"/>
                  </a:cubicBezTo>
                  <a:cubicBezTo>
                    <a:pt x="14" y="54"/>
                    <a:pt x="11" y="57"/>
                    <a:pt x="7" y="57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3" y="57"/>
                    <a:pt x="0" y="54"/>
                    <a:pt x="0" y="50"/>
                  </a:cubicBezTo>
                  <a:cubicBezTo>
                    <a:pt x="0" y="43"/>
                    <a:pt x="0" y="43"/>
                    <a:pt x="0" y="43"/>
                  </a:cubicBezTo>
                </a:path>
              </a:pathLst>
            </a:custGeom>
            <a:noFill/>
            <a:ln w="4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286" y="1492"/>
              <a:ext cx="14" cy="83"/>
            </a:xfrm>
            <a:custGeom>
              <a:avLst/>
              <a:gdLst/>
              <a:ahLst/>
              <a:cxnLst>
                <a:cxn ang="0">
                  <a:pos x="7" y="38"/>
                </a:cxn>
                <a:cxn ang="0">
                  <a:pos x="4" y="41"/>
                </a:cxn>
                <a:cxn ang="0">
                  <a:pos x="4" y="41"/>
                </a:cxn>
                <a:cxn ang="0">
                  <a:pos x="0" y="38"/>
                </a:cxn>
                <a:cxn ang="0">
                  <a:pos x="0" y="3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7" y="3"/>
                </a:cxn>
                <a:cxn ang="0">
                  <a:pos x="7" y="38"/>
                </a:cxn>
              </a:cxnLst>
              <a:rect l="0" t="0" r="r" b="b"/>
              <a:pathLst>
                <a:path w="7" h="41">
                  <a:moveTo>
                    <a:pt x="7" y="38"/>
                  </a:moveTo>
                  <a:cubicBezTo>
                    <a:pt x="7" y="40"/>
                    <a:pt x="6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2" y="41"/>
                    <a:pt x="0" y="40"/>
                    <a:pt x="0" y="3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lnTo>
                    <a:pt x="7" y="3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5" name="Freeform 12"/>
            <p:cNvSpPr>
              <a:spLocks/>
            </p:cNvSpPr>
            <p:nvPr/>
          </p:nvSpPr>
          <p:spPr bwMode="auto">
            <a:xfrm>
              <a:off x="5198" y="1508"/>
              <a:ext cx="33" cy="206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8" y="101"/>
                </a:cxn>
                <a:cxn ang="0">
                  <a:pos x="8" y="101"/>
                </a:cxn>
                <a:cxn ang="0">
                  <a:pos x="16" y="97"/>
                </a:cxn>
                <a:cxn ang="0">
                  <a:pos x="16" y="3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0" y="3"/>
                </a:cxn>
                <a:cxn ang="0">
                  <a:pos x="0" y="97"/>
                </a:cxn>
              </a:cxnLst>
              <a:rect l="0" t="0" r="r" b="b"/>
              <a:pathLst>
                <a:path w="16" h="101">
                  <a:moveTo>
                    <a:pt x="0" y="97"/>
                  </a:moveTo>
                  <a:cubicBezTo>
                    <a:pt x="0" y="99"/>
                    <a:pt x="3" y="101"/>
                    <a:pt x="8" y="101"/>
                  </a:cubicBezTo>
                  <a:cubicBezTo>
                    <a:pt x="8" y="101"/>
                    <a:pt x="8" y="101"/>
                    <a:pt x="8" y="101"/>
                  </a:cubicBezTo>
                  <a:cubicBezTo>
                    <a:pt x="13" y="101"/>
                    <a:pt x="16" y="99"/>
                    <a:pt x="16" y="97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6" y="1"/>
                    <a:pt x="13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1"/>
                    <a:pt x="0" y="3"/>
                  </a:cubicBezTo>
                  <a:lnTo>
                    <a:pt x="0" y="9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5223" y="1604"/>
              <a:ext cx="118" cy="1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5213" y="1612"/>
              <a:ext cx="28" cy="11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4" y="50"/>
                </a:cxn>
                <a:cxn ang="0">
                  <a:pos x="7" y="57"/>
                </a:cxn>
                <a:cxn ang="0">
                  <a:pos x="7" y="57"/>
                </a:cxn>
                <a:cxn ang="0">
                  <a:pos x="0" y="50"/>
                </a:cxn>
                <a:cxn ang="0">
                  <a:pos x="0" y="43"/>
                </a:cxn>
              </a:cxnLst>
              <a:rect l="0" t="0" r="r" b="b"/>
              <a:pathLst>
                <a:path w="14" h="57">
                  <a:moveTo>
                    <a:pt x="14" y="0"/>
                  </a:moveTo>
                  <a:cubicBezTo>
                    <a:pt x="14" y="50"/>
                    <a:pt x="14" y="50"/>
                    <a:pt x="14" y="50"/>
                  </a:cubicBezTo>
                  <a:cubicBezTo>
                    <a:pt x="14" y="54"/>
                    <a:pt x="11" y="57"/>
                    <a:pt x="7" y="57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3" y="57"/>
                    <a:pt x="0" y="54"/>
                    <a:pt x="0" y="50"/>
                  </a:cubicBezTo>
                  <a:cubicBezTo>
                    <a:pt x="0" y="43"/>
                    <a:pt x="0" y="43"/>
                    <a:pt x="0" y="43"/>
                  </a:cubicBezTo>
                </a:path>
              </a:pathLst>
            </a:custGeom>
            <a:noFill/>
            <a:ln w="4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5223" y="1527"/>
              <a:ext cx="14" cy="83"/>
            </a:xfrm>
            <a:custGeom>
              <a:avLst/>
              <a:gdLst/>
              <a:ahLst/>
              <a:cxnLst>
                <a:cxn ang="0">
                  <a:pos x="7" y="38"/>
                </a:cxn>
                <a:cxn ang="0">
                  <a:pos x="4" y="41"/>
                </a:cxn>
                <a:cxn ang="0">
                  <a:pos x="4" y="41"/>
                </a:cxn>
                <a:cxn ang="0">
                  <a:pos x="0" y="38"/>
                </a:cxn>
                <a:cxn ang="0">
                  <a:pos x="0" y="3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7" y="3"/>
                </a:cxn>
                <a:cxn ang="0">
                  <a:pos x="7" y="38"/>
                </a:cxn>
              </a:cxnLst>
              <a:rect l="0" t="0" r="r" b="b"/>
              <a:pathLst>
                <a:path w="7" h="41">
                  <a:moveTo>
                    <a:pt x="7" y="38"/>
                  </a:moveTo>
                  <a:cubicBezTo>
                    <a:pt x="7" y="40"/>
                    <a:pt x="6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2" y="41"/>
                    <a:pt x="0" y="40"/>
                    <a:pt x="0" y="3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lnTo>
                    <a:pt x="7" y="3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135" y="1543"/>
              <a:ext cx="33" cy="205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8" y="101"/>
                </a:cxn>
                <a:cxn ang="0">
                  <a:pos x="8" y="101"/>
                </a:cxn>
                <a:cxn ang="0">
                  <a:pos x="16" y="97"/>
                </a:cxn>
                <a:cxn ang="0">
                  <a:pos x="16" y="4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0" y="4"/>
                </a:cxn>
                <a:cxn ang="0">
                  <a:pos x="0" y="97"/>
                </a:cxn>
              </a:cxnLst>
              <a:rect l="0" t="0" r="r" b="b"/>
              <a:pathLst>
                <a:path w="16" h="101">
                  <a:moveTo>
                    <a:pt x="0" y="97"/>
                  </a:moveTo>
                  <a:cubicBezTo>
                    <a:pt x="0" y="100"/>
                    <a:pt x="3" y="101"/>
                    <a:pt x="8" y="101"/>
                  </a:cubicBezTo>
                  <a:cubicBezTo>
                    <a:pt x="8" y="101"/>
                    <a:pt x="8" y="101"/>
                    <a:pt x="8" y="101"/>
                  </a:cubicBezTo>
                  <a:cubicBezTo>
                    <a:pt x="13" y="101"/>
                    <a:pt x="16" y="100"/>
                    <a:pt x="16" y="97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1"/>
                    <a:pt x="13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1"/>
                    <a:pt x="0" y="4"/>
                  </a:cubicBezTo>
                  <a:lnTo>
                    <a:pt x="0" y="9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5160" y="1638"/>
              <a:ext cx="173" cy="1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5149" y="1647"/>
              <a:ext cx="29" cy="11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4" y="50"/>
                </a:cxn>
                <a:cxn ang="0">
                  <a:pos x="7" y="57"/>
                </a:cxn>
                <a:cxn ang="0">
                  <a:pos x="7" y="57"/>
                </a:cxn>
                <a:cxn ang="0">
                  <a:pos x="0" y="50"/>
                </a:cxn>
                <a:cxn ang="0">
                  <a:pos x="0" y="43"/>
                </a:cxn>
              </a:cxnLst>
              <a:rect l="0" t="0" r="r" b="b"/>
              <a:pathLst>
                <a:path w="14" h="57">
                  <a:moveTo>
                    <a:pt x="14" y="0"/>
                  </a:moveTo>
                  <a:cubicBezTo>
                    <a:pt x="14" y="50"/>
                    <a:pt x="14" y="50"/>
                    <a:pt x="14" y="50"/>
                  </a:cubicBezTo>
                  <a:cubicBezTo>
                    <a:pt x="14" y="54"/>
                    <a:pt x="11" y="57"/>
                    <a:pt x="7" y="57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3" y="57"/>
                    <a:pt x="0" y="54"/>
                    <a:pt x="0" y="50"/>
                  </a:cubicBezTo>
                  <a:cubicBezTo>
                    <a:pt x="0" y="43"/>
                    <a:pt x="0" y="43"/>
                    <a:pt x="0" y="43"/>
                  </a:cubicBezTo>
                </a:path>
              </a:pathLst>
            </a:custGeom>
            <a:noFill/>
            <a:ln w="4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5160" y="1561"/>
              <a:ext cx="14" cy="84"/>
            </a:xfrm>
            <a:custGeom>
              <a:avLst/>
              <a:gdLst/>
              <a:ahLst/>
              <a:cxnLst>
                <a:cxn ang="0">
                  <a:pos x="7" y="38"/>
                </a:cxn>
                <a:cxn ang="0">
                  <a:pos x="4" y="41"/>
                </a:cxn>
                <a:cxn ang="0">
                  <a:pos x="4" y="41"/>
                </a:cxn>
                <a:cxn ang="0">
                  <a:pos x="0" y="38"/>
                </a:cxn>
                <a:cxn ang="0">
                  <a:pos x="0" y="4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7" y="4"/>
                </a:cxn>
                <a:cxn ang="0">
                  <a:pos x="7" y="38"/>
                </a:cxn>
              </a:cxnLst>
              <a:rect l="0" t="0" r="r" b="b"/>
              <a:pathLst>
                <a:path w="7" h="41">
                  <a:moveTo>
                    <a:pt x="7" y="38"/>
                  </a:moveTo>
                  <a:cubicBezTo>
                    <a:pt x="7" y="40"/>
                    <a:pt x="6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2" y="41"/>
                    <a:pt x="0" y="40"/>
                    <a:pt x="0" y="3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7" y="2"/>
                    <a:pt x="7" y="4"/>
                  </a:cubicBezTo>
                  <a:lnTo>
                    <a:pt x="7" y="3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5406" y="1474"/>
              <a:ext cx="34" cy="205"/>
            </a:xfrm>
            <a:custGeom>
              <a:avLst/>
              <a:gdLst/>
              <a:ahLst/>
              <a:cxnLst>
                <a:cxn ang="0">
                  <a:pos x="17" y="97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0" y="97"/>
                </a:cxn>
                <a:cxn ang="0">
                  <a:pos x="0" y="3"/>
                </a:cxn>
                <a:cxn ang="0">
                  <a:pos x="9" y="0"/>
                </a:cxn>
                <a:cxn ang="0">
                  <a:pos x="9" y="0"/>
                </a:cxn>
                <a:cxn ang="0">
                  <a:pos x="17" y="3"/>
                </a:cxn>
                <a:cxn ang="0">
                  <a:pos x="17" y="97"/>
                </a:cxn>
              </a:cxnLst>
              <a:rect l="0" t="0" r="r" b="b"/>
              <a:pathLst>
                <a:path w="17" h="101">
                  <a:moveTo>
                    <a:pt x="17" y="97"/>
                  </a:moveTo>
                  <a:cubicBezTo>
                    <a:pt x="17" y="99"/>
                    <a:pt x="13" y="101"/>
                    <a:pt x="9" y="101"/>
                  </a:cubicBezTo>
                  <a:cubicBezTo>
                    <a:pt x="9" y="101"/>
                    <a:pt x="9" y="101"/>
                    <a:pt x="9" y="101"/>
                  </a:cubicBezTo>
                  <a:cubicBezTo>
                    <a:pt x="4" y="101"/>
                    <a:pt x="0" y="99"/>
                    <a:pt x="0" y="97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4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3" y="0"/>
                    <a:pt x="17" y="1"/>
                    <a:pt x="17" y="3"/>
                  </a:cubicBezTo>
                  <a:lnTo>
                    <a:pt x="17" y="9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5359" y="1569"/>
              <a:ext cx="57" cy="1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5398" y="1577"/>
              <a:ext cx="28" cy="1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0"/>
                </a:cxn>
                <a:cxn ang="0">
                  <a:pos x="7" y="57"/>
                </a:cxn>
                <a:cxn ang="0">
                  <a:pos x="7" y="57"/>
                </a:cxn>
                <a:cxn ang="0">
                  <a:pos x="14" y="50"/>
                </a:cxn>
                <a:cxn ang="0">
                  <a:pos x="14" y="43"/>
                </a:cxn>
              </a:cxnLst>
              <a:rect l="0" t="0" r="r" b="b"/>
              <a:pathLst>
                <a:path w="14" h="57">
                  <a:moveTo>
                    <a:pt x="0" y="0"/>
                  </a:moveTo>
                  <a:cubicBezTo>
                    <a:pt x="0" y="50"/>
                    <a:pt x="0" y="50"/>
                    <a:pt x="0" y="50"/>
                  </a:cubicBezTo>
                  <a:cubicBezTo>
                    <a:pt x="0" y="54"/>
                    <a:pt x="3" y="57"/>
                    <a:pt x="7" y="57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11" y="57"/>
                    <a:pt x="14" y="54"/>
                    <a:pt x="14" y="50"/>
                  </a:cubicBezTo>
                  <a:cubicBezTo>
                    <a:pt x="14" y="43"/>
                    <a:pt x="14" y="43"/>
                    <a:pt x="14" y="43"/>
                  </a:cubicBezTo>
                </a:path>
              </a:pathLst>
            </a:custGeom>
            <a:noFill/>
            <a:ln w="4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5400" y="1492"/>
              <a:ext cx="14" cy="83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4" y="41"/>
                </a:cxn>
                <a:cxn ang="0">
                  <a:pos x="4" y="41"/>
                </a:cxn>
                <a:cxn ang="0">
                  <a:pos x="7" y="38"/>
                </a:cxn>
                <a:cxn ang="0">
                  <a:pos x="7" y="3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0" y="3"/>
                </a:cxn>
                <a:cxn ang="0">
                  <a:pos x="0" y="38"/>
                </a:cxn>
              </a:cxnLst>
              <a:rect l="0" t="0" r="r" b="b"/>
              <a:pathLst>
                <a:path w="7" h="41">
                  <a:moveTo>
                    <a:pt x="0" y="38"/>
                  </a:moveTo>
                  <a:cubicBezTo>
                    <a:pt x="0" y="40"/>
                    <a:pt x="2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6" y="41"/>
                    <a:pt x="7" y="40"/>
                    <a:pt x="7" y="38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1"/>
                    <a:pt x="6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lnTo>
                    <a:pt x="0" y="3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27" name="Freeform 24"/>
            <p:cNvSpPr>
              <a:spLocks/>
            </p:cNvSpPr>
            <p:nvPr/>
          </p:nvSpPr>
          <p:spPr bwMode="auto">
            <a:xfrm>
              <a:off x="5469" y="1508"/>
              <a:ext cx="35" cy="206"/>
            </a:xfrm>
            <a:custGeom>
              <a:avLst/>
              <a:gdLst/>
              <a:ahLst/>
              <a:cxnLst>
                <a:cxn ang="0">
                  <a:pos x="17" y="97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0" y="97"/>
                </a:cxn>
                <a:cxn ang="0">
                  <a:pos x="0" y="3"/>
                </a:cxn>
                <a:cxn ang="0">
                  <a:pos x="9" y="0"/>
                </a:cxn>
                <a:cxn ang="0">
                  <a:pos x="9" y="0"/>
                </a:cxn>
                <a:cxn ang="0">
                  <a:pos x="17" y="3"/>
                </a:cxn>
                <a:cxn ang="0">
                  <a:pos x="17" y="97"/>
                </a:cxn>
              </a:cxnLst>
              <a:rect l="0" t="0" r="r" b="b"/>
              <a:pathLst>
                <a:path w="17" h="101">
                  <a:moveTo>
                    <a:pt x="17" y="97"/>
                  </a:moveTo>
                  <a:cubicBezTo>
                    <a:pt x="17" y="99"/>
                    <a:pt x="13" y="101"/>
                    <a:pt x="9" y="101"/>
                  </a:cubicBezTo>
                  <a:cubicBezTo>
                    <a:pt x="9" y="101"/>
                    <a:pt x="9" y="101"/>
                    <a:pt x="9" y="101"/>
                  </a:cubicBezTo>
                  <a:cubicBezTo>
                    <a:pt x="4" y="101"/>
                    <a:pt x="0" y="99"/>
                    <a:pt x="0" y="97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4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3" y="0"/>
                    <a:pt x="17" y="1"/>
                    <a:pt x="17" y="3"/>
                  </a:cubicBezTo>
                  <a:lnTo>
                    <a:pt x="17" y="9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28" name="Rectangle 25"/>
            <p:cNvSpPr>
              <a:spLocks noChangeArrowheads="1"/>
            </p:cNvSpPr>
            <p:nvPr/>
          </p:nvSpPr>
          <p:spPr bwMode="auto">
            <a:xfrm>
              <a:off x="5361" y="1604"/>
              <a:ext cx="118" cy="1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29" name="Freeform 26"/>
            <p:cNvSpPr>
              <a:spLocks/>
            </p:cNvSpPr>
            <p:nvPr/>
          </p:nvSpPr>
          <p:spPr bwMode="auto">
            <a:xfrm>
              <a:off x="5461" y="1612"/>
              <a:ext cx="28" cy="1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0"/>
                </a:cxn>
                <a:cxn ang="0">
                  <a:pos x="7" y="57"/>
                </a:cxn>
                <a:cxn ang="0">
                  <a:pos x="7" y="57"/>
                </a:cxn>
                <a:cxn ang="0">
                  <a:pos x="14" y="50"/>
                </a:cxn>
                <a:cxn ang="0">
                  <a:pos x="14" y="43"/>
                </a:cxn>
              </a:cxnLst>
              <a:rect l="0" t="0" r="r" b="b"/>
              <a:pathLst>
                <a:path w="14" h="57">
                  <a:moveTo>
                    <a:pt x="0" y="0"/>
                  </a:moveTo>
                  <a:cubicBezTo>
                    <a:pt x="0" y="50"/>
                    <a:pt x="0" y="50"/>
                    <a:pt x="0" y="50"/>
                  </a:cubicBezTo>
                  <a:cubicBezTo>
                    <a:pt x="0" y="54"/>
                    <a:pt x="3" y="57"/>
                    <a:pt x="7" y="57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11" y="57"/>
                    <a:pt x="14" y="54"/>
                    <a:pt x="14" y="50"/>
                  </a:cubicBezTo>
                  <a:cubicBezTo>
                    <a:pt x="14" y="43"/>
                    <a:pt x="14" y="43"/>
                    <a:pt x="14" y="43"/>
                  </a:cubicBezTo>
                </a:path>
              </a:pathLst>
            </a:custGeom>
            <a:noFill/>
            <a:ln w="4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30" name="Freeform 27"/>
            <p:cNvSpPr>
              <a:spLocks/>
            </p:cNvSpPr>
            <p:nvPr/>
          </p:nvSpPr>
          <p:spPr bwMode="auto">
            <a:xfrm>
              <a:off x="5463" y="1527"/>
              <a:ext cx="14" cy="83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4" y="41"/>
                </a:cxn>
                <a:cxn ang="0">
                  <a:pos x="4" y="41"/>
                </a:cxn>
                <a:cxn ang="0">
                  <a:pos x="7" y="38"/>
                </a:cxn>
                <a:cxn ang="0">
                  <a:pos x="7" y="3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0" y="3"/>
                </a:cxn>
                <a:cxn ang="0">
                  <a:pos x="0" y="38"/>
                </a:cxn>
              </a:cxnLst>
              <a:rect l="0" t="0" r="r" b="b"/>
              <a:pathLst>
                <a:path w="7" h="41">
                  <a:moveTo>
                    <a:pt x="0" y="38"/>
                  </a:moveTo>
                  <a:cubicBezTo>
                    <a:pt x="0" y="40"/>
                    <a:pt x="2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6" y="41"/>
                    <a:pt x="7" y="40"/>
                    <a:pt x="7" y="38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1"/>
                    <a:pt x="6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lnTo>
                    <a:pt x="0" y="3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31" name="Freeform 28"/>
            <p:cNvSpPr>
              <a:spLocks/>
            </p:cNvSpPr>
            <p:nvPr/>
          </p:nvSpPr>
          <p:spPr bwMode="auto">
            <a:xfrm>
              <a:off x="5532" y="1543"/>
              <a:ext cx="35" cy="205"/>
            </a:xfrm>
            <a:custGeom>
              <a:avLst/>
              <a:gdLst/>
              <a:ahLst/>
              <a:cxnLst>
                <a:cxn ang="0">
                  <a:pos x="17" y="97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0" y="97"/>
                </a:cxn>
                <a:cxn ang="0">
                  <a:pos x="0" y="4"/>
                </a:cxn>
                <a:cxn ang="0">
                  <a:pos x="9" y="0"/>
                </a:cxn>
                <a:cxn ang="0">
                  <a:pos x="9" y="0"/>
                </a:cxn>
                <a:cxn ang="0">
                  <a:pos x="17" y="4"/>
                </a:cxn>
                <a:cxn ang="0">
                  <a:pos x="17" y="97"/>
                </a:cxn>
              </a:cxnLst>
              <a:rect l="0" t="0" r="r" b="b"/>
              <a:pathLst>
                <a:path w="17" h="101">
                  <a:moveTo>
                    <a:pt x="17" y="97"/>
                  </a:moveTo>
                  <a:cubicBezTo>
                    <a:pt x="17" y="100"/>
                    <a:pt x="13" y="101"/>
                    <a:pt x="9" y="101"/>
                  </a:cubicBezTo>
                  <a:cubicBezTo>
                    <a:pt x="9" y="101"/>
                    <a:pt x="9" y="101"/>
                    <a:pt x="9" y="101"/>
                  </a:cubicBezTo>
                  <a:cubicBezTo>
                    <a:pt x="4" y="101"/>
                    <a:pt x="0" y="100"/>
                    <a:pt x="0" y="9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1"/>
                    <a:pt x="4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3" y="0"/>
                    <a:pt x="17" y="1"/>
                    <a:pt x="17" y="4"/>
                  </a:cubicBezTo>
                  <a:lnTo>
                    <a:pt x="17" y="9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32" name="Rectangle 29"/>
            <p:cNvSpPr>
              <a:spLocks noChangeArrowheads="1"/>
            </p:cNvSpPr>
            <p:nvPr/>
          </p:nvSpPr>
          <p:spPr bwMode="auto">
            <a:xfrm>
              <a:off x="5367" y="1638"/>
              <a:ext cx="175" cy="1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33" name="Freeform 30"/>
            <p:cNvSpPr>
              <a:spLocks/>
            </p:cNvSpPr>
            <p:nvPr/>
          </p:nvSpPr>
          <p:spPr bwMode="auto">
            <a:xfrm>
              <a:off x="5524" y="1647"/>
              <a:ext cx="28" cy="1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0"/>
                </a:cxn>
                <a:cxn ang="0">
                  <a:pos x="7" y="57"/>
                </a:cxn>
                <a:cxn ang="0">
                  <a:pos x="7" y="57"/>
                </a:cxn>
                <a:cxn ang="0">
                  <a:pos x="14" y="50"/>
                </a:cxn>
                <a:cxn ang="0">
                  <a:pos x="14" y="43"/>
                </a:cxn>
              </a:cxnLst>
              <a:rect l="0" t="0" r="r" b="b"/>
              <a:pathLst>
                <a:path w="14" h="57">
                  <a:moveTo>
                    <a:pt x="0" y="0"/>
                  </a:moveTo>
                  <a:cubicBezTo>
                    <a:pt x="0" y="50"/>
                    <a:pt x="0" y="50"/>
                    <a:pt x="0" y="50"/>
                  </a:cubicBezTo>
                  <a:cubicBezTo>
                    <a:pt x="0" y="54"/>
                    <a:pt x="3" y="57"/>
                    <a:pt x="7" y="57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10" y="57"/>
                    <a:pt x="14" y="54"/>
                    <a:pt x="14" y="50"/>
                  </a:cubicBezTo>
                  <a:cubicBezTo>
                    <a:pt x="14" y="43"/>
                    <a:pt x="14" y="43"/>
                    <a:pt x="14" y="43"/>
                  </a:cubicBezTo>
                </a:path>
              </a:pathLst>
            </a:custGeom>
            <a:noFill/>
            <a:ln w="4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34" name="Freeform 31"/>
            <p:cNvSpPr>
              <a:spLocks/>
            </p:cNvSpPr>
            <p:nvPr/>
          </p:nvSpPr>
          <p:spPr bwMode="auto">
            <a:xfrm>
              <a:off x="5526" y="1561"/>
              <a:ext cx="14" cy="84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4" y="41"/>
                </a:cxn>
                <a:cxn ang="0">
                  <a:pos x="4" y="41"/>
                </a:cxn>
                <a:cxn ang="0">
                  <a:pos x="7" y="38"/>
                </a:cxn>
                <a:cxn ang="0">
                  <a:pos x="7" y="4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0" y="38"/>
                </a:cxn>
              </a:cxnLst>
              <a:rect l="0" t="0" r="r" b="b"/>
              <a:pathLst>
                <a:path w="7" h="41">
                  <a:moveTo>
                    <a:pt x="0" y="38"/>
                  </a:moveTo>
                  <a:cubicBezTo>
                    <a:pt x="0" y="40"/>
                    <a:pt x="2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6" y="41"/>
                    <a:pt x="7" y="40"/>
                    <a:pt x="7" y="38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6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lnTo>
                    <a:pt x="0" y="3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</p:grpSp>
      <p:sp>
        <p:nvSpPr>
          <p:cNvPr id="35" name="Oval 34"/>
          <p:cNvSpPr/>
          <p:nvPr/>
        </p:nvSpPr>
        <p:spPr>
          <a:xfrm>
            <a:off x="5364705" y="2478308"/>
            <a:ext cx="768096" cy="770312"/>
          </a:xfrm>
          <a:prstGeom prst="ellipse">
            <a:avLst/>
          </a:prstGeom>
          <a:gradFill flip="none" rotWithShape="1">
            <a:gsLst>
              <a:gs pos="0">
                <a:srgbClr val="237DC8"/>
              </a:gs>
              <a:gs pos="100000">
                <a:srgbClr val="2FA9DB"/>
              </a:gs>
            </a:gsLst>
            <a:lin ang="16200000" scaled="1"/>
            <a:tileRect/>
          </a:gradFill>
          <a:ln w="41275">
            <a:solidFill>
              <a:srgbClr val="237D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11301" y="2640837"/>
            <a:ext cx="474906" cy="482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pic>
      <p:sp>
        <p:nvSpPr>
          <p:cNvPr id="37" name="Oval 36"/>
          <p:cNvSpPr/>
          <p:nvPr/>
        </p:nvSpPr>
        <p:spPr>
          <a:xfrm flipV="1">
            <a:off x="2242822" y="1131590"/>
            <a:ext cx="768096" cy="770312"/>
          </a:xfrm>
          <a:prstGeom prst="ellipse">
            <a:avLst/>
          </a:prstGeom>
          <a:gradFill flip="none" rotWithShape="1">
            <a:gsLst>
              <a:gs pos="0">
                <a:srgbClr val="237DC8"/>
              </a:gs>
              <a:gs pos="100000">
                <a:srgbClr val="2FA9DB"/>
              </a:gs>
            </a:gsLst>
            <a:lin ang="5400000" scaled="0"/>
            <a:tileRect/>
          </a:gradFill>
          <a:ln w="41275">
            <a:solidFill>
              <a:srgbClr val="237D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8" name="Freeform 37"/>
          <p:cNvSpPr>
            <a:spLocks noEditPoints="1"/>
          </p:cNvSpPr>
          <p:nvPr/>
        </p:nvSpPr>
        <p:spPr bwMode="auto">
          <a:xfrm>
            <a:off x="2396741" y="1338034"/>
            <a:ext cx="460260" cy="379038"/>
          </a:xfrm>
          <a:custGeom>
            <a:avLst/>
            <a:gdLst/>
            <a:ahLst/>
            <a:cxnLst>
              <a:cxn ang="0">
                <a:pos x="0" y="154"/>
              </a:cxn>
              <a:cxn ang="0">
                <a:pos x="187" y="0"/>
              </a:cxn>
              <a:cxn ang="0">
                <a:pos x="144" y="16"/>
              </a:cxn>
              <a:cxn ang="0">
                <a:pos x="89" y="25"/>
              </a:cxn>
              <a:cxn ang="0">
                <a:pos x="87" y="31"/>
              </a:cxn>
              <a:cxn ang="0">
                <a:pos x="124" y="85"/>
              </a:cxn>
              <a:cxn ang="0">
                <a:pos x="65" y="70"/>
              </a:cxn>
              <a:cxn ang="0">
                <a:pos x="40" y="71"/>
              </a:cxn>
              <a:cxn ang="0">
                <a:pos x="144" y="16"/>
              </a:cxn>
              <a:cxn ang="0">
                <a:pos x="41" y="16"/>
              </a:cxn>
              <a:cxn ang="0">
                <a:pos x="33" y="77"/>
              </a:cxn>
              <a:cxn ang="0">
                <a:pos x="16" y="16"/>
              </a:cxn>
              <a:cxn ang="0">
                <a:pos x="16" y="95"/>
              </a:cxn>
              <a:cxn ang="0">
                <a:pos x="45" y="138"/>
              </a:cxn>
              <a:cxn ang="0">
                <a:pos x="53" y="138"/>
              </a:cxn>
              <a:cxn ang="0">
                <a:pos x="65" y="77"/>
              </a:cxn>
              <a:cxn ang="0">
                <a:pos x="121" y="91"/>
              </a:cxn>
              <a:cxn ang="0">
                <a:pos x="105" y="115"/>
              </a:cxn>
              <a:cxn ang="0">
                <a:pos x="53" y="138"/>
              </a:cxn>
              <a:cxn ang="0">
                <a:pos x="95" y="138"/>
              </a:cxn>
              <a:cxn ang="0">
                <a:pos x="152" y="131"/>
              </a:cxn>
              <a:cxn ang="0">
                <a:pos x="156" y="129"/>
              </a:cxn>
              <a:cxn ang="0">
                <a:pos x="114" y="115"/>
              </a:cxn>
              <a:cxn ang="0">
                <a:pos x="132" y="92"/>
              </a:cxn>
              <a:cxn ang="0">
                <a:pos x="171" y="138"/>
              </a:cxn>
              <a:cxn ang="0">
                <a:pos x="132" y="85"/>
              </a:cxn>
              <a:cxn ang="0">
                <a:pos x="146" y="41"/>
              </a:cxn>
              <a:cxn ang="0">
                <a:pos x="146" y="40"/>
              </a:cxn>
              <a:cxn ang="0">
                <a:pos x="171" y="16"/>
              </a:cxn>
              <a:cxn ang="0">
                <a:pos x="113" y="79"/>
              </a:cxn>
              <a:cxn ang="0">
                <a:pos x="113" y="46"/>
              </a:cxn>
              <a:cxn ang="0">
                <a:pos x="113" y="79"/>
              </a:cxn>
              <a:cxn ang="0">
                <a:pos x="126" y="63"/>
              </a:cxn>
              <a:cxn ang="0">
                <a:pos x="100" y="63"/>
              </a:cxn>
              <a:cxn ang="0">
                <a:pos x="113" y="73"/>
              </a:cxn>
              <a:cxn ang="0">
                <a:pos x="113" y="52"/>
              </a:cxn>
              <a:cxn ang="0">
                <a:pos x="113" y="73"/>
              </a:cxn>
            </a:cxnLst>
            <a:rect l="0" t="0" r="r" b="b"/>
            <a:pathLst>
              <a:path w="187" h="154">
                <a:moveTo>
                  <a:pt x="0" y="0"/>
                </a:moveTo>
                <a:cubicBezTo>
                  <a:pt x="0" y="154"/>
                  <a:pt x="0" y="154"/>
                  <a:pt x="0" y="154"/>
                </a:cubicBezTo>
                <a:cubicBezTo>
                  <a:pt x="187" y="154"/>
                  <a:pt x="187" y="154"/>
                  <a:pt x="187" y="154"/>
                </a:cubicBezTo>
                <a:cubicBezTo>
                  <a:pt x="187" y="0"/>
                  <a:pt x="187" y="0"/>
                  <a:pt x="187" y="0"/>
                </a:cubicBezTo>
                <a:lnTo>
                  <a:pt x="0" y="0"/>
                </a:lnTo>
                <a:close/>
                <a:moveTo>
                  <a:pt x="144" y="16"/>
                </a:moveTo>
                <a:cubicBezTo>
                  <a:pt x="143" y="23"/>
                  <a:pt x="142" y="30"/>
                  <a:pt x="141" y="36"/>
                </a:cubicBezTo>
                <a:cubicBezTo>
                  <a:pt x="89" y="25"/>
                  <a:pt x="89" y="25"/>
                  <a:pt x="89" y="25"/>
                </a:cubicBezTo>
                <a:cubicBezTo>
                  <a:pt x="87" y="24"/>
                  <a:pt x="85" y="25"/>
                  <a:pt x="85" y="27"/>
                </a:cubicBezTo>
                <a:cubicBezTo>
                  <a:pt x="84" y="29"/>
                  <a:pt x="86" y="31"/>
                  <a:pt x="87" y="31"/>
                </a:cubicBezTo>
                <a:cubicBezTo>
                  <a:pt x="139" y="42"/>
                  <a:pt x="139" y="42"/>
                  <a:pt x="139" y="42"/>
                </a:cubicBezTo>
                <a:cubicBezTo>
                  <a:pt x="136" y="57"/>
                  <a:pt x="131" y="71"/>
                  <a:pt x="124" y="85"/>
                </a:cubicBezTo>
                <a:cubicBezTo>
                  <a:pt x="115" y="84"/>
                  <a:pt x="107" y="81"/>
                  <a:pt x="99" y="78"/>
                </a:cubicBezTo>
                <a:cubicBezTo>
                  <a:pt x="88" y="73"/>
                  <a:pt x="77" y="70"/>
                  <a:pt x="65" y="70"/>
                </a:cubicBezTo>
                <a:cubicBezTo>
                  <a:pt x="57" y="70"/>
                  <a:pt x="48" y="72"/>
                  <a:pt x="40" y="74"/>
                </a:cubicBezTo>
                <a:cubicBezTo>
                  <a:pt x="40" y="73"/>
                  <a:pt x="40" y="72"/>
                  <a:pt x="40" y="71"/>
                </a:cubicBezTo>
                <a:cubicBezTo>
                  <a:pt x="40" y="53"/>
                  <a:pt x="43" y="34"/>
                  <a:pt x="48" y="16"/>
                </a:cubicBezTo>
                <a:lnTo>
                  <a:pt x="144" y="16"/>
                </a:lnTo>
                <a:close/>
                <a:moveTo>
                  <a:pt x="16" y="16"/>
                </a:moveTo>
                <a:cubicBezTo>
                  <a:pt x="41" y="16"/>
                  <a:pt x="41" y="16"/>
                  <a:pt x="41" y="16"/>
                </a:cubicBezTo>
                <a:cubicBezTo>
                  <a:pt x="36" y="34"/>
                  <a:pt x="33" y="53"/>
                  <a:pt x="33" y="71"/>
                </a:cubicBezTo>
                <a:cubicBezTo>
                  <a:pt x="33" y="73"/>
                  <a:pt x="33" y="75"/>
                  <a:pt x="33" y="77"/>
                </a:cubicBezTo>
                <a:cubicBezTo>
                  <a:pt x="27" y="80"/>
                  <a:pt x="22" y="83"/>
                  <a:pt x="16" y="87"/>
                </a:cubicBezTo>
                <a:lnTo>
                  <a:pt x="16" y="16"/>
                </a:lnTo>
                <a:close/>
                <a:moveTo>
                  <a:pt x="16" y="138"/>
                </a:moveTo>
                <a:cubicBezTo>
                  <a:pt x="16" y="95"/>
                  <a:pt x="16" y="95"/>
                  <a:pt x="16" y="95"/>
                </a:cubicBezTo>
                <a:cubicBezTo>
                  <a:pt x="22" y="91"/>
                  <a:pt x="27" y="87"/>
                  <a:pt x="34" y="84"/>
                </a:cubicBezTo>
                <a:cubicBezTo>
                  <a:pt x="35" y="103"/>
                  <a:pt x="39" y="121"/>
                  <a:pt x="45" y="138"/>
                </a:cubicBezTo>
                <a:lnTo>
                  <a:pt x="16" y="138"/>
                </a:lnTo>
                <a:close/>
                <a:moveTo>
                  <a:pt x="53" y="138"/>
                </a:moveTo>
                <a:cubicBezTo>
                  <a:pt x="45" y="120"/>
                  <a:pt x="41" y="101"/>
                  <a:pt x="40" y="81"/>
                </a:cubicBezTo>
                <a:cubicBezTo>
                  <a:pt x="48" y="78"/>
                  <a:pt x="57" y="77"/>
                  <a:pt x="65" y="77"/>
                </a:cubicBezTo>
                <a:cubicBezTo>
                  <a:pt x="76" y="77"/>
                  <a:pt x="86" y="79"/>
                  <a:pt x="96" y="84"/>
                </a:cubicBezTo>
                <a:cubicBezTo>
                  <a:pt x="104" y="87"/>
                  <a:pt x="112" y="90"/>
                  <a:pt x="121" y="91"/>
                </a:cubicBezTo>
                <a:cubicBezTo>
                  <a:pt x="116" y="100"/>
                  <a:pt x="111" y="108"/>
                  <a:pt x="105" y="115"/>
                </a:cubicBezTo>
                <a:cubicBezTo>
                  <a:pt x="105" y="115"/>
                  <a:pt x="105" y="115"/>
                  <a:pt x="105" y="115"/>
                </a:cubicBezTo>
                <a:cubicBezTo>
                  <a:pt x="99" y="124"/>
                  <a:pt x="93" y="131"/>
                  <a:pt x="85" y="138"/>
                </a:cubicBezTo>
                <a:lnTo>
                  <a:pt x="53" y="138"/>
                </a:lnTo>
                <a:close/>
                <a:moveTo>
                  <a:pt x="171" y="138"/>
                </a:moveTo>
                <a:cubicBezTo>
                  <a:pt x="95" y="138"/>
                  <a:pt x="95" y="138"/>
                  <a:pt x="95" y="138"/>
                </a:cubicBezTo>
                <a:cubicBezTo>
                  <a:pt x="100" y="133"/>
                  <a:pt x="105" y="127"/>
                  <a:pt x="109" y="121"/>
                </a:cubicBezTo>
                <a:cubicBezTo>
                  <a:pt x="152" y="131"/>
                  <a:pt x="152" y="131"/>
                  <a:pt x="152" y="131"/>
                </a:cubicBezTo>
                <a:cubicBezTo>
                  <a:pt x="153" y="131"/>
                  <a:pt x="153" y="131"/>
                  <a:pt x="153" y="131"/>
                </a:cubicBezTo>
                <a:cubicBezTo>
                  <a:pt x="155" y="131"/>
                  <a:pt x="156" y="130"/>
                  <a:pt x="156" y="129"/>
                </a:cubicBezTo>
                <a:cubicBezTo>
                  <a:pt x="157" y="127"/>
                  <a:pt x="156" y="125"/>
                  <a:pt x="154" y="125"/>
                </a:cubicBezTo>
                <a:cubicBezTo>
                  <a:pt x="114" y="115"/>
                  <a:pt x="114" y="115"/>
                  <a:pt x="114" y="115"/>
                </a:cubicBezTo>
                <a:cubicBezTo>
                  <a:pt x="119" y="108"/>
                  <a:pt x="124" y="100"/>
                  <a:pt x="128" y="92"/>
                </a:cubicBezTo>
                <a:cubicBezTo>
                  <a:pt x="129" y="92"/>
                  <a:pt x="131" y="92"/>
                  <a:pt x="132" y="92"/>
                </a:cubicBezTo>
                <a:cubicBezTo>
                  <a:pt x="146" y="92"/>
                  <a:pt x="159" y="89"/>
                  <a:pt x="171" y="82"/>
                </a:cubicBezTo>
                <a:lnTo>
                  <a:pt x="171" y="138"/>
                </a:lnTo>
                <a:close/>
                <a:moveTo>
                  <a:pt x="171" y="75"/>
                </a:moveTo>
                <a:cubicBezTo>
                  <a:pt x="159" y="82"/>
                  <a:pt x="146" y="85"/>
                  <a:pt x="132" y="85"/>
                </a:cubicBezTo>
                <a:cubicBezTo>
                  <a:pt x="132" y="85"/>
                  <a:pt x="132" y="85"/>
                  <a:pt x="131" y="85"/>
                </a:cubicBezTo>
                <a:cubicBezTo>
                  <a:pt x="138" y="71"/>
                  <a:pt x="143" y="56"/>
                  <a:pt x="146" y="41"/>
                </a:cubicBezTo>
                <a:cubicBezTo>
                  <a:pt x="146" y="41"/>
                  <a:pt x="146" y="41"/>
                  <a:pt x="146" y="41"/>
                </a:cubicBezTo>
                <a:cubicBezTo>
                  <a:pt x="146" y="40"/>
                  <a:pt x="146" y="40"/>
                  <a:pt x="146" y="40"/>
                </a:cubicBezTo>
                <a:cubicBezTo>
                  <a:pt x="148" y="32"/>
                  <a:pt x="149" y="24"/>
                  <a:pt x="150" y="16"/>
                </a:cubicBezTo>
                <a:cubicBezTo>
                  <a:pt x="171" y="16"/>
                  <a:pt x="171" y="16"/>
                  <a:pt x="171" y="16"/>
                </a:cubicBezTo>
                <a:lnTo>
                  <a:pt x="171" y="75"/>
                </a:lnTo>
                <a:close/>
                <a:moveTo>
                  <a:pt x="113" y="79"/>
                </a:moveTo>
                <a:cubicBezTo>
                  <a:pt x="122" y="79"/>
                  <a:pt x="130" y="72"/>
                  <a:pt x="130" y="63"/>
                </a:cubicBezTo>
                <a:cubicBezTo>
                  <a:pt x="130" y="53"/>
                  <a:pt x="122" y="46"/>
                  <a:pt x="113" y="46"/>
                </a:cubicBezTo>
                <a:cubicBezTo>
                  <a:pt x="104" y="46"/>
                  <a:pt x="96" y="53"/>
                  <a:pt x="96" y="63"/>
                </a:cubicBezTo>
                <a:cubicBezTo>
                  <a:pt x="96" y="72"/>
                  <a:pt x="104" y="79"/>
                  <a:pt x="113" y="79"/>
                </a:cubicBezTo>
                <a:close/>
                <a:moveTo>
                  <a:pt x="113" y="50"/>
                </a:moveTo>
                <a:cubicBezTo>
                  <a:pt x="120" y="50"/>
                  <a:pt x="126" y="56"/>
                  <a:pt x="126" y="63"/>
                </a:cubicBezTo>
                <a:cubicBezTo>
                  <a:pt x="126" y="70"/>
                  <a:pt x="120" y="75"/>
                  <a:pt x="113" y="75"/>
                </a:cubicBezTo>
                <a:cubicBezTo>
                  <a:pt x="106" y="75"/>
                  <a:pt x="100" y="70"/>
                  <a:pt x="100" y="63"/>
                </a:cubicBezTo>
                <a:cubicBezTo>
                  <a:pt x="100" y="56"/>
                  <a:pt x="106" y="50"/>
                  <a:pt x="113" y="50"/>
                </a:cubicBezTo>
                <a:close/>
                <a:moveTo>
                  <a:pt x="113" y="73"/>
                </a:moveTo>
                <a:cubicBezTo>
                  <a:pt x="119" y="73"/>
                  <a:pt x="123" y="68"/>
                  <a:pt x="123" y="63"/>
                </a:cubicBezTo>
                <a:cubicBezTo>
                  <a:pt x="123" y="57"/>
                  <a:pt x="119" y="52"/>
                  <a:pt x="113" y="52"/>
                </a:cubicBezTo>
                <a:cubicBezTo>
                  <a:pt x="107" y="52"/>
                  <a:pt x="103" y="57"/>
                  <a:pt x="103" y="63"/>
                </a:cubicBezTo>
                <a:cubicBezTo>
                  <a:pt x="103" y="68"/>
                  <a:pt x="107" y="73"/>
                  <a:pt x="113" y="73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200" b="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041921" y="3693970"/>
            <a:ext cx="768096" cy="770312"/>
          </a:xfrm>
          <a:prstGeom prst="ellipse">
            <a:avLst/>
          </a:prstGeom>
          <a:gradFill flip="none" rotWithShape="1">
            <a:gsLst>
              <a:gs pos="0">
                <a:srgbClr val="237DC8"/>
              </a:gs>
              <a:gs pos="100000">
                <a:srgbClr val="2FA9DB"/>
              </a:gs>
            </a:gsLst>
            <a:lin ang="16200000" scaled="1"/>
            <a:tileRect/>
          </a:gradFill>
          <a:ln w="41275">
            <a:solidFill>
              <a:srgbClr val="237D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0" name="Freeform 20"/>
          <p:cNvSpPr>
            <a:spLocks noEditPoints="1"/>
          </p:cNvSpPr>
          <p:nvPr/>
        </p:nvSpPr>
        <p:spPr bwMode="auto">
          <a:xfrm>
            <a:off x="6143684" y="3882749"/>
            <a:ext cx="564570" cy="472028"/>
          </a:xfrm>
          <a:custGeom>
            <a:avLst/>
            <a:gdLst/>
            <a:ahLst/>
            <a:cxnLst>
              <a:cxn ang="0">
                <a:pos x="93" y="0"/>
              </a:cxn>
              <a:cxn ang="0">
                <a:pos x="0" y="38"/>
              </a:cxn>
              <a:cxn ang="0">
                <a:pos x="7" y="46"/>
              </a:cxn>
              <a:cxn ang="0">
                <a:pos x="93" y="10"/>
              </a:cxn>
              <a:cxn ang="0">
                <a:pos x="179" y="46"/>
              </a:cxn>
              <a:cxn ang="0">
                <a:pos x="187" y="38"/>
              </a:cxn>
              <a:cxn ang="0">
                <a:pos x="93" y="0"/>
              </a:cxn>
              <a:cxn ang="0">
                <a:pos x="18" y="57"/>
              </a:cxn>
              <a:cxn ang="0">
                <a:pos x="26" y="64"/>
              </a:cxn>
              <a:cxn ang="0">
                <a:pos x="93" y="36"/>
              </a:cxn>
              <a:cxn ang="0">
                <a:pos x="161" y="64"/>
              </a:cxn>
              <a:cxn ang="0">
                <a:pos x="169" y="57"/>
              </a:cxn>
              <a:cxn ang="0">
                <a:pos x="93" y="25"/>
              </a:cxn>
              <a:cxn ang="0">
                <a:pos x="18" y="57"/>
              </a:cxn>
              <a:cxn ang="0">
                <a:pos x="56" y="95"/>
              </a:cxn>
              <a:cxn ang="0">
                <a:pos x="64" y="102"/>
              </a:cxn>
              <a:cxn ang="0">
                <a:pos x="93" y="90"/>
              </a:cxn>
              <a:cxn ang="0">
                <a:pos x="123" y="102"/>
              </a:cxn>
              <a:cxn ang="0">
                <a:pos x="131" y="95"/>
              </a:cxn>
              <a:cxn ang="0">
                <a:pos x="93" y="79"/>
              </a:cxn>
              <a:cxn ang="0">
                <a:pos x="56" y="95"/>
              </a:cxn>
              <a:cxn ang="0">
                <a:pos x="36" y="75"/>
              </a:cxn>
              <a:cxn ang="0">
                <a:pos x="44" y="82"/>
              </a:cxn>
              <a:cxn ang="0">
                <a:pos x="93" y="62"/>
              </a:cxn>
              <a:cxn ang="0">
                <a:pos x="143" y="82"/>
              </a:cxn>
              <a:cxn ang="0">
                <a:pos x="150" y="75"/>
              </a:cxn>
              <a:cxn ang="0">
                <a:pos x="93" y="51"/>
              </a:cxn>
              <a:cxn ang="0">
                <a:pos x="36" y="75"/>
              </a:cxn>
              <a:cxn ang="0">
                <a:pos x="93" y="110"/>
              </a:cxn>
              <a:cxn ang="0">
                <a:pos x="78" y="117"/>
              </a:cxn>
              <a:cxn ang="0">
                <a:pos x="72" y="132"/>
              </a:cxn>
              <a:cxn ang="0">
                <a:pos x="93" y="154"/>
              </a:cxn>
              <a:cxn ang="0">
                <a:pos x="115" y="132"/>
              </a:cxn>
              <a:cxn ang="0">
                <a:pos x="109" y="117"/>
              </a:cxn>
              <a:cxn ang="0">
                <a:pos x="93" y="110"/>
              </a:cxn>
            </a:cxnLst>
            <a:rect l="0" t="0" r="r" b="b"/>
            <a:pathLst>
              <a:path w="187" h="154">
                <a:moveTo>
                  <a:pt x="93" y="0"/>
                </a:moveTo>
                <a:cubicBezTo>
                  <a:pt x="58" y="0"/>
                  <a:pt x="25" y="13"/>
                  <a:pt x="0" y="38"/>
                </a:cubicBezTo>
                <a:cubicBezTo>
                  <a:pt x="7" y="46"/>
                  <a:pt x="7" y="46"/>
                  <a:pt x="7" y="46"/>
                </a:cubicBezTo>
                <a:cubicBezTo>
                  <a:pt x="30" y="23"/>
                  <a:pt x="61" y="10"/>
                  <a:pt x="93" y="10"/>
                </a:cubicBezTo>
                <a:cubicBezTo>
                  <a:pt x="126" y="10"/>
                  <a:pt x="156" y="23"/>
                  <a:pt x="179" y="46"/>
                </a:cubicBezTo>
                <a:cubicBezTo>
                  <a:pt x="187" y="38"/>
                  <a:pt x="187" y="38"/>
                  <a:pt x="187" y="38"/>
                </a:cubicBezTo>
                <a:cubicBezTo>
                  <a:pt x="162" y="13"/>
                  <a:pt x="129" y="0"/>
                  <a:pt x="93" y="0"/>
                </a:cubicBezTo>
                <a:close/>
                <a:moveTo>
                  <a:pt x="18" y="57"/>
                </a:moveTo>
                <a:cubicBezTo>
                  <a:pt x="26" y="64"/>
                  <a:pt x="26" y="64"/>
                  <a:pt x="26" y="64"/>
                </a:cubicBezTo>
                <a:cubicBezTo>
                  <a:pt x="44" y="46"/>
                  <a:pt x="68" y="36"/>
                  <a:pt x="93" y="36"/>
                </a:cubicBezTo>
                <a:cubicBezTo>
                  <a:pt x="119" y="36"/>
                  <a:pt x="143" y="46"/>
                  <a:pt x="161" y="64"/>
                </a:cubicBezTo>
                <a:cubicBezTo>
                  <a:pt x="169" y="57"/>
                  <a:pt x="169" y="57"/>
                  <a:pt x="169" y="57"/>
                </a:cubicBezTo>
                <a:cubicBezTo>
                  <a:pt x="148" y="36"/>
                  <a:pt x="122" y="25"/>
                  <a:pt x="93" y="25"/>
                </a:cubicBezTo>
                <a:cubicBezTo>
                  <a:pt x="65" y="25"/>
                  <a:pt x="38" y="36"/>
                  <a:pt x="18" y="57"/>
                </a:cubicBezTo>
                <a:close/>
                <a:moveTo>
                  <a:pt x="56" y="95"/>
                </a:moveTo>
                <a:cubicBezTo>
                  <a:pt x="64" y="102"/>
                  <a:pt x="64" y="102"/>
                  <a:pt x="64" y="102"/>
                </a:cubicBezTo>
                <a:cubicBezTo>
                  <a:pt x="72" y="94"/>
                  <a:pt x="82" y="90"/>
                  <a:pt x="93" y="90"/>
                </a:cubicBezTo>
                <a:cubicBezTo>
                  <a:pt x="104" y="90"/>
                  <a:pt x="115" y="94"/>
                  <a:pt x="123" y="102"/>
                </a:cubicBezTo>
                <a:cubicBezTo>
                  <a:pt x="131" y="95"/>
                  <a:pt x="131" y="95"/>
                  <a:pt x="131" y="95"/>
                </a:cubicBezTo>
                <a:cubicBezTo>
                  <a:pt x="121" y="85"/>
                  <a:pt x="107" y="79"/>
                  <a:pt x="93" y="79"/>
                </a:cubicBezTo>
                <a:cubicBezTo>
                  <a:pt x="79" y="79"/>
                  <a:pt x="66" y="85"/>
                  <a:pt x="56" y="95"/>
                </a:cubicBezTo>
                <a:close/>
                <a:moveTo>
                  <a:pt x="36" y="75"/>
                </a:moveTo>
                <a:cubicBezTo>
                  <a:pt x="44" y="82"/>
                  <a:pt x="44" y="82"/>
                  <a:pt x="44" y="82"/>
                </a:cubicBezTo>
                <a:cubicBezTo>
                  <a:pt x="57" y="69"/>
                  <a:pt x="75" y="62"/>
                  <a:pt x="93" y="62"/>
                </a:cubicBezTo>
                <a:cubicBezTo>
                  <a:pt x="112" y="62"/>
                  <a:pt x="130" y="69"/>
                  <a:pt x="143" y="82"/>
                </a:cubicBezTo>
                <a:cubicBezTo>
                  <a:pt x="150" y="75"/>
                  <a:pt x="150" y="75"/>
                  <a:pt x="150" y="75"/>
                </a:cubicBezTo>
                <a:cubicBezTo>
                  <a:pt x="135" y="60"/>
                  <a:pt x="115" y="51"/>
                  <a:pt x="93" y="51"/>
                </a:cubicBezTo>
                <a:cubicBezTo>
                  <a:pt x="72" y="51"/>
                  <a:pt x="51" y="60"/>
                  <a:pt x="36" y="75"/>
                </a:cubicBezTo>
                <a:close/>
                <a:moveTo>
                  <a:pt x="93" y="110"/>
                </a:moveTo>
                <a:cubicBezTo>
                  <a:pt x="87" y="110"/>
                  <a:pt x="82" y="113"/>
                  <a:pt x="78" y="117"/>
                </a:cubicBezTo>
                <a:cubicBezTo>
                  <a:pt x="74" y="121"/>
                  <a:pt x="72" y="126"/>
                  <a:pt x="72" y="132"/>
                </a:cubicBezTo>
                <a:cubicBezTo>
                  <a:pt x="72" y="144"/>
                  <a:pt x="81" y="154"/>
                  <a:pt x="93" y="154"/>
                </a:cubicBezTo>
                <a:cubicBezTo>
                  <a:pt x="105" y="154"/>
                  <a:pt x="115" y="144"/>
                  <a:pt x="115" y="132"/>
                </a:cubicBezTo>
                <a:cubicBezTo>
                  <a:pt x="115" y="126"/>
                  <a:pt x="112" y="121"/>
                  <a:pt x="109" y="117"/>
                </a:cubicBezTo>
                <a:cubicBezTo>
                  <a:pt x="105" y="113"/>
                  <a:pt x="99" y="110"/>
                  <a:pt x="93" y="110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400" b="1" dirty="0">
              <a:solidFill>
                <a:prstClr val="black">
                  <a:lumMod val="75000"/>
                  <a:lumOff val="25000"/>
                </a:prstClr>
              </a:solidFill>
              <a:latin typeface="Arial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4078709" y="2478308"/>
            <a:ext cx="768096" cy="770312"/>
          </a:xfrm>
          <a:prstGeom prst="ellipse">
            <a:avLst/>
          </a:prstGeom>
          <a:gradFill flip="none" rotWithShape="1">
            <a:gsLst>
              <a:gs pos="0">
                <a:srgbClr val="237DC8"/>
              </a:gs>
              <a:gs pos="100000">
                <a:srgbClr val="2FA9DB"/>
              </a:gs>
            </a:gsLst>
            <a:lin ang="16200000" scaled="1"/>
            <a:tileRect/>
          </a:gradFill>
          <a:ln w="41275">
            <a:solidFill>
              <a:srgbClr val="237D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42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21261" y="2643239"/>
            <a:ext cx="482994" cy="474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pic>
      <p:sp>
        <p:nvSpPr>
          <p:cNvPr id="43" name="Oval 42"/>
          <p:cNvSpPr/>
          <p:nvPr/>
        </p:nvSpPr>
        <p:spPr>
          <a:xfrm>
            <a:off x="3424935" y="3697286"/>
            <a:ext cx="768096" cy="770312"/>
          </a:xfrm>
          <a:prstGeom prst="ellipse">
            <a:avLst/>
          </a:prstGeom>
          <a:gradFill flip="none" rotWithShape="1">
            <a:gsLst>
              <a:gs pos="0">
                <a:srgbClr val="237DC8"/>
              </a:gs>
              <a:gs pos="100000">
                <a:srgbClr val="2FA9DB"/>
              </a:gs>
            </a:gsLst>
            <a:lin ang="16200000" scaled="1"/>
            <a:tileRect/>
          </a:gradFill>
          <a:ln w="41275">
            <a:solidFill>
              <a:srgbClr val="237D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44" name="Group 128"/>
          <p:cNvGrpSpPr/>
          <p:nvPr/>
        </p:nvGrpSpPr>
        <p:grpSpPr>
          <a:xfrm>
            <a:off x="3570720" y="3823145"/>
            <a:ext cx="476528" cy="515348"/>
            <a:chOff x="6494728" y="3219451"/>
            <a:chExt cx="435078" cy="470520"/>
          </a:xfrm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grpSpPr>
        <p:sp>
          <p:nvSpPr>
            <p:cNvPr id="45" name="Freeform 7"/>
            <p:cNvSpPr>
              <a:spLocks/>
            </p:cNvSpPr>
            <p:nvPr/>
          </p:nvSpPr>
          <p:spPr bwMode="auto">
            <a:xfrm>
              <a:off x="6522837" y="3416214"/>
              <a:ext cx="381304" cy="273757"/>
            </a:xfrm>
            <a:custGeom>
              <a:avLst/>
              <a:gdLst/>
              <a:ahLst/>
              <a:cxnLst>
                <a:cxn ang="0">
                  <a:pos x="0" y="224"/>
                </a:cxn>
                <a:cxn ang="0">
                  <a:pos x="312" y="224"/>
                </a:cxn>
                <a:cxn ang="0">
                  <a:pos x="312" y="0"/>
                </a:cxn>
                <a:cxn ang="0">
                  <a:pos x="0" y="0"/>
                </a:cxn>
                <a:cxn ang="0">
                  <a:pos x="0" y="224"/>
                </a:cxn>
                <a:cxn ang="0">
                  <a:pos x="0" y="224"/>
                </a:cxn>
              </a:cxnLst>
              <a:rect l="0" t="0" r="r" b="b"/>
              <a:pathLst>
                <a:path w="312" h="224">
                  <a:moveTo>
                    <a:pt x="0" y="224"/>
                  </a:moveTo>
                  <a:lnTo>
                    <a:pt x="312" y="224"/>
                  </a:lnTo>
                  <a:lnTo>
                    <a:pt x="312" y="0"/>
                  </a:lnTo>
                  <a:lnTo>
                    <a:pt x="0" y="0"/>
                  </a:lnTo>
                  <a:lnTo>
                    <a:pt x="0" y="224"/>
                  </a:lnTo>
                  <a:lnTo>
                    <a:pt x="0" y="22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</a:endParaRPr>
            </a:p>
          </p:txBody>
        </p:sp>
        <p:sp>
          <p:nvSpPr>
            <p:cNvPr id="46" name="Freeform 8"/>
            <p:cNvSpPr>
              <a:spLocks/>
            </p:cNvSpPr>
            <p:nvPr/>
          </p:nvSpPr>
          <p:spPr bwMode="auto">
            <a:xfrm>
              <a:off x="6494728" y="3363662"/>
              <a:ext cx="435078" cy="40331"/>
            </a:xfrm>
            <a:custGeom>
              <a:avLst/>
              <a:gdLst/>
              <a:ahLst/>
              <a:cxnLst>
                <a:cxn ang="0">
                  <a:pos x="340" y="0"/>
                </a:cxn>
                <a:cxn ang="0">
                  <a:pos x="18" y="0"/>
                </a:cxn>
                <a:cxn ang="0">
                  <a:pos x="0" y="33"/>
                </a:cxn>
                <a:cxn ang="0">
                  <a:pos x="23" y="33"/>
                </a:cxn>
                <a:cxn ang="0">
                  <a:pos x="335" y="33"/>
                </a:cxn>
                <a:cxn ang="0">
                  <a:pos x="356" y="33"/>
                </a:cxn>
                <a:cxn ang="0">
                  <a:pos x="340" y="0"/>
                </a:cxn>
                <a:cxn ang="0">
                  <a:pos x="340" y="0"/>
                </a:cxn>
              </a:cxnLst>
              <a:rect l="0" t="0" r="r" b="b"/>
              <a:pathLst>
                <a:path w="356" h="33">
                  <a:moveTo>
                    <a:pt x="340" y="0"/>
                  </a:moveTo>
                  <a:lnTo>
                    <a:pt x="18" y="0"/>
                  </a:lnTo>
                  <a:lnTo>
                    <a:pt x="0" y="33"/>
                  </a:lnTo>
                  <a:lnTo>
                    <a:pt x="23" y="33"/>
                  </a:lnTo>
                  <a:lnTo>
                    <a:pt x="335" y="33"/>
                  </a:lnTo>
                  <a:lnTo>
                    <a:pt x="356" y="33"/>
                  </a:lnTo>
                  <a:lnTo>
                    <a:pt x="340" y="0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</a:endParaRPr>
            </a:p>
          </p:txBody>
        </p:sp>
        <p:sp>
          <p:nvSpPr>
            <p:cNvPr id="47" name="Freeform 9"/>
            <p:cNvSpPr>
              <a:spLocks/>
            </p:cNvSpPr>
            <p:nvPr/>
          </p:nvSpPr>
          <p:spPr bwMode="auto">
            <a:xfrm>
              <a:off x="6526503" y="3283002"/>
              <a:ext cx="57440" cy="3422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2"/>
                </a:cxn>
                <a:cxn ang="0">
                  <a:pos x="15" y="12"/>
                </a:cxn>
                <a:cxn ang="0">
                  <a:pos x="20" y="0"/>
                </a:cxn>
                <a:cxn ang="0">
                  <a:pos x="0" y="0"/>
                </a:cxn>
              </a:cxnLst>
              <a:rect l="0" t="0" r="r" b="b"/>
              <a:pathLst>
                <a:path w="20" h="12">
                  <a:moveTo>
                    <a:pt x="0" y="0"/>
                  </a:moveTo>
                  <a:cubicBezTo>
                    <a:pt x="2" y="10"/>
                    <a:pt x="3" y="12"/>
                    <a:pt x="3" y="12"/>
                  </a:cubicBezTo>
                  <a:cubicBezTo>
                    <a:pt x="14" y="12"/>
                    <a:pt x="15" y="12"/>
                    <a:pt x="15" y="12"/>
                  </a:cubicBezTo>
                  <a:cubicBezTo>
                    <a:pt x="17" y="4"/>
                    <a:pt x="19" y="2"/>
                    <a:pt x="2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</a:endParaRPr>
            </a:p>
          </p:txBody>
        </p:sp>
        <p:sp>
          <p:nvSpPr>
            <p:cNvPr id="48" name="Freeform 10"/>
            <p:cNvSpPr>
              <a:spLocks/>
            </p:cNvSpPr>
            <p:nvPr/>
          </p:nvSpPr>
          <p:spPr bwMode="auto">
            <a:xfrm>
              <a:off x="6518011" y="3323332"/>
              <a:ext cx="48885" cy="3177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2" y="0"/>
                </a:cxn>
                <a:cxn ang="0">
                  <a:pos x="0" y="26"/>
                </a:cxn>
                <a:cxn ang="0">
                  <a:pos x="35" y="26"/>
                </a:cxn>
                <a:cxn ang="0">
                  <a:pos x="40" y="0"/>
                </a:cxn>
              </a:cxnLst>
              <a:rect l="0" t="0" r="r" b="b"/>
              <a:pathLst>
                <a:path w="40" h="26">
                  <a:moveTo>
                    <a:pt x="40" y="0"/>
                  </a:moveTo>
                  <a:lnTo>
                    <a:pt x="12" y="0"/>
                  </a:lnTo>
                  <a:lnTo>
                    <a:pt x="0" y="26"/>
                  </a:lnTo>
                  <a:lnTo>
                    <a:pt x="35" y="26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</a:endParaRPr>
            </a:p>
          </p:txBody>
        </p:sp>
        <p:sp>
          <p:nvSpPr>
            <p:cNvPr id="49" name="Line 11"/>
            <p:cNvSpPr>
              <a:spLocks noChangeShapeType="1"/>
            </p:cNvSpPr>
            <p:nvPr/>
          </p:nvSpPr>
          <p:spPr bwMode="auto">
            <a:xfrm>
              <a:off x="6569277" y="3357552"/>
              <a:ext cx="1223" cy="1223"/>
            </a:xfrm>
            <a:prstGeom prst="line">
              <a:avLst/>
            </a:prstGeom>
            <a:noFill/>
            <a:ln w="9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</a:endParaRPr>
            </a:p>
          </p:txBody>
        </p:sp>
        <p:sp>
          <p:nvSpPr>
            <p:cNvPr id="50" name="Freeform 12"/>
            <p:cNvSpPr>
              <a:spLocks/>
            </p:cNvSpPr>
            <p:nvPr/>
          </p:nvSpPr>
          <p:spPr bwMode="auto">
            <a:xfrm>
              <a:off x="6730599" y="3236561"/>
              <a:ext cx="92882" cy="101437"/>
            </a:xfrm>
            <a:custGeom>
              <a:avLst/>
              <a:gdLst/>
              <a:ahLst/>
              <a:cxnLst>
                <a:cxn ang="0">
                  <a:pos x="0" y="78"/>
                </a:cxn>
                <a:cxn ang="0">
                  <a:pos x="40" y="0"/>
                </a:cxn>
                <a:cxn ang="0">
                  <a:pos x="76" y="31"/>
                </a:cxn>
                <a:cxn ang="0">
                  <a:pos x="5" y="83"/>
                </a:cxn>
                <a:cxn ang="0">
                  <a:pos x="0" y="78"/>
                </a:cxn>
                <a:cxn ang="0">
                  <a:pos x="0" y="78"/>
                </a:cxn>
              </a:cxnLst>
              <a:rect l="0" t="0" r="r" b="b"/>
              <a:pathLst>
                <a:path w="76" h="83">
                  <a:moveTo>
                    <a:pt x="0" y="78"/>
                  </a:moveTo>
                  <a:lnTo>
                    <a:pt x="40" y="0"/>
                  </a:lnTo>
                  <a:lnTo>
                    <a:pt x="76" y="31"/>
                  </a:lnTo>
                  <a:lnTo>
                    <a:pt x="5" y="83"/>
                  </a:lnTo>
                  <a:lnTo>
                    <a:pt x="0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</a:endParaRPr>
            </a:p>
          </p:txBody>
        </p:sp>
        <p:sp>
          <p:nvSpPr>
            <p:cNvPr id="51" name="Freeform 13"/>
            <p:cNvSpPr>
              <a:spLocks/>
            </p:cNvSpPr>
            <p:nvPr/>
          </p:nvSpPr>
          <p:spPr bwMode="auto">
            <a:xfrm>
              <a:off x="6575389" y="3219451"/>
              <a:ext cx="276201" cy="135657"/>
            </a:xfrm>
            <a:custGeom>
              <a:avLst/>
              <a:gdLst/>
              <a:ahLst/>
              <a:cxnLst>
                <a:cxn ang="0">
                  <a:pos x="0" y="47"/>
                </a:cxn>
                <a:cxn ang="0">
                  <a:pos x="48" y="0"/>
                </a:cxn>
                <a:cxn ang="0">
                  <a:pos x="96" y="47"/>
                </a:cxn>
              </a:cxnLst>
              <a:rect l="0" t="0" r="r" b="b"/>
              <a:pathLst>
                <a:path w="96" h="47">
                  <a:moveTo>
                    <a:pt x="0" y="47"/>
                  </a:moveTo>
                  <a:cubicBezTo>
                    <a:pt x="0" y="21"/>
                    <a:pt x="22" y="0"/>
                    <a:pt x="48" y="0"/>
                  </a:cubicBezTo>
                  <a:cubicBezTo>
                    <a:pt x="74" y="0"/>
                    <a:pt x="96" y="21"/>
                    <a:pt x="96" y="47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</a:endParaRPr>
            </a:p>
          </p:txBody>
        </p:sp>
        <p:sp>
          <p:nvSpPr>
            <p:cNvPr id="52" name="Freeform 14"/>
            <p:cNvSpPr>
              <a:spLocks/>
            </p:cNvSpPr>
            <p:nvPr/>
          </p:nvSpPr>
          <p:spPr bwMode="auto">
            <a:xfrm>
              <a:off x="6840653" y="3280557"/>
              <a:ext cx="57440" cy="34220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17" y="12"/>
                </a:cxn>
                <a:cxn ang="0">
                  <a:pos x="5" y="12"/>
                </a:cxn>
                <a:cxn ang="0">
                  <a:pos x="0" y="0"/>
                </a:cxn>
                <a:cxn ang="0">
                  <a:pos x="20" y="0"/>
                </a:cxn>
              </a:cxnLst>
              <a:rect l="0" t="0" r="r" b="b"/>
              <a:pathLst>
                <a:path w="20" h="12">
                  <a:moveTo>
                    <a:pt x="20" y="0"/>
                  </a:moveTo>
                  <a:cubicBezTo>
                    <a:pt x="18" y="10"/>
                    <a:pt x="17" y="12"/>
                    <a:pt x="17" y="12"/>
                  </a:cubicBezTo>
                  <a:cubicBezTo>
                    <a:pt x="6" y="12"/>
                    <a:pt x="5" y="12"/>
                    <a:pt x="5" y="12"/>
                  </a:cubicBezTo>
                  <a:cubicBezTo>
                    <a:pt x="3" y="4"/>
                    <a:pt x="1" y="2"/>
                    <a:pt x="0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</a:endParaRPr>
            </a:p>
          </p:txBody>
        </p:sp>
        <p:sp>
          <p:nvSpPr>
            <p:cNvPr id="53" name="Freeform 15"/>
            <p:cNvSpPr>
              <a:spLocks/>
            </p:cNvSpPr>
            <p:nvPr/>
          </p:nvSpPr>
          <p:spPr bwMode="auto">
            <a:xfrm>
              <a:off x="6857700" y="3323332"/>
              <a:ext cx="48885" cy="317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" y="0"/>
                </a:cxn>
                <a:cxn ang="0">
                  <a:pos x="40" y="26"/>
                </a:cxn>
                <a:cxn ang="0">
                  <a:pos x="5" y="26"/>
                </a:cxn>
                <a:cxn ang="0">
                  <a:pos x="0" y="0"/>
                </a:cxn>
              </a:cxnLst>
              <a:rect l="0" t="0" r="r" b="b"/>
              <a:pathLst>
                <a:path w="40" h="26">
                  <a:moveTo>
                    <a:pt x="0" y="0"/>
                  </a:moveTo>
                  <a:lnTo>
                    <a:pt x="28" y="0"/>
                  </a:lnTo>
                  <a:lnTo>
                    <a:pt x="40" y="26"/>
                  </a:lnTo>
                  <a:lnTo>
                    <a:pt x="5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</a:endParaRPr>
            </a:p>
          </p:txBody>
        </p:sp>
        <p:sp>
          <p:nvSpPr>
            <p:cNvPr id="54" name="Freeform 16"/>
            <p:cNvSpPr>
              <a:spLocks/>
            </p:cNvSpPr>
            <p:nvPr/>
          </p:nvSpPr>
          <p:spPr bwMode="auto">
            <a:xfrm>
              <a:off x="6684158" y="3323332"/>
              <a:ext cx="58662" cy="31775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10" y="0"/>
                </a:cxn>
                <a:cxn ang="0">
                  <a:pos x="20" y="11"/>
                </a:cxn>
              </a:cxnLst>
              <a:rect l="0" t="0" r="r" b="b"/>
              <a:pathLst>
                <a:path w="20" h="11">
                  <a:moveTo>
                    <a:pt x="0" y="11"/>
                  </a:moveTo>
                  <a:cubicBezTo>
                    <a:pt x="0" y="5"/>
                    <a:pt x="4" y="0"/>
                    <a:pt x="10" y="0"/>
                  </a:cubicBezTo>
                  <a:cubicBezTo>
                    <a:pt x="16" y="0"/>
                    <a:pt x="20" y="5"/>
                    <a:pt x="20" y="11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</a:endParaRPr>
            </a:p>
          </p:txBody>
        </p:sp>
      </p:grpSp>
      <p:sp>
        <p:nvSpPr>
          <p:cNvPr id="55" name="Oval 54"/>
          <p:cNvSpPr/>
          <p:nvPr/>
        </p:nvSpPr>
        <p:spPr>
          <a:xfrm flipV="1">
            <a:off x="3473698" y="1131590"/>
            <a:ext cx="768096" cy="770312"/>
          </a:xfrm>
          <a:prstGeom prst="ellipse">
            <a:avLst/>
          </a:prstGeom>
          <a:gradFill flip="none" rotWithShape="1">
            <a:gsLst>
              <a:gs pos="0">
                <a:srgbClr val="237DC8"/>
              </a:gs>
              <a:gs pos="100000">
                <a:srgbClr val="2FA9DB"/>
              </a:gs>
            </a:gsLst>
            <a:lin ang="5400000" scaled="0"/>
            <a:tileRect/>
          </a:gradFill>
          <a:ln w="41275">
            <a:solidFill>
              <a:srgbClr val="237D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56" name="Group 18"/>
          <p:cNvGrpSpPr/>
          <p:nvPr/>
        </p:nvGrpSpPr>
        <p:grpSpPr>
          <a:xfrm>
            <a:off x="3660909" y="1311200"/>
            <a:ext cx="457174" cy="449192"/>
            <a:chOff x="-1923361" y="2169906"/>
            <a:chExt cx="514879" cy="509553"/>
          </a:xfrm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grpSpPr>
        <p:sp>
          <p:nvSpPr>
            <p:cNvPr id="57" name="Freeform 13"/>
            <p:cNvSpPr>
              <a:spLocks noEditPoints="1"/>
            </p:cNvSpPr>
            <p:nvPr/>
          </p:nvSpPr>
          <p:spPr bwMode="auto">
            <a:xfrm>
              <a:off x="-1647825" y="2307674"/>
              <a:ext cx="239343" cy="240510"/>
            </a:xfrm>
            <a:custGeom>
              <a:avLst/>
              <a:gdLst/>
              <a:ahLst/>
              <a:cxnLst>
                <a:cxn ang="0">
                  <a:pos x="79" y="0"/>
                </a:cxn>
                <a:cxn ang="0">
                  <a:pos x="8" y="0"/>
                </a:cxn>
                <a:cxn ang="0">
                  <a:pos x="0" y="8"/>
                </a:cxn>
                <a:cxn ang="0">
                  <a:pos x="0" y="79"/>
                </a:cxn>
                <a:cxn ang="0">
                  <a:pos x="8" y="87"/>
                </a:cxn>
                <a:cxn ang="0">
                  <a:pos x="79" y="87"/>
                </a:cxn>
                <a:cxn ang="0">
                  <a:pos x="87" y="79"/>
                </a:cxn>
                <a:cxn ang="0">
                  <a:pos x="87" y="8"/>
                </a:cxn>
                <a:cxn ang="0">
                  <a:pos x="79" y="0"/>
                </a:cxn>
                <a:cxn ang="0">
                  <a:pos x="22" y="72"/>
                </a:cxn>
                <a:cxn ang="0">
                  <a:pos x="13" y="64"/>
                </a:cxn>
                <a:cxn ang="0">
                  <a:pos x="22" y="55"/>
                </a:cxn>
                <a:cxn ang="0">
                  <a:pos x="30" y="64"/>
                </a:cxn>
                <a:cxn ang="0">
                  <a:pos x="22" y="72"/>
                </a:cxn>
                <a:cxn ang="0">
                  <a:pos x="44" y="73"/>
                </a:cxn>
                <a:cxn ang="0">
                  <a:pos x="13" y="43"/>
                </a:cxn>
                <a:cxn ang="0">
                  <a:pos x="14" y="32"/>
                </a:cxn>
                <a:cxn ang="0">
                  <a:pos x="56" y="72"/>
                </a:cxn>
                <a:cxn ang="0">
                  <a:pos x="44" y="73"/>
                </a:cxn>
                <a:cxn ang="0">
                  <a:pos x="63" y="73"/>
                </a:cxn>
                <a:cxn ang="0">
                  <a:pos x="13" y="25"/>
                </a:cxn>
                <a:cxn ang="0">
                  <a:pos x="14" y="13"/>
                </a:cxn>
                <a:cxn ang="0">
                  <a:pos x="74" y="73"/>
                </a:cxn>
                <a:cxn ang="0">
                  <a:pos x="63" y="73"/>
                </a:cxn>
              </a:cxnLst>
              <a:rect l="0" t="0" r="r" b="b"/>
              <a:pathLst>
                <a:path w="87" h="87">
                  <a:moveTo>
                    <a:pt x="79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3"/>
                    <a:pt x="4" y="87"/>
                    <a:pt x="8" y="87"/>
                  </a:cubicBezTo>
                  <a:cubicBezTo>
                    <a:pt x="79" y="87"/>
                    <a:pt x="79" y="87"/>
                    <a:pt x="79" y="87"/>
                  </a:cubicBezTo>
                  <a:cubicBezTo>
                    <a:pt x="84" y="87"/>
                    <a:pt x="87" y="83"/>
                    <a:pt x="87" y="79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3"/>
                    <a:pt x="84" y="0"/>
                    <a:pt x="79" y="0"/>
                  </a:cubicBezTo>
                  <a:close/>
                  <a:moveTo>
                    <a:pt x="22" y="72"/>
                  </a:moveTo>
                  <a:cubicBezTo>
                    <a:pt x="17" y="72"/>
                    <a:pt x="13" y="68"/>
                    <a:pt x="13" y="64"/>
                  </a:cubicBezTo>
                  <a:cubicBezTo>
                    <a:pt x="13" y="59"/>
                    <a:pt x="17" y="55"/>
                    <a:pt x="22" y="55"/>
                  </a:cubicBezTo>
                  <a:cubicBezTo>
                    <a:pt x="26" y="55"/>
                    <a:pt x="30" y="59"/>
                    <a:pt x="30" y="64"/>
                  </a:cubicBezTo>
                  <a:cubicBezTo>
                    <a:pt x="30" y="68"/>
                    <a:pt x="26" y="72"/>
                    <a:pt x="22" y="72"/>
                  </a:cubicBezTo>
                  <a:close/>
                  <a:moveTo>
                    <a:pt x="44" y="73"/>
                  </a:moveTo>
                  <a:cubicBezTo>
                    <a:pt x="43" y="57"/>
                    <a:pt x="30" y="44"/>
                    <a:pt x="13" y="43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36" y="33"/>
                    <a:pt x="54" y="50"/>
                    <a:pt x="56" y="72"/>
                  </a:cubicBezTo>
                  <a:lnTo>
                    <a:pt x="44" y="73"/>
                  </a:lnTo>
                  <a:close/>
                  <a:moveTo>
                    <a:pt x="63" y="73"/>
                  </a:moveTo>
                  <a:cubicBezTo>
                    <a:pt x="61" y="47"/>
                    <a:pt x="40" y="25"/>
                    <a:pt x="13" y="25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46" y="14"/>
                    <a:pt x="73" y="40"/>
                    <a:pt x="74" y="73"/>
                  </a:cubicBezTo>
                  <a:lnTo>
                    <a:pt x="63" y="7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58" name="Freeform 14"/>
            <p:cNvSpPr>
              <a:spLocks noEditPoints="1"/>
            </p:cNvSpPr>
            <p:nvPr/>
          </p:nvSpPr>
          <p:spPr bwMode="auto">
            <a:xfrm>
              <a:off x="-1923361" y="2169906"/>
              <a:ext cx="239343" cy="240510"/>
            </a:xfrm>
            <a:custGeom>
              <a:avLst/>
              <a:gdLst/>
              <a:ahLst/>
              <a:cxnLst>
                <a:cxn ang="0">
                  <a:pos x="79" y="0"/>
                </a:cxn>
                <a:cxn ang="0">
                  <a:pos x="8" y="0"/>
                </a:cxn>
                <a:cxn ang="0">
                  <a:pos x="0" y="8"/>
                </a:cxn>
                <a:cxn ang="0">
                  <a:pos x="0" y="79"/>
                </a:cxn>
                <a:cxn ang="0">
                  <a:pos x="8" y="87"/>
                </a:cxn>
                <a:cxn ang="0">
                  <a:pos x="79" y="87"/>
                </a:cxn>
                <a:cxn ang="0">
                  <a:pos x="87" y="79"/>
                </a:cxn>
                <a:cxn ang="0">
                  <a:pos x="87" y="8"/>
                </a:cxn>
                <a:cxn ang="0">
                  <a:pos x="79" y="0"/>
                </a:cxn>
                <a:cxn ang="0">
                  <a:pos x="42" y="28"/>
                </a:cxn>
                <a:cxn ang="0">
                  <a:pos x="42" y="62"/>
                </a:cxn>
                <a:cxn ang="0">
                  <a:pos x="42" y="62"/>
                </a:cxn>
                <a:cxn ang="0">
                  <a:pos x="31" y="73"/>
                </a:cxn>
                <a:cxn ang="0">
                  <a:pos x="16" y="67"/>
                </a:cxn>
                <a:cxn ang="0">
                  <a:pos x="26" y="53"/>
                </a:cxn>
                <a:cxn ang="0">
                  <a:pos x="37" y="54"/>
                </a:cxn>
                <a:cxn ang="0">
                  <a:pos x="37" y="27"/>
                </a:cxn>
                <a:cxn ang="0">
                  <a:pos x="37" y="27"/>
                </a:cxn>
                <a:cxn ang="0">
                  <a:pos x="37" y="11"/>
                </a:cxn>
                <a:cxn ang="0">
                  <a:pos x="69" y="18"/>
                </a:cxn>
                <a:cxn ang="0">
                  <a:pos x="69" y="34"/>
                </a:cxn>
                <a:cxn ang="0">
                  <a:pos x="42" y="28"/>
                </a:cxn>
              </a:cxnLst>
              <a:rect l="0" t="0" r="r" b="b"/>
              <a:pathLst>
                <a:path w="87" h="87">
                  <a:moveTo>
                    <a:pt x="79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4"/>
                    <a:pt x="4" y="87"/>
                    <a:pt x="8" y="87"/>
                  </a:cubicBezTo>
                  <a:cubicBezTo>
                    <a:pt x="79" y="87"/>
                    <a:pt x="79" y="87"/>
                    <a:pt x="79" y="87"/>
                  </a:cubicBezTo>
                  <a:cubicBezTo>
                    <a:pt x="84" y="87"/>
                    <a:pt x="87" y="84"/>
                    <a:pt x="87" y="79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4"/>
                    <a:pt x="84" y="0"/>
                    <a:pt x="79" y="0"/>
                  </a:cubicBezTo>
                  <a:close/>
                  <a:moveTo>
                    <a:pt x="42" y="28"/>
                  </a:move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7"/>
                    <a:pt x="38" y="72"/>
                    <a:pt x="31" y="73"/>
                  </a:cubicBezTo>
                  <a:cubicBezTo>
                    <a:pt x="24" y="75"/>
                    <a:pt x="17" y="72"/>
                    <a:pt x="16" y="67"/>
                  </a:cubicBezTo>
                  <a:cubicBezTo>
                    <a:pt x="14" y="61"/>
                    <a:pt x="19" y="55"/>
                    <a:pt x="26" y="53"/>
                  </a:cubicBezTo>
                  <a:cubicBezTo>
                    <a:pt x="30" y="52"/>
                    <a:pt x="34" y="52"/>
                    <a:pt x="37" y="54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69" y="18"/>
                    <a:pt x="69" y="18"/>
                    <a:pt x="69" y="18"/>
                  </a:cubicBezTo>
                  <a:cubicBezTo>
                    <a:pt x="69" y="34"/>
                    <a:pt x="69" y="34"/>
                    <a:pt x="69" y="34"/>
                  </a:cubicBezTo>
                  <a:lnTo>
                    <a:pt x="42" y="2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prstClr val="black"/>
                </a:solidFill>
                <a:latin typeface="Arial"/>
              </a:endParaRPr>
            </a:p>
          </p:txBody>
        </p:sp>
        <p:pic>
          <p:nvPicPr>
            <p:cNvPr id="59" name="Picture 17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923360" y="2440117"/>
              <a:ext cx="239342" cy="2393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0" name="Oval 59"/>
          <p:cNvSpPr/>
          <p:nvPr/>
        </p:nvSpPr>
        <p:spPr>
          <a:xfrm>
            <a:off x="2882924" y="2478308"/>
            <a:ext cx="768096" cy="770312"/>
          </a:xfrm>
          <a:prstGeom prst="ellipse">
            <a:avLst/>
          </a:prstGeom>
          <a:gradFill flip="none" rotWithShape="1">
            <a:gsLst>
              <a:gs pos="0">
                <a:srgbClr val="237DC8"/>
              </a:gs>
              <a:gs pos="100000">
                <a:srgbClr val="2FA9DB"/>
              </a:gs>
            </a:gsLst>
            <a:lin ang="16200000" scaled="1"/>
            <a:tileRect/>
          </a:gradFill>
          <a:ln w="41275">
            <a:solidFill>
              <a:srgbClr val="237D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61" name="Picture 4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5476" y="2633246"/>
            <a:ext cx="482994" cy="48299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Oval 61"/>
          <p:cNvSpPr/>
          <p:nvPr/>
        </p:nvSpPr>
        <p:spPr>
          <a:xfrm>
            <a:off x="2119438" y="3697286"/>
            <a:ext cx="768096" cy="770312"/>
          </a:xfrm>
          <a:prstGeom prst="ellipse">
            <a:avLst/>
          </a:prstGeom>
          <a:gradFill flip="none" rotWithShape="1">
            <a:gsLst>
              <a:gs pos="0">
                <a:srgbClr val="237DC8"/>
              </a:gs>
              <a:gs pos="100000">
                <a:srgbClr val="2FA9DB"/>
              </a:gs>
            </a:gsLst>
            <a:lin ang="16200000" scaled="1"/>
            <a:tileRect/>
          </a:gradFill>
          <a:ln w="41275">
            <a:solidFill>
              <a:srgbClr val="237D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3" name="Freeform 8"/>
          <p:cNvSpPr>
            <a:spLocks noEditPoints="1"/>
          </p:cNvSpPr>
          <p:nvPr/>
        </p:nvSpPr>
        <p:spPr bwMode="auto">
          <a:xfrm>
            <a:off x="2263935" y="3882235"/>
            <a:ext cx="479103" cy="442002"/>
          </a:xfrm>
          <a:custGeom>
            <a:avLst/>
            <a:gdLst/>
            <a:ahLst/>
            <a:cxnLst>
              <a:cxn ang="0">
                <a:pos x="168" y="0"/>
              </a:cxn>
              <a:cxn ang="0">
                <a:pos x="163" y="5"/>
              </a:cxn>
              <a:cxn ang="0">
                <a:pos x="163" y="82"/>
              </a:cxn>
              <a:cxn ang="0">
                <a:pos x="150" y="82"/>
              </a:cxn>
              <a:cxn ang="0">
                <a:pos x="150" y="78"/>
              </a:cxn>
              <a:cxn ang="0">
                <a:pos x="121" y="48"/>
              </a:cxn>
              <a:cxn ang="0">
                <a:pos x="0" y="48"/>
              </a:cxn>
              <a:cxn ang="0">
                <a:pos x="0" y="60"/>
              </a:cxn>
              <a:cxn ang="0">
                <a:pos x="111" y="60"/>
              </a:cxn>
              <a:cxn ang="0">
                <a:pos x="138" y="88"/>
              </a:cxn>
              <a:cxn ang="0">
                <a:pos x="138" y="153"/>
              </a:cxn>
              <a:cxn ang="0">
                <a:pos x="150" y="153"/>
              </a:cxn>
              <a:cxn ang="0">
                <a:pos x="150" y="92"/>
              </a:cxn>
              <a:cxn ang="0">
                <a:pos x="168" y="92"/>
              </a:cxn>
              <a:cxn ang="0">
                <a:pos x="173" y="87"/>
              </a:cxn>
              <a:cxn ang="0">
                <a:pos x="173" y="5"/>
              </a:cxn>
              <a:cxn ang="0">
                <a:pos x="168" y="0"/>
              </a:cxn>
              <a:cxn ang="0">
                <a:pos x="122" y="86"/>
              </a:cxn>
              <a:cxn ang="0">
                <a:pos x="122" y="82"/>
              </a:cxn>
              <a:cxn ang="0">
                <a:pos x="134" y="82"/>
              </a:cxn>
              <a:cxn ang="0">
                <a:pos x="111" y="63"/>
              </a:cxn>
              <a:cxn ang="0">
                <a:pos x="0" y="63"/>
              </a:cxn>
              <a:cxn ang="0">
                <a:pos x="0" y="153"/>
              </a:cxn>
              <a:cxn ang="0">
                <a:pos x="14" y="153"/>
              </a:cxn>
              <a:cxn ang="0">
                <a:pos x="14" y="161"/>
              </a:cxn>
              <a:cxn ang="0">
                <a:pos x="135" y="161"/>
              </a:cxn>
              <a:cxn ang="0">
                <a:pos x="135" y="95"/>
              </a:cxn>
              <a:cxn ang="0">
                <a:pos x="122" y="95"/>
              </a:cxn>
              <a:cxn ang="0">
                <a:pos x="122" y="91"/>
              </a:cxn>
              <a:cxn ang="0">
                <a:pos x="135" y="91"/>
              </a:cxn>
              <a:cxn ang="0">
                <a:pos x="135" y="88"/>
              </a:cxn>
              <a:cxn ang="0">
                <a:pos x="135" y="86"/>
              </a:cxn>
              <a:cxn ang="0">
                <a:pos x="122" y="86"/>
              </a:cxn>
            </a:cxnLst>
            <a:rect l="0" t="0" r="r" b="b"/>
            <a:pathLst>
              <a:path w="173" h="161">
                <a:moveTo>
                  <a:pt x="168" y="0"/>
                </a:moveTo>
                <a:cubicBezTo>
                  <a:pt x="165" y="0"/>
                  <a:pt x="163" y="2"/>
                  <a:pt x="163" y="5"/>
                </a:cubicBezTo>
                <a:cubicBezTo>
                  <a:pt x="163" y="82"/>
                  <a:pt x="163" y="82"/>
                  <a:pt x="163" y="82"/>
                </a:cubicBezTo>
                <a:cubicBezTo>
                  <a:pt x="150" y="82"/>
                  <a:pt x="150" y="82"/>
                  <a:pt x="150" y="82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61"/>
                  <a:pt x="137" y="48"/>
                  <a:pt x="121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60"/>
                  <a:pt x="0" y="60"/>
                  <a:pt x="0" y="60"/>
                </a:cubicBezTo>
                <a:cubicBezTo>
                  <a:pt x="111" y="60"/>
                  <a:pt x="111" y="60"/>
                  <a:pt x="111" y="60"/>
                </a:cubicBezTo>
                <a:cubicBezTo>
                  <a:pt x="126" y="60"/>
                  <a:pt x="138" y="72"/>
                  <a:pt x="138" y="88"/>
                </a:cubicBezTo>
                <a:cubicBezTo>
                  <a:pt x="138" y="153"/>
                  <a:pt x="138" y="153"/>
                  <a:pt x="138" y="153"/>
                </a:cubicBezTo>
                <a:cubicBezTo>
                  <a:pt x="146" y="153"/>
                  <a:pt x="150" y="153"/>
                  <a:pt x="150" y="153"/>
                </a:cubicBezTo>
                <a:cubicBezTo>
                  <a:pt x="150" y="92"/>
                  <a:pt x="150" y="92"/>
                  <a:pt x="150" y="92"/>
                </a:cubicBezTo>
                <a:cubicBezTo>
                  <a:pt x="168" y="92"/>
                  <a:pt x="168" y="92"/>
                  <a:pt x="168" y="92"/>
                </a:cubicBezTo>
                <a:cubicBezTo>
                  <a:pt x="171" y="92"/>
                  <a:pt x="173" y="90"/>
                  <a:pt x="173" y="87"/>
                </a:cubicBezTo>
                <a:cubicBezTo>
                  <a:pt x="173" y="5"/>
                  <a:pt x="173" y="5"/>
                  <a:pt x="173" y="5"/>
                </a:cubicBezTo>
                <a:cubicBezTo>
                  <a:pt x="173" y="2"/>
                  <a:pt x="171" y="0"/>
                  <a:pt x="168" y="0"/>
                </a:cubicBezTo>
                <a:close/>
                <a:moveTo>
                  <a:pt x="122" y="86"/>
                </a:moveTo>
                <a:cubicBezTo>
                  <a:pt x="122" y="82"/>
                  <a:pt x="122" y="82"/>
                  <a:pt x="122" y="82"/>
                </a:cubicBezTo>
                <a:cubicBezTo>
                  <a:pt x="134" y="82"/>
                  <a:pt x="134" y="82"/>
                  <a:pt x="134" y="82"/>
                </a:cubicBezTo>
                <a:cubicBezTo>
                  <a:pt x="132" y="71"/>
                  <a:pt x="122" y="63"/>
                  <a:pt x="111" y="63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153"/>
                  <a:pt x="0" y="153"/>
                  <a:pt x="0" y="153"/>
                </a:cubicBezTo>
                <a:cubicBezTo>
                  <a:pt x="0" y="153"/>
                  <a:pt x="4" y="153"/>
                  <a:pt x="14" y="153"/>
                </a:cubicBezTo>
                <a:cubicBezTo>
                  <a:pt x="14" y="161"/>
                  <a:pt x="14" y="161"/>
                  <a:pt x="14" y="161"/>
                </a:cubicBezTo>
                <a:cubicBezTo>
                  <a:pt x="135" y="161"/>
                  <a:pt x="135" y="161"/>
                  <a:pt x="135" y="161"/>
                </a:cubicBezTo>
                <a:cubicBezTo>
                  <a:pt x="135" y="95"/>
                  <a:pt x="135" y="95"/>
                  <a:pt x="135" y="95"/>
                </a:cubicBezTo>
                <a:cubicBezTo>
                  <a:pt x="122" y="95"/>
                  <a:pt x="122" y="95"/>
                  <a:pt x="122" y="95"/>
                </a:cubicBezTo>
                <a:cubicBezTo>
                  <a:pt x="122" y="91"/>
                  <a:pt x="122" y="91"/>
                  <a:pt x="122" y="91"/>
                </a:cubicBezTo>
                <a:cubicBezTo>
                  <a:pt x="135" y="91"/>
                  <a:pt x="135" y="91"/>
                  <a:pt x="135" y="91"/>
                </a:cubicBezTo>
                <a:cubicBezTo>
                  <a:pt x="135" y="88"/>
                  <a:pt x="135" y="88"/>
                  <a:pt x="135" y="88"/>
                </a:cubicBezTo>
                <a:cubicBezTo>
                  <a:pt x="135" y="87"/>
                  <a:pt x="135" y="87"/>
                  <a:pt x="135" y="86"/>
                </a:cubicBezTo>
                <a:lnTo>
                  <a:pt x="122" y="86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400" b="1" dirty="0">
              <a:solidFill>
                <a:prstClr val="black">
                  <a:lumMod val="75000"/>
                  <a:lumOff val="25000"/>
                </a:prstClr>
              </a:solidFill>
              <a:latin typeface="Arial"/>
            </a:endParaRPr>
          </a:p>
        </p:txBody>
      </p:sp>
      <p:sp>
        <p:nvSpPr>
          <p:cNvPr id="64" name="TextBox 63"/>
          <p:cNvSpPr txBox="1"/>
          <p:nvPr/>
        </p:nvSpPr>
        <p:spPr bwMode="gray">
          <a:xfrm>
            <a:off x="4506816" y="1992911"/>
            <a:ext cx="1314977" cy="387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eaLnBrk="0" hangingPunct="0">
              <a:lnSpc>
                <a:spcPts val="800"/>
              </a:lnSpc>
              <a:spcBef>
                <a:spcPts val="250"/>
              </a:spcBef>
              <a:spcAft>
                <a:spcPts val="350"/>
              </a:spcAft>
              <a:buClr>
                <a:srgbClr val="237DC8"/>
              </a:buClr>
              <a:defRPr/>
            </a:pPr>
            <a:r>
              <a:rPr lang="en-US" sz="14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Calibri" pitchFamily="34" charset="0"/>
              </a:rPr>
              <a:t>Power </a:t>
            </a:r>
          </a:p>
          <a:p>
            <a:pPr algn="ctr" eaLnBrk="0" hangingPunct="0">
              <a:lnSpc>
                <a:spcPts val="800"/>
              </a:lnSpc>
              <a:spcBef>
                <a:spcPts val="250"/>
              </a:spcBef>
              <a:spcAft>
                <a:spcPts val="350"/>
              </a:spcAft>
              <a:buClr>
                <a:srgbClr val="237DC8"/>
              </a:buClr>
              <a:defRPr/>
            </a:pPr>
            <a:r>
              <a:rPr lang="en-US" sz="14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Calibri" pitchFamily="34" charset="0"/>
              </a:rPr>
              <a:t>Management</a:t>
            </a:r>
          </a:p>
        </p:txBody>
      </p:sp>
      <p:sp>
        <p:nvSpPr>
          <p:cNvPr id="65" name="TextBox 64"/>
          <p:cNvSpPr txBox="1"/>
          <p:nvPr/>
        </p:nvSpPr>
        <p:spPr bwMode="gray">
          <a:xfrm>
            <a:off x="5777303" y="1951874"/>
            <a:ext cx="1314977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ts val="250"/>
              </a:spcBef>
              <a:spcAft>
                <a:spcPts val="350"/>
              </a:spcAft>
              <a:buClr>
                <a:srgbClr val="237DC8"/>
              </a:buClr>
              <a:defRPr/>
            </a:pPr>
            <a:r>
              <a:rPr lang="en-US" sz="14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Calibri" pitchFamily="34" charset="0"/>
              </a:rPr>
              <a:t>RF</a:t>
            </a:r>
          </a:p>
        </p:txBody>
      </p:sp>
      <p:sp>
        <p:nvSpPr>
          <p:cNvPr id="66" name="TextBox 65"/>
          <p:cNvSpPr txBox="1"/>
          <p:nvPr/>
        </p:nvSpPr>
        <p:spPr bwMode="gray">
          <a:xfrm>
            <a:off x="3151495" y="4497171"/>
            <a:ext cx="1314977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ts val="250"/>
              </a:spcBef>
              <a:spcAft>
                <a:spcPts val="350"/>
              </a:spcAft>
              <a:buClr>
                <a:srgbClr val="237DC8"/>
              </a:buClr>
              <a:defRPr/>
            </a:pPr>
            <a:r>
              <a:rPr lang="en-US" sz="14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Calibri" pitchFamily="34" charset="0"/>
              </a:rPr>
              <a:t>Software/</a:t>
            </a:r>
            <a:br>
              <a:rPr lang="en-US" sz="14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Calibri" pitchFamily="34" charset="0"/>
              </a:rPr>
            </a:br>
            <a:r>
              <a:rPr lang="en-US" sz="14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Calibri" pitchFamily="34" charset="0"/>
              </a:rPr>
              <a:t>HLOS</a:t>
            </a:r>
          </a:p>
        </p:txBody>
      </p:sp>
      <p:sp>
        <p:nvSpPr>
          <p:cNvPr id="67" name="TextBox 66"/>
          <p:cNvSpPr txBox="1"/>
          <p:nvPr/>
        </p:nvSpPr>
        <p:spPr bwMode="gray">
          <a:xfrm>
            <a:off x="4482997" y="4502557"/>
            <a:ext cx="1314977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ts val="250"/>
              </a:spcBef>
              <a:spcAft>
                <a:spcPts val="350"/>
              </a:spcAft>
              <a:buClr>
                <a:srgbClr val="237DC8"/>
              </a:buClr>
              <a:defRPr/>
            </a:pPr>
            <a:r>
              <a:rPr lang="en-US" sz="14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Calibri" pitchFamily="34" charset="0"/>
              </a:rPr>
              <a:t>Memory</a:t>
            </a:r>
          </a:p>
        </p:txBody>
      </p:sp>
      <p:sp>
        <p:nvSpPr>
          <p:cNvPr id="68" name="TextBox 67"/>
          <p:cNvSpPr txBox="1"/>
          <p:nvPr/>
        </p:nvSpPr>
        <p:spPr bwMode="gray">
          <a:xfrm>
            <a:off x="5768481" y="4516017"/>
            <a:ext cx="1314977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ts val="250"/>
              </a:spcBef>
              <a:spcAft>
                <a:spcPts val="350"/>
              </a:spcAft>
              <a:buClr>
                <a:srgbClr val="237DC8"/>
              </a:buClr>
              <a:defRPr/>
            </a:pPr>
            <a:r>
              <a:rPr lang="en-US" sz="14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Calibri" pitchFamily="34" charset="0"/>
              </a:rPr>
              <a:t>Connectivity</a:t>
            </a:r>
          </a:p>
        </p:txBody>
      </p:sp>
      <p:sp>
        <p:nvSpPr>
          <p:cNvPr id="69" name="TextBox 68"/>
          <p:cNvSpPr txBox="1"/>
          <p:nvPr/>
        </p:nvSpPr>
        <p:spPr bwMode="gray">
          <a:xfrm>
            <a:off x="1845998" y="4502557"/>
            <a:ext cx="1314977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ts val="250"/>
              </a:spcBef>
              <a:spcAft>
                <a:spcPts val="350"/>
              </a:spcAft>
              <a:buClr>
                <a:srgbClr val="237DC8"/>
              </a:buClr>
              <a:defRPr/>
            </a:pPr>
            <a:r>
              <a:rPr lang="en-US" sz="14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Calibri" pitchFamily="34" charset="0"/>
              </a:rPr>
              <a:t>Modem</a:t>
            </a:r>
          </a:p>
        </p:txBody>
      </p:sp>
      <p:sp>
        <p:nvSpPr>
          <p:cNvPr id="70" name="TextBox 69"/>
          <p:cNvSpPr txBox="1"/>
          <p:nvPr/>
        </p:nvSpPr>
        <p:spPr bwMode="gray">
          <a:xfrm>
            <a:off x="2609484" y="3300355"/>
            <a:ext cx="1314977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ts val="250"/>
              </a:spcBef>
              <a:spcAft>
                <a:spcPts val="350"/>
              </a:spcAft>
              <a:buClr>
                <a:srgbClr val="237DC8"/>
              </a:buClr>
              <a:defRPr/>
            </a:pPr>
            <a:r>
              <a:rPr lang="en-US" sz="14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Calibri" pitchFamily="34" charset="0"/>
              </a:rPr>
              <a:t>DSP</a:t>
            </a:r>
          </a:p>
        </p:txBody>
      </p:sp>
      <p:sp>
        <p:nvSpPr>
          <p:cNvPr id="71" name="TextBox 70"/>
          <p:cNvSpPr txBox="1"/>
          <p:nvPr/>
        </p:nvSpPr>
        <p:spPr bwMode="gray">
          <a:xfrm>
            <a:off x="3805269" y="3300355"/>
            <a:ext cx="1314977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ts val="250"/>
              </a:spcBef>
              <a:spcAft>
                <a:spcPts val="350"/>
              </a:spcAft>
              <a:buClr>
                <a:srgbClr val="237DC8"/>
              </a:buClr>
              <a:defRPr/>
            </a:pPr>
            <a:r>
              <a:rPr lang="en-US" sz="14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Calibri" pitchFamily="34" charset="0"/>
              </a:rPr>
              <a:t>CPU</a:t>
            </a:r>
          </a:p>
        </p:txBody>
      </p:sp>
      <p:sp>
        <p:nvSpPr>
          <p:cNvPr id="72" name="TextBox 71"/>
          <p:cNvSpPr txBox="1"/>
          <p:nvPr/>
        </p:nvSpPr>
        <p:spPr bwMode="gray">
          <a:xfrm>
            <a:off x="5091265" y="3300355"/>
            <a:ext cx="1314977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ts val="250"/>
              </a:spcBef>
              <a:spcAft>
                <a:spcPts val="350"/>
              </a:spcAft>
              <a:buClr>
                <a:srgbClr val="237DC8"/>
              </a:buClr>
              <a:defRPr/>
            </a:pPr>
            <a:r>
              <a:rPr lang="en-US" sz="14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Calibri" pitchFamily="34" charset="0"/>
              </a:rPr>
              <a:t>GPU</a:t>
            </a:r>
          </a:p>
        </p:txBody>
      </p:sp>
      <p:sp>
        <p:nvSpPr>
          <p:cNvPr id="73" name="TextBox 72"/>
          <p:cNvSpPr txBox="1"/>
          <p:nvPr/>
        </p:nvSpPr>
        <p:spPr bwMode="gray">
          <a:xfrm>
            <a:off x="1969382" y="1951874"/>
            <a:ext cx="1314977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ts val="250"/>
              </a:spcBef>
              <a:spcAft>
                <a:spcPts val="350"/>
              </a:spcAft>
              <a:buClr>
                <a:srgbClr val="237DC8"/>
              </a:buClr>
              <a:defRPr/>
            </a:pPr>
            <a:r>
              <a:rPr lang="en-US" sz="14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Calibri" pitchFamily="34" charset="0"/>
              </a:rPr>
              <a:t>Location</a:t>
            </a:r>
          </a:p>
        </p:txBody>
      </p:sp>
      <p:sp>
        <p:nvSpPr>
          <p:cNvPr id="74" name="TextBox 73"/>
          <p:cNvSpPr txBox="1"/>
          <p:nvPr/>
        </p:nvSpPr>
        <p:spPr bwMode="gray">
          <a:xfrm>
            <a:off x="3200258" y="1951874"/>
            <a:ext cx="1314977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ts val="250"/>
              </a:spcBef>
              <a:spcAft>
                <a:spcPts val="350"/>
              </a:spcAft>
              <a:buClr>
                <a:srgbClr val="237DC8"/>
              </a:buClr>
              <a:defRPr/>
            </a:pPr>
            <a:r>
              <a:rPr lang="en-US" sz="14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Calibri" pitchFamily="34" charset="0"/>
              </a:rPr>
              <a:t>Multimedia</a:t>
            </a:r>
          </a:p>
        </p:txBody>
      </p:sp>
      <p:sp>
        <p:nvSpPr>
          <p:cNvPr id="75" name="Oval 74"/>
          <p:cNvSpPr/>
          <p:nvPr/>
        </p:nvSpPr>
        <p:spPr>
          <a:xfrm>
            <a:off x="4756437" y="3697286"/>
            <a:ext cx="768096" cy="770312"/>
          </a:xfrm>
          <a:prstGeom prst="ellipse">
            <a:avLst/>
          </a:prstGeom>
          <a:gradFill flip="none" rotWithShape="1">
            <a:gsLst>
              <a:gs pos="0">
                <a:srgbClr val="237DC8"/>
              </a:gs>
              <a:gs pos="100000">
                <a:srgbClr val="2FA9DB"/>
              </a:gs>
            </a:gsLst>
            <a:lin ang="16200000" scaled="1"/>
            <a:tileRect/>
          </a:gradFill>
          <a:ln w="41275">
            <a:solidFill>
              <a:srgbClr val="237D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150"/>
              </a:spcBef>
              <a:spcAft>
                <a:spcPts val="350"/>
              </a:spcAft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76" name="Picture 2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66340" y="3882749"/>
            <a:ext cx="348290" cy="464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857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 CDMA Technology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619672" y="1002670"/>
            <a:ext cx="2448272" cy="50405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20, 000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employees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733764" y="1002670"/>
            <a:ext cx="2448272" cy="504056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38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locations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624930"/>
            <a:ext cx="865822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209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Departments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707654"/>
            <a:ext cx="8144151" cy="206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14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Multimedia</a:t>
            </a:r>
            <a:endParaRPr lang="en-US" dirty="0"/>
          </a:p>
        </p:txBody>
      </p: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3863046441"/>
              </p:ext>
            </p:extLst>
          </p:nvPr>
        </p:nvGraphicFramePr>
        <p:xfrm>
          <a:off x="1547664" y="884466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79256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Staffing - Video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93" y="1092200"/>
            <a:ext cx="8504814" cy="295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4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Growth Rate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31590"/>
            <a:ext cx="7927926" cy="380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762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19872" y="2211710"/>
            <a:ext cx="3672408" cy="857250"/>
          </a:xfrm>
        </p:spPr>
        <p:txBody>
          <a:bodyPr/>
          <a:lstStyle/>
          <a:p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Thank you!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137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2558</TotalTime>
  <Words>191</Words>
  <Application>Microsoft Office PowerPoint</Application>
  <PresentationFormat>On-screen Show (16:9)</PresentationFormat>
  <Paragraphs>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맑은 고딕</vt:lpstr>
      <vt:lpstr>ＭＳ Ｐゴシック</vt:lpstr>
      <vt:lpstr>Arial</vt:lpstr>
      <vt:lpstr>Calibri</vt:lpstr>
      <vt:lpstr>Qualcomm Office Regular</vt:lpstr>
      <vt:lpstr>Wingdings</vt:lpstr>
      <vt:lpstr>Office Theme</vt:lpstr>
      <vt:lpstr>PowerPoint Presentation</vt:lpstr>
      <vt:lpstr>Leading Semiconductor Industry</vt:lpstr>
      <vt:lpstr>Global</vt:lpstr>
      <vt:lpstr>Executives</vt:lpstr>
      <vt:lpstr>Engines</vt:lpstr>
      <vt:lpstr>Corporate Structure</vt:lpstr>
      <vt:lpstr>Business Model</vt:lpstr>
      <vt:lpstr>All-in-One Snapdragon</vt:lpstr>
      <vt:lpstr>Q CDMA Technology</vt:lpstr>
      <vt:lpstr>Departments</vt:lpstr>
      <vt:lpstr>Multimedia</vt:lpstr>
      <vt:lpstr>Staffing - Video</vt:lpstr>
      <vt:lpstr>Growth Rate</vt:lpstr>
      <vt:lpstr>Thank you!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Xu, Kelvin</cp:lastModifiedBy>
  <cp:revision>92</cp:revision>
  <dcterms:created xsi:type="dcterms:W3CDTF">2014-04-01T16:27:38Z</dcterms:created>
  <dcterms:modified xsi:type="dcterms:W3CDTF">2015-06-29T01:46:48Z</dcterms:modified>
</cp:coreProperties>
</file>