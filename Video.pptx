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theme/themeOverride2.xml" ContentType="application/vnd.openxmlformats-officedocument.themeOverride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drawings/drawing3.xml" ContentType="application/vnd.openxmlformats-officedocument.drawingml.chartshapes+xml"/>
  <Override PartName="/ppt/charts/chart7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8.xml" ContentType="application/vnd.openxmlformats-officedocument.drawingml.chart+xml"/>
  <Override PartName="/ppt/theme/themeOverride3.xml" ContentType="application/vnd.openxmlformats-officedocument.themeOverride+xml"/>
  <Override PartName="/ppt/drawings/drawing4.xml" ContentType="application/vnd.openxmlformats-officedocument.drawingml.chartshapes+xml"/>
  <Override PartName="/ppt/charts/chart9.xml" ContentType="application/vnd.openxmlformats-officedocument.drawingml.chart+xml"/>
  <Override PartName="/ppt/theme/themeOverride4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3"/>
  </p:notesMasterIdLst>
  <p:sldIdLst>
    <p:sldId id="256" r:id="rId2"/>
    <p:sldId id="306" r:id="rId3"/>
    <p:sldId id="265" r:id="rId4"/>
    <p:sldId id="266" r:id="rId5"/>
    <p:sldId id="278" r:id="rId6"/>
    <p:sldId id="272" r:id="rId7"/>
    <p:sldId id="307" r:id="rId8"/>
    <p:sldId id="273" r:id="rId9"/>
    <p:sldId id="275" r:id="rId10"/>
    <p:sldId id="276" r:id="rId11"/>
    <p:sldId id="274" r:id="rId12"/>
    <p:sldId id="279" r:id="rId13"/>
    <p:sldId id="332" r:id="rId14"/>
    <p:sldId id="280" r:id="rId15"/>
    <p:sldId id="316" r:id="rId16"/>
    <p:sldId id="281" r:id="rId17"/>
    <p:sldId id="283" r:id="rId18"/>
    <p:sldId id="284" r:id="rId19"/>
    <p:sldId id="338" r:id="rId20"/>
    <p:sldId id="317" r:id="rId21"/>
    <p:sldId id="285" r:id="rId22"/>
    <p:sldId id="286" r:id="rId23"/>
    <p:sldId id="287" r:id="rId24"/>
    <p:sldId id="288" r:id="rId25"/>
    <p:sldId id="290" r:id="rId26"/>
    <p:sldId id="320" r:id="rId27"/>
    <p:sldId id="321" r:id="rId28"/>
    <p:sldId id="322" r:id="rId29"/>
    <p:sldId id="289" r:id="rId30"/>
    <p:sldId id="323" r:id="rId31"/>
    <p:sldId id="335" r:id="rId32"/>
    <p:sldId id="334" r:id="rId33"/>
    <p:sldId id="318" r:id="rId34"/>
    <p:sldId id="319" r:id="rId35"/>
    <p:sldId id="324" r:id="rId36"/>
    <p:sldId id="296" r:id="rId37"/>
    <p:sldId id="299" r:id="rId38"/>
    <p:sldId id="297" r:id="rId39"/>
    <p:sldId id="298" r:id="rId40"/>
    <p:sldId id="314" r:id="rId41"/>
    <p:sldId id="315" r:id="rId42"/>
    <p:sldId id="325" r:id="rId43"/>
    <p:sldId id="308" r:id="rId44"/>
    <p:sldId id="311" r:id="rId45"/>
    <p:sldId id="301" r:id="rId46"/>
    <p:sldId id="302" r:id="rId47"/>
    <p:sldId id="300" r:id="rId48"/>
    <p:sldId id="330" r:id="rId49"/>
    <p:sldId id="303" r:id="rId50"/>
    <p:sldId id="331" r:id="rId51"/>
    <p:sldId id="326" r:id="rId52"/>
    <p:sldId id="295" r:id="rId53"/>
    <p:sldId id="327" r:id="rId54"/>
    <p:sldId id="304" r:id="rId55"/>
    <p:sldId id="339" r:id="rId56"/>
    <p:sldId id="293" r:id="rId57"/>
    <p:sldId id="328" r:id="rId58"/>
    <p:sldId id="269" r:id="rId59"/>
    <p:sldId id="329" r:id="rId60"/>
    <p:sldId id="312" r:id="rId61"/>
    <p:sldId id="313" r:id="rId62"/>
    <p:sldId id="264" r:id="rId63"/>
    <p:sldId id="305" r:id="rId64"/>
    <p:sldId id="277" r:id="rId65"/>
    <p:sldId id="271" r:id="rId66"/>
    <p:sldId id="267" r:id="rId67"/>
    <p:sldId id="270" r:id="rId68"/>
    <p:sldId id="340" r:id="rId69"/>
    <p:sldId id="333" r:id="rId70"/>
    <p:sldId id="336" r:id="rId71"/>
    <p:sldId id="337" r:id="rId72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361" autoAdjust="0"/>
  </p:normalViewPr>
  <p:slideViewPr>
    <p:cSldViewPr>
      <p:cViewPr varScale="1">
        <p:scale>
          <a:sx n="145" d="100"/>
          <a:sy n="145" d="100"/>
        </p:scale>
        <p:origin x="852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2.xml"/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Work\VideoTechReview2014\ChartsVideoTechReview2014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4.xml"/><Relationship Id="rId2" Type="http://schemas.openxmlformats.org/officeDocument/2006/relationships/oleObject" Target="file:///C:\Work\VideoTechReview2014\ChartsVideoTechReview2014.xlsx" TargetMode="External"/><Relationship Id="rId1" Type="http://schemas.openxmlformats.org/officeDocument/2006/relationships/themeOverride" Target="../theme/themeOverride3.xm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oleObject" Target="file:///C:\Work\VideoTechReview2014\ChartsVideoTechReview2014.xlsx" TargetMode="External"/><Relationship Id="rId1" Type="http://schemas.openxmlformats.org/officeDocument/2006/relationships/themeOverride" Target="../theme/themeOverrid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4922684309499202E-2"/>
          <c:y val="6.2122015235900385E-2"/>
          <c:w val="0.87706262234147847"/>
          <c:h val="0.82388886755009283"/>
        </c:manualLayout>
      </c:layout>
      <c:scatterChart>
        <c:scatterStyle val="lineMarker"/>
        <c:varyColors val="0"/>
        <c:ser>
          <c:idx val="6"/>
          <c:order val="6"/>
          <c:tx>
            <c:v>Tiled 8-2-2</c:v>
          </c:tx>
          <c:spPr>
            <a:ln w="34925" cmpd="sng">
              <a:solidFill>
                <a:srgbClr val="002060"/>
              </a:solidFill>
              <a:prstDash val="solid"/>
            </a:ln>
            <a:effectLst/>
          </c:spPr>
          <c:marker>
            <c:symbol val="none"/>
          </c:marker>
          <c:xVal>
            <c:numRef>
              <c:f>'4K_8bpp'!$A$31:$A$39</c:f>
              <c:numCache>
                <c:formatCode>General</c:formatCode>
                <c:ptCount val="9"/>
                <c:pt idx="0">
                  <c:v>1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</c:numCache>
            </c:numRef>
          </c:xVal>
          <c:yVal>
            <c:numRef>
              <c:f>'4K_8bpp'!$O$31:$O$39</c:f>
              <c:numCache>
                <c:formatCode>General</c:formatCode>
                <c:ptCount val="9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</c:numCache>
            </c:numRef>
          </c:yVal>
          <c:smooth val="0"/>
        </c:ser>
        <c:ser>
          <c:idx val="0"/>
          <c:order val="0"/>
          <c:tx>
            <c:v>Size-8-2-2</c:v>
          </c:tx>
          <c:marker>
            <c:symbol val="none"/>
          </c:marker>
          <c:xVal>
            <c:numRef>
              <c:f>'4K_8bpp'!$A$31:$A$39</c:f>
              <c:numCache>
                <c:formatCode>General</c:formatCode>
                <c:ptCount val="9"/>
                <c:pt idx="0">
                  <c:v>1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</c:numCache>
            </c:numRef>
          </c:xVal>
          <c:yVal>
            <c:numRef>
              <c:f>'4K_8bpp'!$K$31:$K$39</c:f>
              <c:numCache>
                <c:formatCode>General</c:formatCode>
                <c:ptCount val="9"/>
                <c:pt idx="0">
                  <c:v>15.6</c:v>
                </c:pt>
                <c:pt idx="1">
                  <c:v>15.9</c:v>
                </c:pt>
                <c:pt idx="2">
                  <c:v>16.2</c:v>
                </c:pt>
                <c:pt idx="3">
                  <c:v>16.600000000000001</c:v>
                </c:pt>
                <c:pt idx="4">
                  <c:v>17.100000000000001</c:v>
                </c:pt>
                <c:pt idx="5">
                  <c:v>18.399999999999999</c:v>
                </c:pt>
                <c:pt idx="6">
                  <c:v>20</c:v>
                </c:pt>
                <c:pt idx="7">
                  <c:v>21.6</c:v>
                </c:pt>
                <c:pt idx="8">
                  <c:v>23.2</c:v>
                </c:pt>
              </c:numCache>
            </c:numRef>
          </c:yVal>
          <c:smooth val="0"/>
        </c:ser>
        <c:ser>
          <c:idx val="1"/>
          <c:order val="1"/>
          <c:tx>
            <c:v>Size-20-15-15</c:v>
          </c:tx>
          <c:marker>
            <c:symbol val="none"/>
          </c:marker>
          <c:xVal>
            <c:numRef>
              <c:f>'4K_8bpp'!$A$31:$A$39</c:f>
              <c:numCache>
                <c:formatCode>General</c:formatCode>
                <c:ptCount val="9"/>
                <c:pt idx="0">
                  <c:v>1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</c:numCache>
            </c:numRef>
          </c:xVal>
          <c:yVal>
            <c:numRef>
              <c:f>'4K_8bpp'!$K$45:$K$53</c:f>
              <c:numCache>
                <c:formatCode>General</c:formatCode>
                <c:ptCount val="9"/>
                <c:pt idx="0">
                  <c:v>14.9</c:v>
                </c:pt>
                <c:pt idx="1">
                  <c:v>15.2</c:v>
                </c:pt>
                <c:pt idx="2">
                  <c:v>15.5</c:v>
                </c:pt>
                <c:pt idx="3">
                  <c:v>15.8</c:v>
                </c:pt>
                <c:pt idx="4">
                  <c:v>16.100000000000001</c:v>
                </c:pt>
                <c:pt idx="5">
                  <c:v>17.2</c:v>
                </c:pt>
                <c:pt idx="6">
                  <c:v>18.600000000000001</c:v>
                </c:pt>
                <c:pt idx="7">
                  <c:v>20</c:v>
                </c:pt>
                <c:pt idx="8">
                  <c:v>21.5</c:v>
                </c:pt>
              </c:numCache>
            </c:numRef>
          </c:yVal>
          <c:smooth val="0"/>
        </c:ser>
        <c:ser>
          <c:idx val="2"/>
          <c:order val="2"/>
          <c:tx>
            <c:v>Size-40-30-30</c:v>
          </c:tx>
          <c:marker>
            <c:symbol val="none"/>
          </c:marker>
          <c:xVal>
            <c:numRef>
              <c:f>'4K_8bpp'!$A$31:$A$39</c:f>
              <c:numCache>
                <c:formatCode>General</c:formatCode>
                <c:ptCount val="9"/>
                <c:pt idx="0">
                  <c:v>1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</c:numCache>
            </c:numRef>
          </c:xVal>
          <c:yVal>
            <c:numRef>
              <c:f>'4K_8bpp'!$K$59:$K$67</c:f>
              <c:numCache>
                <c:formatCode>General</c:formatCode>
                <c:ptCount val="9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14.1</c:v>
                </c:pt>
                <c:pt idx="4">
                  <c:v>14.4</c:v>
                </c:pt>
                <c:pt idx="5">
                  <c:v>15.3</c:v>
                </c:pt>
                <c:pt idx="6">
                  <c:v>16.7</c:v>
                </c:pt>
                <c:pt idx="7">
                  <c:v>18.100000000000001</c:v>
                </c:pt>
                <c:pt idx="8">
                  <c:v>19.5</c:v>
                </c:pt>
              </c:numCache>
            </c:numRef>
          </c:yVal>
          <c:smooth val="0"/>
        </c:ser>
        <c:ser>
          <c:idx val="4"/>
          <c:order val="3"/>
          <c:tx>
            <c:v>Size-60-45-45</c:v>
          </c:tx>
          <c:marker>
            <c:symbol val="none"/>
          </c:marker>
          <c:xVal>
            <c:numRef>
              <c:f>'4K_8bpp'!$A$31:$A$39</c:f>
              <c:numCache>
                <c:formatCode>General</c:formatCode>
                <c:ptCount val="9"/>
                <c:pt idx="0">
                  <c:v>1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</c:numCache>
            </c:numRef>
          </c:xVal>
          <c:yVal>
            <c:numRef>
              <c:f>'4K_8bpp'!$K$73:$K$81</c:f>
              <c:numCache>
                <c:formatCode>General</c:formatCode>
                <c:ptCount val="9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  <c:pt idx="4">
                  <c:v>14</c:v>
                </c:pt>
                <c:pt idx="5">
                  <c:v>14.2</c:v>
                </c:pt>
                <c:pt idx="6">
                  <c:v>15.3</c:v>
                </c:pt>
                <c:pt idx="7">
                  <c:v>16.7</c:v>
                </c:pt>
                <c:pt idx="8">
                  <c:v>18.100000000000001</c:v>
                </c:pt>
              </c:numCache>
            </c:numRef>
          </c:yVal>
          <c:smooth val="0"/>
        </c:ser>
        <c:ser>
          <c:idx val="5"/>
          <c:order val="4"/>
          <c:tx>
            <c:v>Size-Infinte</c:v>
          </c:tx>
          <c:marker>
            <c:symbol val="none"/>
          </c:marker>
          <c:xVal>
            <c:numRef>
              <c:f>'4K_8bpp'!$A$87:$A$95</c:f>
              <c:numCache>
                <c:formatCode>General</c:formatCode>
                <c:ptCount val="9"/>
                <c:pt idx="0">
                  <c:v>1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</c:numCache>
            </c:numRef>
          </c:xVal>
          <c:yVal>
            <c:numRef>
              <c:f>'4K_8bpp'!$K$87:$K$95</c:f>
              <c:numCache>
                <c:formatCode>General</c:formatCode>
                <c:ptCount val="9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14.1</c:v>
                </c:pt>
                <c:pt idx="8">
                  <c:v>14.3</c:v>
                </c:pt>
              </c:numCache>
            </c:numRef>
          </c:yVal>
          <c:smooth val="0"/>
        </c:ser>
        <c:ser>
          <c:idx val="3"/>
          <c:order val="5"/>
          <c:tx>
            <c:v>TargetTime</c:v>
          </c:tx>
          <c:spPr>
            <a:ln>
              <a:solidFill>
                <a:schemeClr val="accent6">
                  <a:lumMod val="50000"/>
                </a:schemeClr>
              </a:solidFill>
              <a:prstDash val="sysDash"/>
            </a:ln>
          </c:spPr>
          <c:marker>
            <c:symbol val="none"/>
          </c:marker>
          <c:xVal>
            <c:numRef>
              <c:f>'4K_8bpp'!$A$31:$A$39</c:f>
              <c:numCache>
                <c:formatCode>General</c:formatCode>
                <c:ptCount val="9"/>
                <c:pt idx="0">
                  <c:v>1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</c:numCache>
            </c:numRef>
          </c:xVal>
          <c:yVal>
            <c:numRef>
              <c:f>'4K_8bpp'!$AA$31:$AA$39</c:f>
              <c:numCache>
                <c:formatCode>General</c:formatCode>
                <c:ptCount val="9"/>
                <c:pt idx="0">
                  <c:v>15.833333333333334</c:v>
                </c:pt>
                <c:pt idx="1">
                  <c:v>15.833333333333334</c:v>
                </c:pt>
                <c:pt idx="2">
                  <c:v>15.833333333333334</c:v>
                </c:pt>
                <c:pt idx="3">
                  <c:v>15.833333333333334</c:v>
                </c:pt>
                <c:pt idx="4">
                  <c:v>15.833333333333334</c:v>
                </c:pt>
                <c:pt idx="5">
                  <c:v>15.833333333333334</c:v>
                </c:pt>
                <c:pt idx="6">
                  <c:v>15.833333333333334</c:v>
                </c:pt>
                <c:pt idx="7">
                  <c:v>15.833333333333334</c:v>
                </c:pt>
                <c:pt idx="8">
                  <c:v>15.833333333333334</c:v>
                </c:pt>
              </c:numCache>
            </c:numRef>
          </c:yVal>
          <c:smooth val="0"/>
        </c:ser>
        <c:ser>
          <c:idx val="7"/>
          <c:order val="7"/>
          <c:tx>
            <c:v>Size-80-60-60</c:v>
          </c:tx>
          <c:marker>
            <c:symbol val="none"/>
          </c:marker>
          <c:xVal>
            <c:numRef>
              <c:f>'4K_8bpp'!$A$31:$A$39</c:f>
              <c:numCache>
                <c:formatCode>General</c:formatCode>
                <c:ptCount val="9"/>
                <c:pt idx="0">
                  <c:v>1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</c:numCache>
            </c:numRef>
          </c:xVal>
          <c:yVal>
            <c:numRef>
              <c:f>'4K_8bpp'!$K$101:$K$109</c:f>
              <c:numCache>
                <c:formatCode>General</c:formatCode>
                <c:ptCount val="9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  <c:pt idx="4">
                  <c:v>14</c:v>
                </c:pt>
                <c:pt idx="5">
                  <c:v>14</c:v>
                </c:pt>
                <c:pt idx="6">
                  <c:v>14.3</c:v>
                </c:pt>
                <c:pt idx="7">
                  <c:v>15.3</c:v>
                </c:pt>
                <c:pt idx="8">
                  <c:v>16.600000000000001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4751136"/>
        <c:axId val="444755056"/>
      </c:scatterChart>
      <c:valAx>
        <c:axId val="4447511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DDR Latency(</a:t>
                </a:r>
                <a:r>
                  <a:rPr lang="en-US" dirty="0" err="1">
                    <a:solidFill>
                      <a:schemeClr val="accent5">
                        <a:lumMod val="75000"/>
                      </a:schemeClr>
                    </a:solidFill>
                  </a:rPr>
                  <a:t>clks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444755056"/>
        <c:crosses val="autoZero"/>
        <c:crossBetween val="midCat"/>
      </c:valAx>
      <c:valAx>
        <c:axId val="444755056"/>
        <c:scaling>
          <c:orientation val="minMax"/>
          <c:max val="25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Frame Time(</a:t>
                </a:r>
                <a:r>
                  <a:rPr lang="en-US" dirty="0" err="1">
                    <a:solidFill>
                      <a:schemeClr val="accent5">
                        <a:lumMod val="75000"/>
                      </a:schemeClr>
                    </a:solidFill>
                  </a:rPr>
                  <a:t>ms</a:t>
                </a:r>
                <a:r>
                  <a:rPr lang="en-US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)</a:t>
                </a:r>
                <a:endParaRPr 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444751136"/>
        <c:crosses val="autoZero"/>
        <c:crossBetween val="midCat"/>
        <c:majorUnit val="5"/>
      </c:valAx>
    </c:plotArea>
    <c:plotVisOnly val="1"/>
    <c:dispBlanksAs val="gap"/>
    <c:showDLblsOverMax val="0"/>
  </c:chart>
  <c:externalData r:id="rId2">
    <c:autoUpdate val="0"/>
  </c:externalData>
  <c:userShapes r:id="rId3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Codec</a:t>
            </a:r>
            <a:r>
              <a:rPr lang="en-US" sz="1600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 Performance across tiers (w/o DDR latency)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layout>
        <c:manualLayout>
          <c:xMode val="edge"/>
          <c:yMode val="edge"/>
          <c:x val="0.11884366797900263"/>
          <c:y val="1.87499999999999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Decode H264</c:v>
                </c:pt>
                <c:pt idx="1">
                  <c:v>Decode HEVC</c:v>
                </c:pt>
                <c:pt idx="2">
                  <c:v>Encode LQ</c:v>
                </c:pt>
                <c:pt idx="3">
                  <c:v>Encode HQ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400</c:v>
                </c:pt>
                <c:pt idx="1">
                  <c:v>920</c:v>
                </c:pt>
                <c:pt idx="2">
                  <c:v>1050</c:v>
                </c:pt>
                <c:pt idx="3">
                  <c:v>2100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Decode H264</c:v>
                </c:pt>
                <c:pt idx="1">
                  <c:v>Decode HEVC</c:v>
                </c:pt>
                <c:pt idx="2">
                  <c:v>Encode LQ</c:v>
                </c:pt>
                <c:pt idx="3">
                  <c:v>Encode HQ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322</c:v>
                </c:pt>
                <c:pt idx="1">
                  <c:v>363</c:v>
                </c:pt>
                <c:pt idx="2">
                  <c:v>425</c:v>
                </c:pt>
                <c:pt idx="3">
                  <c:v>510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Decode H264</c:v>
                </c:pt>
                <c:pt idx="1">
                  <c:v>Decode HEVC</c:v>
                </c:pt>
                <c:pt idx="2">
                  <c:v>Encode LQ</c:v>
                </c:pt>
                <c:pt idx="3">
                  <c:v>Encode HQ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212</c:v>
                </c:pt>
                <c:pt idx="1">
                  <c:v>212</c:v>
                </c:pt>
                <c:pt idx="2">
                  <c:v>328</c:v>
                </c:pt>
                <c:pt idx="3">
                  <c:v>406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4756232"/>
        <c:axId val="444751528"/>
      </c:barChart>
      <c:catAx>
        <c:axId val="444756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4751528"/>
        <c:crosses val="autoZero"/>
        <c:auto val="1"/>
        <c:lblAlgn val="ctr"/>
        <c:lblOffset val="100"/>
        <c:noMultiLvlLbl val="0"/>
      </c:catAx>
      <c:valAx>
        <c:axId val="444751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Cycles/MB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4756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1600"/>
            </a:pPr>
            <a:r>
              <a:rPr lang="en-US" sz="1600"/>
              <a:t>Decode time in ms @ 465 MHz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I frame</c:v>
          </c:tx>
          <c:spPr>
            <a:ln w="28575">
              <a:noFill/>
            </a:ln>
          </c:spPr>
          <c:yVal>
            <c:numRef>
              <c:f>'Decode time_Turbo'!$D$1300:$D$1500</c:f>
              <c:numCache>
                <c:formatCode>0.00</c:formatCode>
                <c:ptCount val="201"/>
                <c:pt idx="0">
                  <c:v>-1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  <c:pt idx="4">
                  <c:v>-1</c:v>
                </c:pt>
                <c:pt idx="5">
                  <c:v>16.888277294950299</c:v>
                </c:pt>
                <c:pt idx="6">
                  <c:v>-1</c:v>
                </c:pt>
                <c:pt idx="7">
                  <c:v>-1</c:v>
                </c:pt>
                <c:pt idx="8">
                  <c:v>-1</c:v>
                </c:pt>
                <c:pt idx="9">
                  <c:v>-1</c:v>
                </c:pt>
                <c:pt idx="10">
                  <c:v>-1</c:v>
                </c:pt>
                <c:pt idx="11">
                  <c:v>-1</c:v>
                </c:pt>
                <c:pt idx="12">
                  <c:v>-1</c:v>
                </c:pt>
                <c:pt idx="13">
                  <c:v>-1</c:v>
                </c:pt>
                <c:pt idx="14">
                  <c:v>-1</c:v>
                </c:pt>
                <c:pt idx="15">
                  <c:v>-1</c:v>
                </c:pt>
                <c:pt idx="16">
                  <c:v>-1</c:v>
                </c:pt>
                <c:pt idx="17">
                  <c:v>-1</c:v>
                </c:pt>
                <c:pt idx="18">
                  <c:v>-1</c:v>
                </c:pt>
                <c:pt idx="19">
                  <c:v>17.226303184999711</c:v>
                </c:pt>
                <c:pt idx="20">
                  <c:v>-1</c:v>
                </c:pt>
                <c:pt idx="21">
                  <c:v>-1</c:v>
                </c:pt>
                <c:pt idx="22">
                  <c:v>-1</c:v>
                </c:pt>
                <c:pt idx="23">
                  <c:v>-1</c:v>
                </c:pt>
                <c:pt idx="24">
                  <c:v>-1</c:v>
                </c:pt>
                <c:pt idx="25">
                  <c:v>-1</c:v>
                </c:pt>
                <c:pt idx="26">
                  <c:v>-1</c:v>
                </c:pt>
                <c:pt idx="27">
                  <c:v>-1</c:v>
                </c:pt>
                <c:pt idx="28">
                  <c:v>-1</c:v>
                </c:pt>
                <c:pt idx="29">
                  <c:v>-1</c:v>
                </c:pt>
                <c:pt idx="30">
                  <c:v>-1</c:v>
                </c:pt>
                <c:pt idx="31">
                  <c:v>-1</c:v>
                </c:pt>
                <c:pt idx="32">
                  <c:v>-1</c:v>
                </c:pt>
                <c:pt idx="33">
                  <c:v>-1</c:v>
                </c:pt>
                <c:pt idx="34">
                  <c:v>-1</c:v>
                </c:pt>
                <c:pt idx="35">
                  <c:v>18.191965789410894</c:v>
                </c:pt>
                <c:pt idx="36">
                  <c:v>-1</c:v>
                </c:pt>
                <c:pt idx="37">
                  <c:v>-1</c:v>
                </c:pt>
                <c:pt idx="38">
                  <c:v>-1</c:v>
                </c:pt>
                <c:pt idx="39">
                  <c:v>-1</c:v>
                </c:pt>
                <c:pt idx="40">
                  <c:v>-1</c:v>
                </c:pt>
                <c:pt idx="41">
                  <c:v>-1</c:v>
                </c:pt>
                <c:pt idx="42">
                  <c:v>-1</c:v>
                </c:pt>
                <c:pt idx="43">
                  <c:v>-1</c:v>
                </c:pt>
                <c:pt idx="44">
                  <c:v>-1</c:v>
                </c:pt>
                <c:pt idx="45">
                  <c:v>-1</c:v>
                </c:pt>
                <c:pt idx="46">
                  <c:v>-1</c:v>
                </c:pt>
                <c:pt idx="47">
                  <c:v>-1</c:v>
                </c:pt>
                <c:pt idx="48">
                  <c:v>-1</c:v>
                </c:pt>
                <c:pt idx="49">
                  <c:v>-1</c:v>
                </c:pt>
                <c:pt idx="50">
                  <c:v>-1</c:v>
                </c:pt>
                <c:pt idx="51">
                  <c:v>-1</c:v>
                </c:pt>
                <c:pt idx="52">
                  <c:v>-1</c:v>
                </c:pt>
                <c:pt idx="53">
                  <c:v>-1</c:v>
                </c:pt>
                <c:pt idx="54">
                  <c:v>-1</c:v>
                </c:pt>
                <c:pt idx="55">
                  <c:v>-1</c:v>
                </c:pt>
                <c:pt idx="56">
                  <c:v>-1</c:v>
                </c:pt>
                <c:pt idx="57">
                  <c:v>-1</c:v>
                </c:pt>
                <c:pt idx="58">
                  <c:v>18.036004460517233</c:v>
                </c:pt>
                <c:pt idx="59">
                  <c:v>-1</c:v>
                </c:pt>
                <c:pt idx="60">
                  <c:v>-1</c:v>
                </c:pt>
                <c:pt idx="61">
                  <c:v>-1</c:v>
                </c:pt>
                <c:pt idx="62">
                  <c:v>-1</c:v>
                </c:pt>
                <c:pt idx="63">
                  <c:v>-1</c:v>
                </c:pt>
                <c:pt idx="64">
                  <c:v>-1</c:v>
                </c:pt>
                <c:pt idx="65">
                  <c:v>-1</c:v>
                </c:pt>
                <c:pt idx="66">
                  <c:v>-1</c:v>
                </c:pt>
                <c:pt idx="67">
                  <c:v>-1</c:v>
                </c:pt>
                <c:pt idx="68">
                  <c:v>-1</c:v>
                </c:pt>
                <c:pt idx="69">
                  <c:v>-1</c:v>
                </c:pt>
                <c:pt idx="70">
                  <c:v>-1</c:v>
                </c:pt>
                <c:pt idx="71">
                  <c:v>-1</c:v>
                </c:pt>
                <c:pt idx="72">
                  <c:v>-1</c:v>
                </c:pt>
                <c:pt idx="73">
                  <c:v>-1</c:v>
                </c:pt>
                <c:pt idx="74">
                  <c:v>-1</c:v>
                </c:pt>
                <c:pt idx="75">
                  <c:v>-1</c:v>
                </c:pt>
                <c:pt idx="76">
                  <c:v>-1</c:v>
                </c:pt>
                <c:pt idx="77">
                  <c:v>-1</c:v>
                </c:pt>
                <c:pt idx="78">
                  <c:v>-1</c:v>
                </c:pt>
                <c:pt idx="79">
                  <c:v>-1</c:v>
                </c:pt>
                <c:pt idx="80">
                  <c:v>-1</c:v>
                </c:pt>
                <c:pt idx="81">
                  <c:v>17.974256058149347</c:v>
                </c:pt>
                <c:pt idx="82">
                  <c:v>-1</c:v>
                </c:pt>
                <c:pt idx="83">
                  <c:v>-1</c:v>
                </c:pt>
                <c:pt idx="84">
                  <c:v>17.372197844737101</c:v>
                </c:pt>
                <c:pt idx="85">
                  <c:v>-1</c:v>
                </c:pt>
                <c:pt idx="86">
                  <c:v>-1</c:v>
                </c:pt>
                <c:pt idx="87">
                  <c:v>-1</c:v>
                </c:pt>
                <c:pt idx="88">
                  <c:v>-1</c:v>
                </c:pt>
                <c:pt idx="89">
                  <c:v>-1</c:v>
                </c:pt>
                <c:pt idx="90">
                  <c:v>-1</c:v>
                </c:pt>
                <c:pt idx="91">
                  <c:v>-1</c:v>
                </c:pt>
                <c:pt idx="92">
                  <c:v>-1</c:v>
                </c:pt>
                <c:pt idx="93">
                  <c:v>-1</c:v>
                </c:pt>
                <c:pt idx="94">
                  <c:v>-1</c:v>
                </c:pt>
                <c:pt idx="95">
                  <c:v>-1</c:v>
                </c:pt>
                <c:pt idx="96">
                  <c:v>-1</c:v>
                </c:pt>
                <c:pt idx="97">
                  <c:v>-1</c:v>
                </c:pt>
                <c:pt idx="98">
                  <c:v>-1</c:v>
                </c:pt>
                <c:pt idx="99">
                  <c:v>-1</c:v>
                </c:pt>
                <c:pt idx="100">
                  <c:v>-1</c:v>
                </c:pt>
                <c:pt idx="101">
                  <c:v>-1</c:v>
                </c:pt>
                <c:pt idx="102">
                  <c:v>-1</c:v>
                </c:pt>
                <c:pt idx="103">
                  <c:v>-1</c:v>
                </c:pt>
                <c:pt idx="104">
                  <c:v>-1</c:v>
                </c:pt>
                <c:pt idx="105">
                  <c:v>17.500518306579796</c:v>
                </c:pt>
                <c:pt idx="106">
                  <c:v>-1</c:v>
                </c:pt>
                <c:pt idx="107">
                  <c:v>-1</c:v>
                </c:pt>
                <c:pt idx="108">
                  <c:v>-1</c:v>
                </c:pt>
                <c:pt idx="109">
                  <c:v>-1</c:v>
                </c:pt>
                <c:pt idx="110">
                  <c:v>-1</c:v>
                </c:pt>
                <c:pt idx="111">
                  <c:v>-1</c:v>
                </c:pt>
                <c:pt idx="112">
                  <c:v>-1</c:v>
                </c:pt>
                <c:pt idx="113">
                  <c:v>-1</c:v>
                </c:pt>
                <c:pt idx="114">
                  <c:v>-1</c:v>
                </c:pt>
                <c:pt idx="115">
                  <c:v>-1</c:v>
                </c:pt>
                <c:pt idx="116">
                  <c:v>-1</c:v>
                </c:pt>
                <c:pt idx="117">
                  <c:v>-1</c:v>
                </c:pt>
                <c:pt idx="118">
                  <c:v>-1</c:v>
                </c:pt>
                <c:pt idx="119">
                  <c:v>-1</c:v>
                </c:pt>
                <c:pt idx="120">
                  <c:v>-1</c:v>
                </c:pt>
                <c:pt idx="121">
                  <c:v>-1</c:v>
                </c:pt>
                <c:pt idx="122">
                  <c:v>-1</c:v>
                </c:pt>
                <c:pt idx="123">
                  <c:v>-1</c:v>
                </c:pt>
                <c:pt idx="124">
                  <c:v>-1</c:v>
                </c:pt>
                <c:pt idx="125">
                  <c:v>-1</c:v>
                </c:pt>
                <c:pt idx="126">
                  <c:v>-1</c:v>
                </c:pt>
                <c:pt idx="127">
                  <c:v>-1</c:v>
                </c:pt>
                <c:pt idx="128">
                  <c:v>17.398040861881075</c:v>
                </c:pt>
                <c:pt idx="129">
                  <c:v>-1</c:v>
                </c:pt>
                <c:pt idx="130">
                  <c:v>-1</c:v>
                </c:pt>
                <c:pt idx="131">
                  <c:v>-1</c:v>
                </c:pt>
                <c:pt idx="132">
                  <c:v>-1</c:v>
                </c:pt>
                <c:pt idx="133">
                  <c:v>-1</c:v>
                </c:pt>
                <c:pt idx="134">
                  <c:v>-1</c:v>
                </c:pt>
                <c:pt idx="135">
                  <c:v>-1</c:v>
                </c:pt>
                <c:pt idx="136">
                  <c:v>-1</c:v>
                </c:pt>
                <c:pt idx="137">
                  <c:v>-1</c:v>
                </c:pt>
                <c:pt idx="138">
                  <c:v>-1</c:v>
                </c:pt>
                <c:pt idx="139">
                  <c:v>-1</c:v>
                </c:pt>
                <c:pt idx="140">
                  <c:v>-1</c:v>
                </c:pt>
                <c:pt idx="141">
                  <c:v>-1</c:v>
                </c:pt>
                <c:pt idx="142">
                  <c:v>-1</c:v>
                </c:pt>
                <c:pt idx="143">
                  <c:v>-1</c:v>
                </c:pt>
                <c:pt idx="144">
                  <c:v>-1</c:v>
                </c:pt>
                <c:pt idx="145">
                  <c:v>-1</c:v>
                </c:pt>
                <c:pt idx="146">
                  <c:v>-1</c:v>
                </c:pt>
                <c:pt idx="147">
                  <c:v>-1</c:v>
                </c:pt>
                <c:pt idx="148">
                  <c:v>-1</c:v>
                </c:pt>
                <c:pt idx="149">
                  <c:v>17.903425933105339</c:v>
                </c:pt>
                <c:pt idx="150">
                  <c:v>-1</c:v>
                </c:pt>
                <c:pt idx="151">
                  <c:v>-1</c:v>
                </c:pt>
                <c:pt idx="152">
                  <c:v>-1</c:v>
                </c:pt>
                <c:pt idx="153">
                  <c:v>-1</c:v>
                </c:pt>
                <c:pt idx="154">
                  <c:v>-1</c:v>
                </c:pt>
                <c:pt idx="155">
                  <c:v>-1</c:v>
                </c:pt>
                <c:pt idx="156">
                  <c:v>-1</c:v>
                </c:pt>
                <c:pt idx="157">
                  <c:v>-1</c:v>
                </c:pt>
                <c:pt idx="158">
                  <c:v>-1</c:v>
                </c:pt>
                <c:pt idx="159">
                  <c:v>-1</c:v>
                </c:pt>
                <c:pt idx="160">
                  <c:v>-1</c:v>
                </c:pt>
                <c:pt idx="161">
                  <c:v>-1</c:v>
                </c:pt>
                <c:pt idx="162">
                  <c:v>-1</c:v>
                </c:pt>
                <c:pt idx="163">
                  <c:v>-1</c:v>
                </c:pt>
                <c:pt idx="164">
                  <c:v>-1</c:v>
                </c:pt>
                <c:pt idx="165">
                  <c:v>-1</c:v>
                </c:pt>
                <c:pt idx="166">
                  <c:v>-1</c:v>
                </c:pt>
                <c:pt idx="167">
                  <c:v>-1</c:v>
                </c:pt>
                <c:pt idx="168">
                  <c:v>-1</c:v>
                </c:pt>
                <c:pt idx="169">
                  <c:v>-1</c:v>
                </c:pt>
                <c:pt idx="170">
                  <c:v>-1</c:v>
                </c:pt>
                <c:pt idx="171">
                  <c:v>-1</c:v>
                </c:pt>
                <c:pt idx="172">
                  <c:v>18.124172224257649</c:v>
                </c:pt>
                <c:pt idx="173">
                  <c:v>-1</c:v>
                </c:pt>
                <c:pt idx="174">
                  <c:v>-1</c:v>
                </c:pt>
                <c:pt idx="175">
                  <c:v>-1</c:v>
                </c:pt>
                <c:pt idx="176">
                  <c:v>-1</c:v>
                </c:pt>
                <c:pt idx="177">
                  <c:v>-1</c:v>
                </c:pt>
                <c:pt idx="178">
                  <c:v>-1</c:v>
                </c:pt>
                <c:pt idx="179">
                  <c:v>-1</c:v>
                </c:pt>
                <c:pt idx="180">
                  <c:v>17.164047255624592</c:v>
                </c:pt>
                <c:pt idx="181">
                  <c:v>-1</c:v>
                </c:pt>
                <c:pt idx="182">
                  <c:v>-1</c:v>
                </c:pt>
                <c:pt idx="183">
                  <c:v>-1</c:v>
                </c:pt>
                <c:pt idx="184">
                  <c:v>-1</c:v>
                </c:pt>
                <c:pt idx="185">
                  <c:v>-1</c:v>
                </c:pt>
                <c:pt idx="186">
                  <c:v>-1</c:v>
                </c:pt>
                <c:pt idx="187">
                  <c:v>-1</c:v>
                </c:pt>
                <c:pt idx="188">
                  <c:v>-1</c:v>
                </c:pt>
                <c:pt idx="189">
                  <c:v>-1</c:v>
                </c:pt>
                <c:pt idx="190">
                  <c:v>-1</c:v>
                </c:pt>
                <c:pt idx="191">
                  <c:v>-1</c:v>
                </c:pt>
                <c:pt idx="192">
                  <c:v>-1</c:v>
                </c:pt>
                <c:pt idx="193">
                  <c:v>-1</c:v>
                </c:pt>
                <c:pt idx="194">
                  <c:v>-1</c:v>
                </c:pt>
                <c:pt idx="195">
                  <c:v>-1</c:v>
                </c:pt>
                <c:pt idx="196">
                  <c:v>-1</c:v>
                </c:pt>
                <c:pt idx="197">
                  <c:v>-1</c:v>
                </c:pt>
                <c:pt idx="198">
                  <c:v>-1</c:v>
                </c:pt>
                <c:pt idx="199">
                  <c:v>-1</c:v>
                </c:pt>
                <c:pt idx="200">
                  <c:v>-1</c:v>
                </c:pt>
              </c:numCache>
            </c:numRef>
          </c:yVal>
          <c:smooth val="0"/>
        </c:ser>
        <c:ser>
          <c:idx val="1"/>
          <c:order val="1"/>
          <c:tx>
            <c:v>P frame</c:v>
          </c:tx>
          <c:spPr>
            <a:ln w="28575">
              <a:noFill/>
            </a:ln>
          </c:spPr>
          <c:yVal>
            <c:numRef>
              <c:f>'Decode time_Turbo'!$E$1300:$E$1500</c:f>
              <c:numCache>
                <c:formatCode>0.00</c:formatCode>
                <c:ptCount val="201"/>
                <c:pt idx="0">
                  <c:v>21.142895551468794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  <c:pt idx="4">
                  <c:v>21.597833298388881</c:v>
                </c:pt>
                <c:pt idx="5">
                  <c:v>-1</c:v>
                </c:pt>
                <c:pt idx="6">
                  <c:v>20.44851688511708</c:v>
                </c:pt>
                <c:pt idx="7">
                  <c:v>-1</c:v>
                </c:pt>
                <c:pt idx="8">
                  <c:v>-1</c:v>
                </c:pt>
                <c:pt idx="9">
                  <c:v>-1</c:v>
                </c:pt>
                <c:pt idx="10">
                  <c:v>20.616351335226675</c:v>
                </c:pt>
                <c:pt idx="11">
                  <c:v>-1</c:v>
                </c:pt>
                <c:pt idx="12">
                  <c:v>-1</c:v>
                </c:pt>
                <c:pt idx="13">
                  <c:v>-1</c:v>
                </c:pt>
                <c:pt idx="14">
                  <c:v>17.691688246331502</c:v>
                </c:pt>
                <c:pt idx="15">
                  <c:v>-1</c:v>
                </c:pt>
                <c:pt idx="16">
                  <c:v>-1</c:v>
                </c:pt>
                <c:pt idx="17">
                  <c:v>19.857290932448294</c:v>
                </c:pt>
                <c:pt idx="18">
                  <c:v>20.058333992921309</c:v>
                </c:pt>
                <c:pt idx="19">
                  <c:v>-1</c:v>
                </c:pt>
                <c:pt idx="20">
                  <c:v>20.082168407417992</c:v>
                </c:pt>
                <c:pt idx="21">
                  <c:v>-1</c:v>
                </c:pt>
                <c:pt idx="22">
                  <c:v>-1</c:v>
                </c:pt>
                <c:pt idx="23">
                  <c:v>-1</c:v>
                </c:pt>
                <c:pt idx="24">
                  <c:v>20.16538778283784</c:v>
                </c:pt>
                <c:pt idx="25">
                  <c:v>-1</c:v>
                </c:pt>
                <c:pt idx="26">
                  <c:v>-1</c:v>
                </c:pt>
                <c:pt idx="27">
                  <c:v>-1</c:v>
                </c:pt>
                <c:pt idx="28">
                  <c:v>20.1154479855409</c:v>
                </c:pt>
                <c:pt idx="29">
                  <c:v>-1</c:v>
                </c:pt>
                <c:pt idx="30">
                  <c:v>-1</c:v>
                </c:pt>
                <c:pt idx="31">
                  <c:v>-1</c:v>
                </c:pt>
                <c:pt idx="32">
                  <c:v>20.243301780601517</c:v>
                </c:pt>
                <c:pt idx="33">
                  <c:v>-1</c:v>
                </c:pt>
                <c:pt idx="34">
                  <c:v>-1</c:v>
                </c:pt>
                <c:pt idx="35">
                  <c:v>-1</c:v>
                </c:pt>
                <c:pt idx="36">
                  <c:v>21.316530003012797</c:v>
                </c:pt>
                <c:pt idx="37">
                  <c:v>21.150768671695477</c:v>
                </c:pt>
                <c:pt idx="38">
                  <c:v>21.277962251539051</c:v>
                </c:pt>
                <c:pt idx="39">
                  <c:v>21.040622407895864</c:v>
                </c:pt>
                <c:pt idx="40">
                  <c:v>21.319127853117642</c:v>
                </c:pt>
                <c:pt idx="41">
                  <c:v>21.26986117426674</c:v>
                </c:pt>
                <c:pt idx="42">
                  <c:v>21.278908488332206</c:v>
                </c:pt>
                <c:pt idx="43">
                  <c:v>21.321917101119283</c:v>
                </c:pt>
                <c:pt idx="44">
                  <c:v>21.213271912959719</c:v>
                </c:pt>
                <c:pt idx="45">
                  <c:v>21.31459451866316</c:v>
                </c:pt>
                <c:pt idx="46">
                  <c:v>21.294329997522471</c:v>
                </c:pt>
                <c:pt idx="47">
                  <c:v>21.219162236997111</c:v>
                </c:pt>
                <c:pt idx="48">
                  <c:v>21.413456908704397</c:v>
                </c:pt>
                <c:pt idx="49">
                  <c:v>21.223549334856287</c:v>
                </c:pt>
                <c:pt idx="50">
                  <c:v>21.30861172148462</c:v>
                </c:pt>
                <c:pt idx="51">
                  <c:v>21.344362267960562</c:v>
                </c:pt>
                <c:pt idx="52">
                  <c:v>21.288760103671855</c:v>
                </c:pt>
                <c:pt idx="53">
                  <c:v>21.433536483562786</c:v>
                </c:pt>
                <c:pt idx="54">
                  <c:v>21.235742886258993</c:v>
                </c:pt>
                <c:pt idx="55">
                  <c:v>21.343422482781904</c:v>
                </c:pt>
                <c:pt idx="56">
                  <c:v>21.355923561142387</c:v>
                </c:pt>
                <c:pt idx="57">
                  <c:v>21.245046114366243</c:v>
                </c:pt>
                <c:pt idx="58">
                  <c:v>-1</c:v>
                </c:pt>
                <c:pt idx="59">
                  <c:v>21.24589342640375</c:v>
                </c:pt>
                <c:pt idx="60">
                  <c:v>21.356869797935541</c:v>
                </c:pt>
                <c:pt idx="61">
                  <c:v>21.267028915501776</c:v>
                </c:pt>
                <c:pt idx="62">
                  <c:v>21.411355832915959</c:v>
                </c:pt>
                <c:pt idx="63">
                  <c:v>21.288676232683368</c:v>
                </c:pt>
                <c:pt idx="64">
                  <c:v>21.24626762004468</c:v>
                </c:pt>
                <c:pt idx="65">
                  <c:v>21.319785917796516</c:v>
                </c:pt>
                <c:pt idx="66">
                  <c:v>21.288704189679532</c:v>
                </c:pt>
                <c:pt idx="67">
                  <c:v>21.376813888889455</c:v>
                </c:pt>
                <c:pt idx="68">
                  <c:v>21.297033223997463</c:v>
                </c:pt>
                <c:pt idx="69">
                  <c:v>21.238917080592397</c:v>
                </c:pt>
                <c:pt idx="70">
                  <c:v>21.337317104927887</c:v>
                </c:pt>
                <c:pt idx="71">
                  <c:v>21.285747199700921</c:v>
                </c:pt>
                <c:pt idx="72">
                  <c:v>21.370452596993655</c:v>
                </c:pt>
                <c:pt idx="73">
                  <c:v>21.267441818829695</c:v>
                </c:pt>
                <c:pt idx="74">
                  <c:v>21.215553633954123</c:v>
                </c:pt>
                <c:pt idx="75">
                  <c:v>21.325291295502147</c:v>
                </c:pt>
                <c:pt idx="76">
                  <c:v>21.265476226945733</c:v>
                </c:pt>
                <c:pt idx="77">
                  <c:v>21.274016014003962</c:v>
                </c:pt>
                <c:pt idx="78">
                  <c:v>21.23657944560567</c:v>
                </c:pt>
                <c:pt idx="79">
                  <c:v>21.215891268446228</c:v>
                </c:pt>
                <c:pt idx="80">
                  <c:v>21.269740744129432</c:v>
                </c:pt>
                <c:pt idx="81">
                  <c:v>-1</c:v>
                </c:pt>
                <c:pt idx="82">
                  <c:v>21.445699927431164</c:v>
                </c:pt>
                <c:pt idx="83">
                  <c:v>21.32202247748943</c:v>
                </c:pt>
                <c:pt idx="84">
                  <c:v>-1</c:v>
                </c:pt>
                <c:pt idx="85">
                  <c:v>21.402093465033868</c:v>
                </c:pt>
                <c:pt idx="86">
                  <c:v>21.424534330798814</c:v>
                </c:pt>
                <c:pt idx="87">
                  <c:v>-1</c:v>
                </c:pt>
                <c:pt idx="88">
                  <c:v>20.78603739869742</c:v>
                </c:pt>
                <c:pt idx="89">
                  <c:v>-1</c:v>
                </c:pt>
                <c:pt idx="90">
                  <c:v>-1</c:v>
                </c:pt>
                <c:pt idx="91">
                  <c:v>-1</c:v>
                </c:pt>
                <c:pt idx="92">
                  <c:v>20.941048189721595</c:v>
                </c:pt>
                <c:pt idx="93">
                  <c:v>-1</c:v>
                </c:pt>
                <c:pt idx="94">
                  <c:v>-1</c:v>
                </c:pt>
                <c:pt idx="95">
                  <c:v>-1</c:v>
                </c:pt>
                <c:pt idx="96">
                  <c:v>19.049376754146937</c:v>
                </c:pt>
                <c:pt idx="97">
                  <c:v>-1</c:v>
                </c:pt>
                <c:pt idx="98">
                  <c:v>-1</c:v>
                </c:pt>
                <c:pt idx="99">
                  <c:v>-1</c:v>
                </c:pt>
                <c:pt idx="100">
                  <c:v>18.471684138158444</c:v>
                </c:pt>
                <c:pt idx="101">
                  <c:v>18.883208971116197</c:v>
                </c:pt>
                <c:pt idx="102">
                  <c:v>20.037727536212188</c:v>
                </c:pt>
                <c:pt idx="103">
                  <c:v>20.511951309407312</c:v>
                </c:pt>
                <c:pt idx="104">
                  <c:v>20.368583532015283</c:v>
                </c:pt>
                <c:pt idx="105">
                  <c:v>-1</c:v>
                </c:pt>
                <c:pt idx="106">
                  <c:v>21.482985958157819</c:v>
                </c:pt>
                <c:pt idx="107">
                  <c:v>-1</c:v>
                </c:pt>
                <c:pt idx="108">
                  <c:v>21.603375235243337</c:v>
                </c:pt>
                <c:pt idx="109">
                  <c:v>21.445783798419647</c:v>
                </c:pt>
                <c:pt idx="110">
                  <c:v>21.532123604718741</c:v>
                </c:pt>
                <c:pt idx="111">
                  <c:v>21.619018249864727</c:v>
                </c:pt>
                <c:pt idx="112">
                  <c:v>21.488831120893717</c:v>
                </c:pt>
                <c:pt idx="113">
                  <c:v>21.439134334409566</c:v>
                </c:pt>
                <c:pt idx="114">
                  <c:v>21.405237551832943</c:v>
                </c:pt>
                <c:pt idx="115">
                  <c:v>21.358839690895838</c:v>
                </c:pt>
                <c:pt idx="116">
                  <c:v>21.51825263354635</c:v>
                </c:pt>
                <c:pt idx="117">
                  <c:v>21.354813883448596</c:v>
                </c:pt>
                <c:pt idx="118">
                  <c:v>21.374968727142804</c:v>
                </c:pt>
                <c:pt idx="119">
                  <c:v>21.341973020057843</c:v>
                </c:pt>
                <c:pt idx="120">
                  <c:v>21.456295628976338</c:v>
                </c:pt>
                <c:pt idx="121">
                  <c:v>21.346020332886749</c:v>
                </c:pt>
                <c:pt idx="122">
                  <c:v>21.451667670842543</c:v>
                </c:pt>
                <c:pt idx="123">
                  <c:v>21.402278411316168</c:v>
                </c:pt>
                <c:pt idx="124">
                  <c:v>21.425639707416273</c:v>
                </c:pt>
                <c:pt idx="125">
                  <c:v>21.236366542327211</c:v>
                </c:pt>
                <c:pt idx="126">
                  <c:v>21.414173037913763</c:v>
                </c:pt>
                <c:pt idx="127">
                  <c:v>21.399753679508976</c:v>
                </c:pt>
                <c:pt idx="128">
                  <c:v>-1</c:v>
                </c:pt>
                <c:pt idx="129">
                  <c:v>21.179181581948132</c:v>
                </c:pt>
                <c:pt idx="130">
                  <c:v>21.359190228616939</c:v>
                </c:pt>
                <c:pt idx="131">
                  <c:v>21.3523020548704</c:v>
                </c:pt>
                <c:pt idx="132">
                  <c:v>21.437663366303845</c:v>
                </c:pt>
                <c:pt idx="133">
                  <c:v>21.38960098882605</c:v>
                </c:pt>
                <c:pt idx="134">
                  <c:v>21.21467621438229</c:v>
                </c:pt>
                <c:pt idx="135">
                  <c:v>21.413052607529139</c:v>
                </c:pt>
                <c:pt idx="136">
                  <c:v>21.21082675106468</c:v>
                </c:pt>
                <c:pt idx="137">
                  <c:v>21.199136425592879</c:v>
                </c:pt>
                <c:pt idx="138">
                  <c:v>21.351949366611134</c:v>
                </c:pt>
                <c:pt idx="139">
                  <c:v>21.236671918746818</c:v>
                </c:pt>
                <c:pt idx="140">
                  <c:v>21.155160070630984</c:v>
                </c:pt>
                <c:pt idx="141">
                  <c:v>21.28265257527967</c:v>
                </c:pt>
                <c:pt idx="142">
                  <c:v>21.274929992724623</c:v>
                </c:pt>
                <c:pt idx="143">
                  <c:v>21.229269766378543</c:v>
                </c:pt>
                <c:pt idx="144">
                  <c:v>21.291727846341296</c:v>
                </c:pt>
                <c:pt idx="145">
                  <c:v>21.184065454123715</c:v>
                </c:pt>
                <c:pt idx="146">
                  <c:v>21.149443940185062</c:v>
                </c:pt>
                <c:pt idx="147">
                  <c:v>21.444489174443561</c:v>
                </c:pt>
                <c:pt idx="148">
                  <c:v>21.340603127245934</c:v>
                </c:pt>
                <c:pt idx="149">
                  <c:v>-1</c:v>
                </c:pt>
                <c:pt idx="150">
                  <c:v>18.840550896050221</c:v>
                </c:pt>
                <c:pt idx="151">
                  <c:v>-1</c:v>
                </c:pt>
                <c:pt idx="152">
                  <c:v>-1</c:v>
                </c:pt>
                <c:pt idx="153">
                  <c:v>-1</c:v>
                </c:pt>
                <c:pt idx="154">
                  <c:v>18.780516472600848</c:v>
                </c:pt>
                <c:pt idx="155">
                  <c:v>-1</c:v>
                </c:pt>
                <c:pt idx="156">
                  <c:v>-1</c:v>
                </c:pt>
                <c:pt idx="157">
                  <c:v>-1</c:v>
                </c:pt>
                <c:pt idx="158">
                  <c:v>18.754346573655603</c:v>
                </c:pt>
                <c:pt idx="159">
                  <c:v>-1</c:v>
                </c:pt>
                <c:pt idx="160">
                  <c:v>-1</c:v>
                </c:pt>
                <c:pt idx="161">
                  <c:v>-1</c:v>
                </c:pt>
                <c:pt idx="162">
                  <c:v>18.788058409949929</c:v>
                </c:pt>
                <c:pt idx="163">
                  <c:v>-1</c:v>
                </c:pt>
                <c:pt idx="164">
                  <c:v>-1</c:v>
                </c:pt>
                <c:pt idx="165">
                  <c:v>-1</c:v>
                </c:pt>
                <c:pt idx="166">
                  <c:v>18.795432605322041</c:v>
                </c:pt>
                <c:pt idx="167">
                  <c:v>-1</c:v>
                </c:pt>
                <c:pt idx="168">
                  <c:v>-1</c:v>
                </c:pt>
                <c:pt idx="169">
                  <c:v>-1</c:v>
                </c:pt>
                <c:pt idx="170">
                  <c:v>19.1413660242088</c:v>
                </c:pt>
                <c:pt idx="171">
                  <c:v>-1</c:v>
                </c:pt>
                <c:pt idx="172">
                  <c:v>-1</c:v>
                </c:pt>
                <c:pt idx="173">
                  <c:v>18.871538000487892</c:v>
                </c:pt>
                <c:pt idx="174">
                  <c:v>-1</c:v>
                </c:pt>
                <c:pt idx="175">
                  <c:v>-1</c:v>
                </c:pt>
                <c:pt idx="176">
                  <c:v>-1</c:v>
                </c:pt>
                <c:pt idx="177">
                  <c:v>19.017264918248312</c:v>
                </c:pt>
                <c:pt idx="178">
                  <c:v>-1</c:v>
                </c:pt>
                <c:pt idx="179">
                  <c:v>-1</c:v>
                </c:pt>
                <c:pt idx="180">
                  <c:v>-1</c:v>
                </c:pt>
                <c:pt idx="181">
                  <c:v>17.702369969403325</c:v>
                </c:pt>
                <c:pt idx="182">
                  <c:v>-1</c:v>
                </c:pt>
                <c:pt idx="183">
                  <c:v>-1</c:v>
                </c:pt>
                <c:pt idx="184">
                  <c:v>-1</c:v>
                </c:pt>
                <c:pt idx="185">
                  <c:v>18.152632446349958</c:v>
                </c:pt>
                <c:pt idx="186">
                  <c:v>-1</c:v>
                </c:pt>
                <c:pt idx="187">
                  <c:v>-1</c:v>
                </c:pt>
                <c:pt idx="188">
                  <c:v>-1</c:v>
                </c:pt>
                <c:pt idx="189">
                  <c:v>17.95017218122538</c:v>
                </c:pt>
                <c:pt idx="190">
                  <c:v>-1</c:v>
                </c:pt>
                <c:pt idx="191">
                  <c:v>-1</c:v>
                </c:pt>
                <c:pt idx="192">
                  <c:v>-1</c:v>
                </c:pt>
                <c:pt idx="193">
                  <c:v>18.097690497278293</c:v>
                </c:pt>
                <c:pt idx="194">
                  <c:v>-1</c:v>
                </c:pt>
                <c:pt idx="195">
                  <c:v>-1</c:v>
                </c:pt>
                <c:pt idx="196">
                  <c:v>-1</c:v>
                </c:pt>
                <c:pt idx="197">
                  <c:v>18.179152883016304</c:v>
                </c:pt>
                <c:pt idx="198">
                  <c:v>-1</c:v>
                </c:pt>
                <c:pt idx="199">
                  <c:v>-1</c:v>
                </c:pt>
                <c:pt idx="200">
                  <c:v>-1</c:v>
                </c:pt>
              </c:numCache>
            </c:numRef>
          </c:yVal>
          <c:smooth val="0"/>
        </c:ser>
        <c:ser>
          <c:idx val="2"/>
          <c:order val="2"/>
          <c:tx>
            <c:v>B frame</c:v>
          </c:tx>
          <c:spPr>
            <a:ln w="28575">
              <a:noFill/>
            </a:ln>
          </c:spPr>
          <c:yVal>
            <c:numRef>
              <c:f>'Decode time_Turbo'!$F$1300:$F$1500</c:f>
              <c:numCache>
                <c:formatCode>0.00</c:formatCode>
                <c:ptCount val="201"/>
                <c:pt idx="0">
                  <c:v>-1</c:v>
                </c:pt>
                <c:pt idx="1">
                  <c:v>19.205140233529306</c:v>
                </c:pt>
                <c:pt idx="2">
                  <c:v>20.528342711310565</c:v>
                </c:pt>
                <c:pt idx="3">
                  <c:v>18.370608844344122</c:v>
                </c:pt>
                <c:pt idx="4">
                  <c:v>-1</c:v>
                </c:pt>
                <c:pt idx="5">
                  <c:v>-1</c:v>
                </c:pt>
                <c:pt idx="6">
                  <c:v>-1</c:v>
                </c:pt>
                <c:pt idx="7">
                  <c:v>18.057247476523571</c:v>
                </c:pt>
                <c:pt idx="8">
                  <c:v>17.945737771526545</c:v>
                </c:pt>
                <c:pt idx="9">
                  <c:v>17.874862485181044</c:v>
                </c:pt>
                <c:pt idx="10">
                  <c:v>-1</c:v>
                </c:pt>
                <c:pt idx="11">
                  <c:v>17.892516252987889</c:v>
                </c:pt>
                <c:pt idx="12">
                  <c:v>17.760234499842941</c:v>
                </c:pt>
                <c:pt idx="13">
                  <c:v>18.170266859313308</c:v>
                </c:pt>
                <c:pt idx="14">
                  <c:v>-1</c:v>
                </c:pt>
                <c:pt idx="15">
                  <c:v>16.972073014598703</c:v>
                </c:pt>
                <c:pt idx="16">
                  <c:v>16.971567638129631</c:v>
                </c:pt>
                <c:pt idx="17">
                  <c:v>-1</c:v>
                </c:pt>
                <c:pt idx="18">
                  <c:v>-1</c:v>
                </c:pt>
                <c:pt idx="19">
                  <c:v>-1</c:v>
                </c:pt>
                <c:pt idx="20">
                  <c:v>-1</c:v>
                </c:pt>
                <c:pt idx="21">
                  <c:v>18.129636741738118</c:v>
                </c:pt>
                <c:pt idx="22">
                  <c:v>18.139735668966885</c:v>
                </c:pt>
                <c:pt idx="23">
                  <c:v>17.728195782241968</c:v>
                </c:pt>
                <c:pt idx="24">
                  <c:v>-1</c:v>
                </c:pt>
                <c:pt idx="25">
                  <c:v>17.969131325699145</c:v>
                </c:pt>
                <c:pt idx="26">
                  <c:v>18.30666689304665</c:v>
                </c:pt>
                <c:pt idx="27">
                  <c:v>17.955660354625678</c:v>
                </c:pt>
                <c:pt idx="28">
                  <c:v>-1</c:v>
                </c:pt>
                <c:pt idx="29">
                  <c:v>17.856681835523464</c:v>
                </c:pt>
                <c:pt idx="30">
                  <c:v>18.360185185852249</c:v>
                </c:pt>
                <c:pt idx="31">
                  <c:v>17.778722676458298</c:v>
                </c:pt>
                <c:pt idx="32">
                  <c:v>-1</c:v>
                </c:pt>
                <c:pt idx="33">
                  <c:v>18.039436719430586</c:v>
                </c:pt>
                <c:pt idx="34">
                  <c:v>17.945348524118451</c:v>
                </c:pt>
                <c:pt idx="35">
                  <c:v>-1</c:v>
                </c:pt>
                <c:pt idx="36">
                  <c:v>-1</c:v>
                </c:pt>
                <c:pt idx="37">
                  <c:v>-1</c:v>
                </c:pt>
                <c:pt idx="38">
                  <c:v>-1</c:v>
                </c:pt>
                <c:pt idx="39">
                  <c:v>-1</c:v>
                </c:pt>
                <c:pt idx="40">
                  <c:v>-1</c:v>
                </c:pt>
                <c:pt idx="41">
                  <c:v>-1</c:v>
                </c:pt>
                <c:pt idx="42">
                  <c:v>-1</c:v>
                </c:pt>
                <c:pt idx="43">
                  <c:v>-1</c:v>
                </c:pt>
                <c:pt idx="44">
                  <c:v>-1</c:v>
                </c:pt>
                <c:pt idx="45">
                  <c:v>-1</c:v>
                </c:pt>
                <c:pt idx="46">
                  <c:v>-1</c:v>
                </c:pt>
                <c:pt idx="47">
                  <c:v>-1</c:v>
                </c:pt>
                <c:pt idx="48">
                  <c:v>-1</c:v>
                </c:pt>
                <c:pt idx="49">
                  <c:v>-1</c:v>
                </c:pt>
                <c:pt idx="50">
                  <c:v>-1</c:v>
                </c:pt>
                <c:pt idx="51">
                  <c:v>-1</c:v>
                </c:pt>
                <c:pt idx="52">
                  <c:v>-1</c:v>
                </c:pt>
                <c:pt idx="53">
                  <c:v>-1</c:v>
                </c:pt>
                <c:pt idx="54">
                  <c:v>-1</c:v>
                </c:pt>
                <c:pt idx="55">
                  <c:v>-1</c:v>
                </c:pt>
                <c:pt idx="56">
                  <c:v>-1</c:v>
                </c:pt>
                <c:pt idx="57">
                  <c:v>-1</c:v>
                </c:pt>
                <c:pt idx="58">
                  <c:v>-1</c:v>
                </c:pt>
                <c:pt idx="59">
                  <c:v>-1</c:v>
                </c:pt>
                <c:pt idx="60">
                  <c:v>-1</c:v>
                </c:pt>
                <c:pt idx="61">
                  <c:v>-1</c:v>
                </c:pt>
                <c:pt idx="62">
                  <c:v>-1</c:v>
                </c:pt>
                <c:pt idx="63">
                  <c:v>-1</c:v>
                </c:pt>
                <c:pt idx="64">
                  <c:v>-1</c:v>
                </c:pt>
                <c:pt idx="65">
                  <c:v>-1</c:v>
                </c:pt>
                <c:pt idx="66">
                  <c:v>-1</c:v>
                </c:pt>
                <c:pt idx="67">
                  <c:v>-1</c:v>
                </c:pt>
                <c:pt idx="68">
                  <c:v>-1</c:v>
                </c:pt>
                <c:pt idx="69">
                  <c:v>-1</c:v>
                </c:pt>
                <c:pt idx="70">
                  <c:v>-1</c:v>
                </c:pt>
                <c:pt idx="71">
                  <c:v>-1</c:v>
                </c:pt>
                <c:pt idx="72">
                  <c:v>-1</c:v>
                </c:pt>
                <c:pt idx="73">
                  <c:v>-1</c:v>
                </c:pt>
                <c:pt idx="74">
                  <c:v>-1</c:v>
                </c:pt>
                <c:pt idx="75">
                  <c:v>-1</c:v>
                </c:pt>
                <c:pt idx="76">
                  <c:v>-1</c:v>
                </c:pt>
                <c:pt idx="77">
                  <c:v>-1</c:v>
                </c:pt>
                <c:pt idx="78">
                  <c:v>-1</c:v>
                </c:pt>
                <c:pt idx="79">
                  <c:v>-1</c:v>
                </c:pt>
                <c:pt idx="80">
                  <c:v>-1</c:v>
                </c:pt>
                <c:pt idx="81">
                  <c:v>-1</c:v>
                </c:pt>
                <c:pt idx="82">
                  <c:v>-1</c:v>
                </c:pt>
                <c:pt idx="83">
                  <c:v>-1</c:v>
                </c:pt>
                <c:pt idx="84">
                  <c:v>-1</c:v>
                </c:pt>
                <c:pt idx="85">
                  <c:v>-1</c:v>
                </c:pt>
                <c:pt idx="86">
                  <c:v>-1</c:v>
                </c:pt>
                <c:pt idx="87">
                  <c:v>18.556972331294233</c:v>
                </c:pt>
                <c:pt idx="88">
                  <c:v>-1</c:v>
                </c:pt>
                <c:pt idx="89">
                  <c:v>17.978084016085294</c:v>
                </c:pt>
                <c:pt idx="90">
                  <c:v>19.952013536519477</c:v>
                </c:pt>
                <c:pt idx="91">
                  <c:v>16.974380542051101</c:v>
                </c:pt>
                <c:pt idx="92">
                  <c:v>-1</c:v>
                </c:pt>
                <c:pt idx="93">
                  <c:v>18.052195862371018</c:v>
                </c:pt>
                <c:pt idx="94">
                  <c:v>19.777284461048847</c:v>
                </c:pt>
                <c:pt idx="95">
                  <c:v>16.993470869353011</c:v>
                </c:pt>
                <c:pt idx="96">
                  <c:v>-1</c:v>
                </c:pt>
                <c:pt idx="97">
                  <c:v>16.969455809650363</c:v>
                </c:pt>
                <c:pt idx="98">
                  <c:v>19.821252213858074</c:v>
                </c:pt>
                <c:pt idx="99">
                  <c:v>17.31915267032808</c:v>
                </c:pt>
                <c:pt idx="100">
                  <c:v>-1</c:v>
                </c:pt>
                <c:pt idx="101">
                  <c:v>-1</c:v>
                </c:pt>
                <c:pt idx="102">
                  <c:v>-1</c:v>
                </c:pt>
                <c:pt idx="103">
                  <c:v>-1</c:v>
                </c:pt>
                <c:pt idx="104">
                  <c:v>-1</c:v>
                </c:pt>
                <c:pt idx="105">
                  <c:v>-1</c:v>
                </c:pt>
                <c:pt idx="106">
                  <c:v>-1</c:v>
                </c:pt>
                <c:pt idx="107">
                  <c:v>22.787508861426922</c:v>
                </c:pt>
                <c:pt idx="108">
                  <c:v>-1</c:v>
                </c:pt>
                <c:pt idx="109">
                  <c:v>-1</c:v>
                </c:pt>
                <c:pt idx="110">
                  <c:v>-1</c:v>
                </c:pt>
                <c:pt idx="111">
                  <c:v>-1</c:v>
                </c:pt>
                <c:pt idx="112">
                  <c:v>-1</c:v>
                </c:pt>
                <c:pt idx="113">
                  <c:v>-1</c:v>
                </c:pt>
                <c:pt idx="114">
                  <c:v>-1</c:v>
                </c:pt>
                <c:pt idx="115">
                  <c:v>-1</c:v>
                </c:pt>
                <c:pt idx="116">
                  <c:v>-1</c:v>
                </c:pt>
                <c:pt idx="117">
                  <c:v>-1</c:v>
                </c:pt>
                <c:pt idx="118">
                  <c:v>-1</c:v>
                </c:pt>
                <c:pt idx="119">
                  <c:v>-1</c:v>
                </c:pt>
                <c:pt idx="120">
                  <c:v>-1</c:v>
                </c:pt>
                <c:pt idx="121">
                  <c:v>-1</c:v>
                </c:pt>
                <c:pt idx="122">
                  <c:v>-1</c:v>
                </c:pt>
                <c:pt idx="123">
                  <c:v>-1</c:v>
                </c:pt>
                <c:pt idx="124">
                  <c:v>-1</c:v>
                </c:pt>
                <c:pt idx="125">
                  <c:v>-1</c:v>
                </c:pt>
                <c:pt idx="126">
                  <c:v>-1</c:v>
                </c:pt>
                <c:pt idx="127">
                  <c:v>-1</c:v>
                </c:pt>
                <c:pt idx="128">
                  <c:v>-1</c:v>
                </c:pt>
                <c:pt idx="129">
                  <c:v>-1</c:v>
                </c:pt>
                <c:pt idx="130">
                  <c:v>-1</c:v>
                </c:pt>
                <c:pt idx="131">
                  <c:v>-1</c:v>
                </c:pt>
                <c:pt idx="132">
                  <c:v>-1</c:v>
                </c:pt>
                <c:pt idx="133">
                  <c:v>-1</c:v>
                </c:pt>
                <c:pt idx="134">
                  <c:v>-1</c:v>
                </c:pt>
                <c:pt idx="135">
                  <c:v>-1</c:v>
                </c:pt>
                <c:pt idx="136">
                  <c:v>-1</c:v>
                </c:pt>
                <c:pt idx="137">
                  <c:v>-1</c:v>
                </c:pt>
                <c:pt idx="138">
                  <c:v>-1</c:v>
                </c:pt>
                <c:pt idx="139">
                  <c:v>-1</c:v>
                </c:pt>
                <c:pt idx="140">
                  <c:v>-1</c:v>
                </c:pt>
                <c:pt idx="141">
                  <c:v>-1</c:v>
                </c:pt>
                <c:pt idx="142">
                  <c:v>-1</c:v>
                </c:pt>
                <c:pt idx="143">
                  <c:v>-1</c:v>
                </c:pt>
                <c:pt idx="144">
                  <c:v>-1</c:v>
                </c:pt>
                <c:pt idx="145">
                  <c:v>-1</c:v>
                </c:pt>
                <c:pt idx="146">
                  <c:v>-1</c:v>
                </c:pt>
                <c:pt idx="147">
                  <c:v>-1</c:v>
                </c:pt>
                <c:pt idx="148">
                  <c:v>-1</c:v>
                </c:pt>
                <c:pt idx="149">
                  <c:v>-1</c:v>
                </c:pt>
                <c:pt idx="150">
                  <c:v>-1</c:v>
                </c:pt>
                <c:pt idx="151">
                  <c:v>17.021221413850459</c:v>
                </c:pt>
                <c:pt idx="152">
                  <c:v>17.863120546793255</c:v>
                </c:pt>
                <c:pt idx="153">
                  <c:v>17.01804291844072</c:v>
                </c:pt>
                <c:pt idx="154">
                  <c:v>-1</c:v>
                </c:pt>
                <c:pt idx="155">
                  <c:v>16.991642911911686</c:v>
                </c:pt>
                <c:pt idx="156">
                  <c:v>17.647585009617799</c:v>
                </c:pt>
                <c:pt idx="157">
                  <c:v>17.035212815160158</c:v>
                </c:pt>
                <c:pt idx="158">
                  <c:v>-1</c:v>
                </c:pt>
                <c:pt idx="159">
                  <c:v>17.016853670834777</c:v>
                </c:pt>
                <c:pt idx="160">
                  <c:v>17.776165686578612</c:v>
                </c:pt>
                <c:pt idx="161">
                  <c:v>17.05145367939177</c:v>
                </c:pt>
                <c:pt idx="162">
                  <c:v>-1</c:v>
                </c:pt>
                <c:pt idx="163">
                  <c:v>17.096303152849167</c:v>
                </c:pt>
                <c:pt idx="164">
                  <c:v>17.879765712200122</c:v>
                </c:pt>
                <c:pt idx="165">
                  <c:v>17.056700992517449</c:v>
                </c:pt>
                <c:pt idx="166">
                  <c:v>-1</c:v>
                </c:pt>
                <c:pt idx="167">
                  <c:v>17.031716040101816</c:v>
                </c:pt>
                <c:pt idx="168">
                  <c:v>17.87931194864704</c:v>
                </c:pt>
                <c:pt idx="169">
                  <c:v>17.044655828248217</c:v>
                </c:pt>
                <c:pt idx="170">
                  <c:v>-1</c:v>
                </c:pt>
                <c:pt idx="171">
                  <c:v>18.09758512090815</c:v>
                </c:pt>
                <c:pt idx="172">
                  <c:v>-1</c:v>
                </c:pt>
                <c:pt idx="173">
                  <c:v>-1</c:v>
                </c:pt>
                <c:pt idx="174">
                  <c:v>17.036987009147325</c:v>
                </c:pt>
                <c:pt idx="175">
                  <c:v>17.786785044043611</c:v>
                </c:pt>
                <c:pt idx="176">
                  <c:v>17.033176255516707</c:v>
                </c:pt>
                <c:pt idx="177">
                  <c:v>-1</c:v>
                </c:pt>
                <c:pt idx="178">
                  <c:v>17.757404391616141</c:v>
                </c:pt>
                <c:pt idx="179">
                  <c:v>17.345774182288238</c:v>
                </c:pt>
                <c:pt idx="180">
                  <c:v>-1</c:v>
                </c:pt>
                <c:pt idx="181">
                  <c:v>-1</c:v>
                </c:pt>
                <c:pt idx="182">
                  <c:v>17.256150504209266</c:v>
                </c:pt>
                <c:pt idx="183">
                  <c:v>17.030716039854504</c:v>
                </c:pt>
                <c:pt idx="184">
                  <c:v>16.991182696744108</c:v>
                </c:pt>
                <c:pt idx="185">
                  <c:v>-1</c:v>
                </c:pt>
                <c:pt idx="186">
                  <c:v>17.076500997414225</c:v>
                </c:pt>
                <c:pt idx="187">
                  <c:v>17.192860165976171</c:v>
                </c:pt>
                <c:pt idx="188">
                  <c:v>17.016122487858251</c:v>
                </c:pt>
                <c:pt idx="189">
                  <c:v>-1</c:v>
                </c:pt>
                <c:pt idx="190">
                  <c:v>16.995857966717562</c:v>
                </c:pt>
                <c:pt idx="191">
                  <c:v>17.17676768887803</c:v>
                </c:pt>
                <c:pt idx="192">
                  <c:v>17.018139692658202</c:v>
                </c:pt>
                <c:pt idx="193">
                  <c:v>-1</c:v>
                </c:pt>
                <c:pt idx="194">
                  <c:v>17.119991330750544</c:v>
                </c:pt>
                <c:pt idx="195">
                  <c:v>17.074268738797645</c:v>
                </c:pt>
                <c:pt idx="196">
                  <c:v>16.98943215867677</c:v>
                </c:pt>
                <c:pt idx="197">
                  <c:v>-1</c:v>
                </c:pt>
                <c:pt idx="198">
                  <c:v>16.995395601011815</c:v>
                </c:pt>
                <c:pt idx="199">
                  <c:v>17.079432180934841</c:v>
                </c:pt>
                <c:pt idx="200">
                  <c:v>17.114782727311859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4751920"/>
        <c:axId val="444750352"/>
      </c:scatterChart>
      <c:valAx>
        <c:axId val="444751920"/>
        <c:scaling>
          <c:orientation val="minMax"/>
          <c:max val="200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Time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444750352"/>
        <c:crosses val="autoZero"/>
        <c:crossBetween val="midCat"/>
      </c:valAx>
      <c:valAx>
        <c:axId val="444750352"/>
        <c:scaling>
          <c:orientation val="minMax"/>
          <c:max val="23"/>
          <c:min val="16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decoding time per frame [ms]</a:t>
                </a:r>
              </a:p>
            </c:rich>
          </c:tx>
          <c:layout/>
          <c:overlay val="0"/>
        </c:title>
        <c:numFmt formatCode="0.00" sourceLinked="1"/>
        <c:majorTickMark val="out"/>
        <c:minorTickMark val="none"/>
        <c:tickLblPos val="nextTo"/>
        <c:crossAx val="444751920"/>
        <c:crosses val="autoZero"/>
        <c:crossBetween val="midCat"/>
        <c:majorUnit val="1"/>
        <c:minorUnit val="1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2">
    <c:autoUpdate val="0"/>
  </c:externalData>
  <c:userShapes r:id="rId3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1080p@30fps power comparison (mA)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3.0555555555555555E-2"/>
          <c:y val="0.18283602190175666"/>
          <c:w val="0.93888888888888888"/>
          <c:h val="0.69206208774464995"/>
        </c:manualLayout>
      </c:layout>
      <c:barChart>
        <c:barDir val="col"/>
        <c:grouping val="stacked"/>
        <c:varyColors val="0"/>
        <c:ser>
          <c:idx val="2"/>
          <c:order val="0"/>
          <c:tx>
            <c:strRef>
              <c:f>HT!$B$29</c:f>
              <c:strCache>
                <c:ptCount val="1"/>
                <c:pt idx="0">
                  <c:v>QTC_88 (AP)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(HT!$C$3:$D$3,HT!$G$3)</c:f>
              <c:strCache>
                <c:ptCount val="3"/>
                <c:pt idx="0">
                  <c:v>iPhone5s</c:v>
                </c:pt>
                <c:pt idx="1">
                  <c:v>Note3 (Exynos 5420)</c:v>
                </c:pt>
                <c:pt idx="2">
                  <c:v>Qualcomm</c:v>
                </c:pt>
              </c:strCache>
            </c:strRef>
          </c:cat>
          <c:val>
            <c:numRef>
              <c:f>(HT!$C$29,HT!$D$29,HT!$G$29)</c:f>
              <c:numCache>
                <c:formatCode>0</c:formatCode>
                <c:ptCount val="3"/>
                <c:pt idx="0">
                  <c:v>93</c:v>
                </c:pt>
                <c:pt idx="1">
                  <c:v>172</c:v>
                </c:pt>
                <c:pt idx="2" formatCode="General">
                  <c:v>105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444749568"/>
        <c:axId val="444749176"/>
      </c:barChart>
      <c:catAx>
        <c:axId val="44474956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444749176"/>
        <c:crosses val="autoZero"/>
        <c:auto val="1"/>
        <c:lblAlgn val="ctr"/>
        <c:lblOffset val="100"/>
        <c:noMultiLvlLbl val="0"/>
      </c:catAx>
      <c:valAx>
        <c:axId val="444749176"/>
        <c:scaling>
          <c:orientation val="minMax"/>
        </c:scaling>
        <c:delete val="1"/>
        <c:axPos val="l"/>
        <c:numFmt formatCode="0" sourceLinked="1"/>
        <c:majorTickMark val="out"/>
        <c:minorTickMark val="none"/>
        <c:tickLblPos val="nextTo"/>
        <c:crossAx val="44474956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1080p@60fps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power comparison (mA)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3.0555555555555555E-2"/>
          <c:y val="0.18283602190175666"/>
          <c:w val="0.93888888888888888"/>
          <c:h val="0.69206208774464995"/>
        </c:manualLayout>
      </c:layout>
      <c:barChart>
        <c:barDir val="col"/>
        <c:grouping val="stacked"/>
        <c:varyColors val="0"/>
        <c:ser>
          <c:idx val="2"/>
          <c:order val="0"/>
          <c:tx>
            <c:strRef>
              <c:f>HT!$B$29</c:f>
              <c:strCache>
                <c:ptCount val="1"/>
                <c:pt idx="0">
                  <c:v>QTC_88 (AP)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(HT!$C$3:$D$3,HT!$G$3)</c:f>
              <c:strCache>
                <c:ptCount val="3"/>
                <c:pt idx="0">
                  <c:v>iPhone5s</c:v>
                </c:pt>
                <c:pt idx="1">
                  <c:v>Note3 (Exynos 5420)</c:v>
                </c:pt>
                <c:pt idx="2">
                  <c:v>Qualcomm</c:v>
                </c:pt>
              </c:strCache>
            </c:strRef>
          </c:cat>
          <c:val>
            <c:numRef>
              <c:f>(HT!$C$29,HT!$D$29,HT!$G$29)</c:f>
              <c:numCache>
                <c:formatCode>0</c:formatCode>
                <c:ptCount val="3"/>
                <c:pt idx="0">
                  <c:v>133</c:v>
                </c:pt>
                <c:pt idx="1">
                  <c:v>252</c:v>
                </c:pt>
                <c:pt idx="2" formatCode="General">
                  <c:v>157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444748392"/>
        <c:axId val="444748000"/>
      </c:barChart>
      <c:catAx>
        <c:axId val="44474839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444748000"/>
        <c:crosses val="autoZero"/>
        <c:auto val="1"/>
        <c:lblAlgn val="ctr"/>
        <c:lblOffset val="100"/>
        <c:noMultiLvlLbl val="0"/>
      </c:catAx>
      <c:valAx>
        <c:axId val="444748000"/>
        <c:scaling>
          <c:orientation val="minMax"/>
        </c:scaling>
        <c:delete val="1"/>
        <c:axPos val="l"/>
        <c:numFmt formatCode="0" sourceLinked="1"/>
        <c:majorTickMark val="out"/>
        <c:minorTickMark val="none"/>
        <c:tickLblPos val="nextTo"/>
        <c:crossAx val="44474839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0">
                <a:latin typeface="Arial" panose="020B0604020202020204" pitchFamily="34" charset="0"/>
                <a:cs typeface="Arial" panose="020B0604020202020204" pitchFamily="34" charset="0"/>
              </a:defRPr>
            </a:pP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4K </a:t>
            </a:r>
            <a:r>
              <a:rPr lang="en-US" sz="1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30 decode </a:t>
            </a: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power - WQXGA Panel</a:t>
            </a:r>
          </a:p>
          <a:p>
            <a:pPr>
              <a:defRPr sz="1400" b="0">
                <a:latin typeface="Arial" panose="020B0604020202020204" pitchFamily="34" charset="0"/>
                <a:cs typeface="Arial" panose="020B0604020202020204" pitchFamily="34" charset="0"/>
              </a:defRPr>
            </a:pP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Power in</a:t>
            </a:r>
            <a:r>
              <a:rPr lang="en-US" sz="1400" b="0" baseline="0" dirty="0">
                <a:latin typeface="Arial" panose="020B0604020202020204" pitchFamily="34" charset="0"/>
                <a:cs typeface="Arial" panose="020B0604020202020204" pitchFamily="34" charset="0"/>
              </a:rPr>
              <a:t> mA @ Battery (3.7V)</a:t>
            </a:r>
            <a:endParaRPr lang="en-US" sz="1400" b="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0811023622047246"/>
          <c:y val="0.19480351414406533"/>
          <c:w val="0.84547189865729588"/>
          <c:h val="0.57620698454359875"/>
        </c:manualLayout>
      </c:layout>
      <c:lineChart>
        <c:grouping val="standard"/>
        <c:varyColors val="0"/>
        <c:ser>
          <c:idx val="0"/>
          <c:order val="0"/>
          <c:tx>
            <c:v>4K decode power - WQXGA Panel</c:v>
          </c:tx>
          <c:spPr>
            <a:ln w="50800">
              <a:solidFill>
                <a:schemeClr val="accent6">
                  <a:lumMod val="50000"/>
                </a:schemeClr>
              </a:solidFill>
              <a:prstDash val="sysDash"/>
              <a:tailEnd type="none" w="lg" len="lg"/>
            </a:ln>
          </c:spPr>
          <c:marker>
            <c:symbol val="diamond"/>
            <c:size val="14"/>
            <c:spPr>
              <a:solidFill>
                <a:schemeClr val="accent6">
                  <a:lumMod val="50000"/>
                </a:schemeClr>
              </a:solidFill>
            </c:spPr>
          </c:marker>
          <c:dLbls>
            <c:dLbl>
              <c:idx val="0"/>
              <c:layout>
                <c:manualLayout>
                  <c:x val="-8.3333333333333332E-3"/>
                  <c:y val="-2.77777777777777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1.3888888888888888E-2"/>
                  <c:y val="-2.31481481481481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1.9444444444444445E-2"/>
                  <c:y val="-2.31481481481481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1.6666666666666666E-2"/>
                  <c:y val="-3.24074074074074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'HT Power'!$G$56:$J$56</c:f>
              <c:strCache>
                <c:ptCount val="4"/>
                <c:pt idx="0">
                  <c:v>8994</c:v>
                </c:pt>
                <c:pt idx="1">
                  <c:v>8994 With DCVS</c:v>
                </c:pt>
                <c:pt idx="2">
                  <c:v>8996 With UBWC</c:v>
                </c:pt>
                <c:pt idx="3">
                  <c:v>8996 with UBWC+DCVS</c:v>
                </c:pt>
              </c:strCache>
            </c:strRef>
          </c:cat>
          <c:val>
            <c:numRef>
              <c:f>'HT Power'!$G$57:$J$57</c:f>
              <c:numCache>
                <c:formatCode>General</c:formatCode>
                <c:ptCount val="4"/>
                <c:pt idx="0">
                  <c:v>290</c:v>
                </c:pt>
                <c:pt idx="1">
                  <c:v>266</c:v>
                </c:pt>
                <c:pt idx="2">
                  <c:v>204</c:v>
                </c:pt>
                <c:pt idx="3">
                  <c:v>181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23609744"/>
        <c:axId val="423611312"/>
      </c:lineChart>
      <c:catAx>
        <c:axId val="42360974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423611312"/>
        <c:crosses val="autoZero"/>
        <c:auto val="1"/>
        <c:lblAlgn val="ctr"/>
        <c:lblOffset val="100"/>
        <c:noMultiLvlLbl val="0"/>
      </c:catAx>
      <c:valAx>
        <c:axId val="423611312"/>
        <c:scaling>
          <c:orientation val="minMax"/>
          <c:max val="320"/>
          <c:min val="14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423609744"/>
        <c:crosses val="autoZero"/>
        <c:crossBetween val="between"/>
      </c:valAx>
      <c:spPr>
        <a:ln>
          <a:solidFill>
            <a:schemeClr val="accent6">
              <a:lumMod val="50000"/>
            </a:schemeClr>
          </a:solidFill>
        </a:ln>
      </c:spPr>
    </c:plotArea>
    <c:plotVisOnly val="1"/>
    <c:dispBlanksAs val="gap"/>
    <c:showDLblsOverMax val="0"/>
  </c:chart>
  <c:externalData r:id="rId1">
    <c:autoUpdate val="0"/>
  </c:externalData>
  <c:userShapes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MDP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c:spPr>
          </c:dPt>
          <c:cat>
            <c:strRef>
              <c:f>Sheet1!$A$2:$A$4</c:f>
              <c:strCache>
                <c:ptCount val="3"/>
                <c:pt idx="0">
                  <c:v>Original</c:v>
                </c:pt>
                <c:pt idx="1">
                  <c:v>Downscale &amp; BWC</c:v>
                </c:pt>
                <c:pt idx="2">
                  <c:v>Apple A7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1441</c:v>
                </c:pt>
                <c:pt idx="1">
                  <c:v>185</c:v>
                </c:pt>
                <c:pt idx="2">
                  <c:v>1700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Video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Original</c:v>
                </c:pt>
                <c:pt idx="1">
                  <c:v>Downscale &amp; BWC</c:v>
                </c:pt>
                <c:pt idx="2">
                  <c:v>Apple A7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736</c:v>
                </c:pt>
                <c:pt idx="1">
                  <c:v>779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CPU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Original</c:v>
                </c:pt>
                <c:pt idx="1">
                  <c:v>Downscale &amp; BWC</c:v>
                </c:pt>
                <c:pt idx="2">
                  <c:v>Apple A7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106</c:v>
                </c:pt>
                <c:pt idx="1">
                  <c:v>95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Original</c:v>
                </c:pt>
                <c:pt idx="1">
                  <c:v>Downscale &amp; BWC</c:v>
                </c:pt>
                <c:pt idx="2">
                  <c:v>Apple A7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72</c:v>
                </c:pt>
                <c:pt idx="1">
                  <c:v>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4747216"/>
        <c:axId val="444746824"/>
      </c:barChart>
      <c:catAx>
        <c:axId val="444747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44746824"/>
        <c:crosses val="autoZero"/>
        <c:auto val="1"/>
        <c:lblAlgn val="ctr"/>
        <c:lblOffset val="100"/>
        <c:noMultiLvlLbl val="0"/>
      </c:catAx>
      <c:valAx>
        <c:axId val="444746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4747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1400"/>
            </a:pPr>
            <a:r>
              <a:rPr lang="en-US" dirty="0"/>
              <a:t>Decoder 1080p30 - Power </a:t>
            </a:r>
            <a:endParaRPr lang="en-US" dirty="0" smtClean="0"/>
          </a:p>
          <a:p>
            <a:pPr>
              <a:defRPr sz="1400"/>
            </a:pPr>
            <a:r>
              <a:rPr lang="en-US" dirty="0" smtClean="0"/>
              <a:t>(</a:t>
            </a:r>
            <a:r>
              <a:rPr lang="en-US" dirty="0"/>
              <a:t>mA at the battery 3.7V)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'HT Power'!$G$11</c:f>
              <c:strCache>
                <c:ptCount val="1"/>
                <c:pt idx="0">
                  <c:v>Decoder 1080p30 - Power (mA at the battery 3.7V)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ysClr val="windowText" lastClr="000000">
                  <a:lumMod val="85000"/>
                  <a:lumOff val="15000"/>
                </a:sysClr>
              </a:solidFill>
            </c:spPr>
          </c:dPt>
          <c:dPt>
            <c:idx val="4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5"/>
            <c:invertIfNegative val="0"/>
            <c:bubble3D val="0"/>
            <c:spPr>
              <a:solidFill>
                <a:schemeClr val="accent2"/>
              </a:solidFill>
            </c:spPr>
          </c:dPt>
          <c:dPt>
            <c:idx val="6"/>
            <c:invertIfNegative val="0"/>
            <c:bubble3D val="0"/>
            <c:spPr>
              <a:solidFill>
                <a:schemeClr val="accent2"/>
              </a:solidFill>
            </c:spPr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'HT Power'!$F$12:$F$18</c:f>
              <c:strCache>
                <c:ptCount val="7"/>
                <c:pt idx="0">
                  <c:v>A7 - iPhone 5s</c:v>
                </c:pt>
                <c:pt idx="1">
                  <c:v>8974 Pro-XPM</c:v>
                </c:pt>
                <c:pt idx="2">
                  <c:v>8974-Pro-55</c:v>
                </c:pt>
                <c:pt idx="3">
                  <c:v>Exynos-5422 - S5</c:v>
                </c:pt>
                <c:pt idx="4">
                  <c:v>Tegra4-Xiaomi MI3</c:v>
                </c:pt>
                <c:pt idx="5">
                  <c:v>8974 -Lumia 2520</c:v>
                </c:pt>
                <c:pt idx="6">
                  <c:v>Intel-BayTrail</c:v>
                </c:pt>
              </c:strCache>
            </c:strRef>
          </c:cat>
          <c:val>
            <c:numRef>
              <c:f>'HT Power'!$G$12:$G$18</c:f>
              <c:numCache>
                <c:formatCode>General</c:formatCode>
                <c:ptCount val="7"/>
                <c:pt idx="0">
                  <c:v>93</c:v>
                </c:pt>
                <c:pt idx="1">
                  <c:v>125</c:v>
                </c:pt>
                <c:pt idx="2">
                  <c:v>135</c:v>
                </c:pt>
                <c:pt idx="3">
                  <c:v>190</c:v>
                </c:pt>
                <c:pt idx="4">
                  <c:v>227</c:v>
                </c:pt>
                <c:pt idx="5">
                  <c:v>244</c:v>
                </c:pt>
                <c:pt idx="6">
                  <c:v>446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23608568"/>
        <c:axId val="423610136"/>
      </c:barChart>
      <c:catAx>
        <c:axId val="423608568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423610136"/>
        <c:crosses val="autoZero"/>
        <c:auto val="1"/>
        <c:lblAlgn val="ctr"/>
        <c:lblOffset val="100"/>
        <c:noMultiLvlLbl val="0"/>
      </c:catAx>
      <c:valAx>
        <c:axId val="423610136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423608568"/>
        <c:crosses val="autoZero"/>
        <c:crossBetween val="between"/>
      </c:valAx>
      <c:spPr>
        <a:ln>
          <a:solidFill>
            <a:schemeClr val="accent1"/>
          </a:solidFill>
        </a:ln>
      </c:spPr>
    </c:plotArea>
    <c:plotVisOnly val="1"/>
    <c:dispBlanksAs val="gap"/>
    <c:showDLblsOverMax val="0"/>
  </c:chart>
  <c:externalData r:id="rId2">
    <c:autoUpdate val="0"/>
  </c:externalData>
  <c:userShapes r:id="rId3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1400"/>
            </a:pPr>
            <a:r>
              <a:rPr lang="en-US" dirty="0"/>
              <a:t>Decoder 4K30 - Power </a:t>
            </a:r>
            <a:endParaRPr lang="en-US" dirty="0" smtClean="0"/>
          </a:p>
          <a:p>
            <a:pPr>
              <a:defRPr sz="1400"/>
            </a:pPr>
            <a:r>
              <a:rPr lang="en-US" dirty="0" smtClean="0"/>
              <a:t>(</a:t>
            </a:r>
            <a:r>
              <a:rPr lang="en-US" dirty="0"/>
              <a:t>mA at the battery 3.7V)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'HT Power'!$G$23</c:f>
              <c:strCache>
                <c:ptCount val="1"/>
                <c:pt idx="0">
                  <c:v>Decoder 4K30 - Power (mA at the battery 3.7V)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ysClr val="windowText" lastClr="000000">
                  <a:lumMod val="85000"/>
                  <a:lumOff val="15000"/>
                </a:sysClr>
              </a:solidFill>
            </c:spPr>
          </c:dPt>
          <c:dPt>
            <c:idx val="5"/>
            <c:invertIfNegative val="0"/>
            <c:bubble3D val="0"/>
            <c:spPr>
              <a:solidFill>
                <a:schemeClr val="accent2"/>
              </a:solidFill>
            </c:spPr>
          </c:dPt>
          <c:dPt>
            <c:idx val="6"/>
            <c:invertIfNegative val="0"/>
            <c:bubble3D val="0"/>
            <c:spPr>
              <a:solidFill>
                <a:schemeClr val="accent2"/>
              </a:solidFill>
            </c:spPr>
          </c:dPt>
          <c:dLbls>
            <c:dLbl>
              <c:idx val="0"/>
              <c:layout>
                <c:manualLayout>
                  <c:x val="-1.9205056827561524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'HT Power'!$F$24:$F$30</c:f>
              <c:strCache>
                <c:ptCount val="7"/>
                <c:pt idx="0">
                  <c:v>A7</c:v>
                </c:pt>
                <c:pt idx="1">
                  <c:v>8974 Pro -XPM</c:v>
                </c:pt>
                <c:pt idx="2">
                  <c:v>8974-Pro-55</c:v>
                </c:pt>
                <c:pt idx="3">
                  <c:v>Exynos-5422 - S5</c:v>
                </c:pt>
                <c:pt idx="4">
                  <c:v>Tegra4-Xiaomi MI3</c:v>
                </c:pt>
                <c:pt idx="5">
                  <c:v>8974-Windows Liquid</c:v>
                </c:pt>
                <c:pt idx="6">
                  <c:v>Intel-BayTrail</c:v>
                </c:pt>
              </c:strCache>
            </c:strRef>
          </c:cat>
          <c:val>
            <c:numRef>
              <c:f>'HT Power'!$G$24:$G$30</c:f>
              <c:numCache>
                <c:formatCode>General</c:formatCode>
                <c:ptCount val="7"/>
                <c:pt idx="0">
                  <c:v>190</c:v>
                </c:pt>
                <c:pt idx="1">
                  <c:v>310</c:v>
                </c:pt>
                <c:pt idx="2">
                  <c:v>345</c:v>
                </c:pt>
                <c:pt idx="3">
                  <c:v>322</c:v>
                </c:pt>
                <c:pt idx="4">
                  <c:v>543</c:v>
                </c:pt>
                <c:pt idx="5">
                  <c:v>390</c:v>
                </c:pt>
                <c:pt idx="6">
                  <c:v>619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23609352"/>
        <c:axId val="423610528"/>
      </c:barChart>
      <c:catAx>
        <c:axId val="4236093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423610528"/>
        <c:crosses val="autoZero"/>
        <c:auto val="1"/>
        <c:lblAlgn val="ctr"/>
        <c:lblOffset val="100"/>
        <c:noMultiLvlLbl val="0"/>
      </c:catAx>
      <c:valAx>
        <c:axId val="42361052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423609352"/>
        <c:crosses val="autoZero"/>
        <c:crossBetween val="between"/>
      </c:valAx>
      <c:spPr>
        <a:ln>
          <a:solidFill>
            <a:schemeClr val="accent1"/>
          </a:solidFill>
        </a:ln>
      </c:spPr>
    </c:plotArea>
    <c:plotVisOnly val="1"/>
    <c:dispBlanksAs val="gap"/>
    <c:showDLblsOverMax val="0"/>
  </c:chart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D14F61-1054-464C-AF5A-85555DB3528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8281606-4EDD-4DB8-82BA-00CE9DC86332}">
      <dgm:prSet phldrT="[Text]"/>
      <dgm:spPr/>
      <dgm:t>
        <a:bodyPr/>
        <a:lstStyle/>
        <a:p>
          <a:r>
            <a:rPr lang="en-US" dirty="0" smtClean="0"/>
            <a:t>Video</a:t>
          </a:r>
          <a:endParaRPr lang="en-US" dirty="0"/>
        </a:p>
      </dgm:t>
    </dgm:pt>
    <dgm:pt modelId="{C75997C0-E3D7-4064-BC5B-CD6072558DC2}" type="parTrans" cxnId="{B37D1B52-72DF-48F1-8EA0-B0E3C7670E5A}">
      <dgm:prSet/>
      <dgm:spPr/>
      <dgm:t>
        <a:bodyPr/>
        <a:lstStyle/>
        <a:p>
          <a:endParaRPr lang="en-US"/>
        </a:p>
      </dgm:t>
    </dgm:pt>
    <dgm:pt modelId="{EF7CE777-4439-4E44-89E9-DAA58027279A}" type="sibTrans" cxnId="{B37D1B52-72DF-48F1-8EA0-B0E3C7670E5A}">
      <dgm:prSet/>
      <dgm:spPr/>
      <dgm:t>
        <a:bodyPr/>
        <a:lstStyle/>
        <a:p>
          <a:r>
            <a:rPr lang="en-US" dirty="0" smtClean="0"/>
            <a:t>VP</a:t>
          </a:r>
          <a:endParaRPr lang="en-US" dirty="0"/>
        </a:p>
      </dgm:t>
    </dgm:pt>
    <dgm:pt modelId="{2443A874-FAF8-492F-91A2-1F1B5C77D6CA}">
      <dgm:prSet phldrT="[Text]"/>
      <dgm:spPr/>
      <dgm:t>
        <a:bodyPr/>
        <a:lstStyle/>
        <a:p>
          <a:pPr>
            <a:lnSpc>
              <a:spcPct val="70000"/>
            </a:lnSpc>
          </a:pPr>
          <a:r>
            <a:rPr lang="en-US" dirty="0" smtClean="0"/>
            <a:t>Algorithm &amp; System Team</a:t>
          </a:r>
          <a:endParaRPr lang="en-US" dirty="0"/>
        </a:p>
      </dgm:t>
    </dgm:pt>
    <dgm:pt modelId="{0BC1C973-D22B-4B18-A5CA-8E0AE9C9078E}" type="parTrans" cxnId="{E11B9A12-E077-4569-B09A-AC29CCA99527}">
      <dgm:prSet/>
      <dgm:spPr/>
      <dgm:t>
        <a:bodyPr/>
        <a:lstStyle/>
        <a:p>
          <a:endParaRPr lang="en-US"/>
        </a:p>
      </dgm:t>
    </dgm:pt>
    <dgm:pt modelId="{8801F7F6-C04C-4A81-84DB-C3B16FC7406D}" type="sibTrans" cxnId="{E11B9A12-E077-4569-B09A-AC29CCA99527}">
      <dgm:prSet/>
      <dgm:spPr/>
      <dgm:t>
        <a:bodyPr/>
        <a:lstStyle/>
        <a:p>
          <a:r>
            <a:rPr lang="en-US" dirty="0" smtClean="0"/>
            <a:t>Director, &gt;30</a:t>
          </a:r>
          <a:endParaRPr lang="en-US" dirty="0"/>
        </a:p>
      </dgm:t>
    </dgm:pt>
    <dgm:pt modelId="{46883E8F-99BD-4815-83FF-2979591EF10A}">
      <dgm:prSet phldrT="[Text]"/>
      <dgm:spPr/>
      <dgm:t>
        <a:bodyPr/>
        <a:lstStyle/>
        <a:p>
          <a:r>
            <a:rPr lang="en-US" dirty="0" smtClean="0"/>
            <a:t>HW Team</a:t>
          </a:r>
          <a:endParaRPr lang="en-US" dirty="0"/>
        </a:p>
      </dgm:t>
    </dgm:pt>
    <dgm:pt modelId="{49130707-924F-4F9D-B626-A5AE69500E54}" type="parTrans" cxnId="{3BE3DB70-FAD7-4E7B-AC03-3192ED615278}">
      <dgm:prSet/>
      <dgm:spPr/>
      <dgm:t>
        <a:bodyPr/>
        <a:lstStyle/>
        <a:p>
          <a:endParaRPr lang="en-US"/>
        </a:p>
      </dgm:t>
    </dgm:pt>
    <dgm:pt modelId="{4EB98DB1-B872-44BF-9F27-48FCE1BBACB6}" type="sibTrans" cxnId="{3BE3DB70-FAD7-4E7B-AC03-3192ED615278}">
      <dgm:prSet/>
      <dgm:spPr/>
      <dgm:t>
        <a:bodyPr/>
        <a:lstStyle/>
        <a:p>
          <a:r>
            <a:rPr lang="en-US" dirty="0" smtClean="0"/>
            <a:t>Director, ~30</a:t>
          </a:r>
          <a:endParaRPr lang="en-US" dirty="0"/>
        </a:p>
      </dgm:t>
    </dgm:pt>
    <dgm:pt modelId="{E157557E-BB54-4F62-927B-97030F04E162}">
      <dgm:prSet phldrT="[Text]"/>
      <dgm:spPr/>
      <dgm:t>
        <a:bodyPr/>
        <a:lstStyle/>
        <a:p>
          <a:r>
            <a:rPr lang="en-US" dirty="0" smtClean="0"/>
            <a:t>DV Team</a:t>
          </a:r>
          <a:endParaRPr lang="en-US" dirty="0"/>
        </a:p>
      </dgm:t>
    </dgm:pt>
    <dgm:pt modelId="{BECF9B03-E789-4894-B442-C1B5EE7E0F03}" type="parTrans" cxnId="{87E276AA-0D18-444B-90F0-0360A131A470}">
      <dgm:prSet/>
      <dgm:spPr/>
      <dgm:t>
        <a:bodyPr/>
        <a:lstStyle/>
        <a:p>
          <a:endParaRPr lang="en-US"/>
        </a:p>
      </dgm:t>
    </dgm:pt>
    <dgm:pt modelId="{EC44D130-6F2D-4CFD-B843-9644E43FE90A}" type="sibTrans" cxnId="{87E276AA-0D18-444B-90F0-0360A131A470}">
      <dgm:prSet/>
      <dgm:spPr/>
      <dgm:t>
        <a:bodyPr/>
        <a:lstStyle/>
        <a:p>
          <a:r>
            <a:rPr lang="en-US" dirty="0" smtClean="0"/>
            <a:t>Director, ~40</a:t>
          </a:r>
          <a:endParaRPr lang="en-US" dirty="0"/>
        </a:p>
      </dgm:t>
    </dgm:pt>
    <dgm:pt modelId="{FFF0C540-006A-45DE-9A6A-27F0D721BCA9}">
      <dgm:prSet phldrT="[Text]"/>
      <dgm:spPr/>
      <dgm:t>
        <a:bodyPr/>
        <a:lstStyle/>
        <a:p>
          <a:r>
            <a:rPr lang="en-US" dirty="0" smtClean="0"/>
            <a:t>SW/FW Team</a:t>
          </a:r>
          <a:endParaRPr lang="en-US" dirty="0"/>
        </a:p>
      </dgm:t>
    </dgm:pt>
    <dgm:pt modelId="{F2F0ECB4-B753-4AFF-B359-C6E37821940C}" type="parTrans" cxnId="{07B1B821-E251-4359-9B21-C1AB0647EB3B}">
      <dgm:prSet/>
      <dgm:spPr/>
      <dgm:t>
        <a:bodyPr/>
        <a:lstStyle/>
        <a:p>
          <a:endParaRPr lang="en-US"/>
        </a:p>
      </dgm:t>
    </dgm:pt>
    <dgm:pt modelId="{2C7CC42C-6C92-4CCB-ADD4-5B33A9DC0512}" type="sibTrans" cxnId="{07B1B821-E251-4359-9B21-C1AB0647EB3B}">
      <dgm:prSet/>
      <dgm:spPr/>
      <dgm:t>
        <a:bodyPr/>
        <a:lstStyle/>
        <a:p>
          <a:r>
            <a:rPr lang="en-US" dirty="0" smtClean="0"/>
            <a:t>Director, ~50</a:t>
          </a:r>
          <a:endParaRPr lang="en-US" dirty="0"/>
        </a:p>
      </dgm:t>
    </dgm:pt>
    <dgm:pt modelId="{890B740A-00F9-433E-BA02-ABE2026415E9}" type="pres">
      <dgm:prSet presAssocID="{5ED14F61-1054-464C-AF5A-85555DB3528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61C5C8C-050A-4298-913C-839B888A5011}" type="pres">
      <dgm:prSet presAssocID="{18281606-4EDD-4DB8-82BA-00CE9DC86332}" presName="hierRoot1" presStyleCnt="0">
        <dgm:presLayoutVars>
          <dgm:hierBranch val="init"/>
        </dgm:presLayoutVars>
      </dgm:prSet>
      <dgm:spPr/>
    </dgm:pt>
    <dgm:pt modelId="{CDD9BB89-BAF2-4B32-B5D2-6E263CE9383B}" type="pres">
      <dgm:prSet presAssocID="{18281606-4EDD-4DB8-82BA-00CE9DC86332}" presName="rootComposite1" presStyleCnt="0"/>
      <dgm:spPr/>
    </dgm:pt>
    <dgm:pt modelId="{A7664DF4-97F2-49A8-8564-6FDA49054DC0}" type="pres">
      <dgm:prSet presAssocID="{18281606-4EDD-4DB8-82BA-00CE9DC86332}" presName="rootText1" presStyleLbl="node0" presStyleIdx="0" presStyleCnt="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66E638EE-7BFF-4567-A73F-51C4D5A9A975}" type="pres">
      <dgm:prSet presAssocID="{18281606-4EDD-4DB8-82BA-00CE9DC86332}" presName="titleText1" presStyleLbl="fgAcc0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BE13636C-9A2B-4159-9C6D-C3DDE5F9992D}" type="pres">
      <dgm:prSet presAssocID="{18281606-4EDD-4DB8-82BA-00CE9DC86332}" presName="rootConnector1" presStyleLbl="node1" presStyleIdx="0" presStyleCnt="4"/>
      <dgm:spPr/>
      <dgm:t>
        <a:bodyPr/>
        <a:lstStyle/>
        <a:p>
          <a:endParaRPr lang="en-US"/>
        </a:p>
      </dgm:t>
    </dgm:pt>
    <dgm:pt modelId="{EC70055E-E1C3-42A4-ADDD-AF8B36B878AB}" type="pres">
      <dgm:prSet presAssocID="{18281606-4EDD-4DB8-82BA-00CE9DC86332}" presName="hierChild2" presStyleCnt="0"/>
      <dgm:spPr/>
    </dgm:pt>
    <dgm:pt modelId="{E5180351-6B34-4AA6-92E5-460AD5E776FE}" type="pres">
      <dgm:prSet presAssocID="{0BC1C973-D22B-4B18-A5CA-8E0AE9C9078E}" presName="Name37" presStyleLbl="parChTrans1D2" presStyleIdx="0" presStyleCnt="4"/>
      <dgm:spPr/>
      <dgm:t>
        <a:bodyPr/>
        <a:lstStyle/>
        <a:p>
          <a:endParaRPr lang="en-US"/>
        </a:p>
      </dgm:t>
    </dgm:pt>
    <dgm:pt modelId="{827260A7-3F27-43F5-B7BB-24D91F87B051}" type="pres">
      <dgm:prSet presAssocID="{2443A874-FAF8-492F-91A2-1F1B5C77D6CA}" presName="hierRoot2" presStyleCnt="0">
        <dgm:presLayoutVars>
          <dgm:hierBranch val="init"/>
        </dgm:presLayoutVars>
      </dgm:prSet>
      <dgm:spPr/>
    </dgm:pt>
    <dgm:pt modelId="{2E6EF123-B679-422A-BB29-610B179A06E6}" type="pres">
      <dgm:prSet presAssocID="{2443A874-FAF8-492F-91A2-1F1B5C77D6CA}" presName="rootComposite" presStyleCnt="0"/>
      <dgm:spPr/>
    </dgm:pt>
    <dgm:pt modelId="{CC086781-CDA2-4079-B910-53FA88238751}" type="pres">
      <dgm:prSet presAssocID="{2443A874-FAF8-492F-91A2-1F1B5C77D6CA}" presName="rootText" presStyleLbl="node1" presStyleIdx="0" presStyleCnt="4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474DA239-34D5-4A74-8C69-CFE9D170ACE3}" type="pres">
      <dgm:prSet presAssocID="{2443A874-FAF8-492F-91A2-1F1B5C77D6CA}" presName="titleText2" presStyleLbl="fgAcc1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173C0E98-179D-4917-B551-170716CB3744}" type="pres">
      <dgm:prSet presAssocID="{2443A874-FAF8-492F-91A2-1F1B5C77D6CA}" presName="rootConnector" presStyleLbl="node2" presStyleIdx="0" presStyleCnt="0"/>
      <dgm:spPr/>
      <dgm:t>
        <a:bodyPr/>
        <a:lstStyle/>
        <a:p>
          <a:endParaRPr lang="en-US"/>
        </a:p>
      </dgm:t>
    </dgm:pt>
    <dgm:pt modelId="{57DBD740-4EDD-4109-BF48-4566E118ADB2}" type="pres">
      <dgm:prSet presAssocID="{2443A874-FAF8-492F-91A2-1F1B5C77D6CA}" presName="hierChild4" presStyleCnt="0"/>
      <dgm:spPr/>
    </dgm:pt>
    <dgm:pt modelId="{10D2D497-5AD3-4AAC-B448-BC72DB34ED53}" type="pres">
      <dgm:prSet presAssocID="{2443A874-FAF8-492F-91A2-1F1B5C77D6CA}" presName="hierChild5" presStyleCnt="0"/>
      <dgm:spPr/>
    </dgm:pt>
    <dgm:pt modelId="{578CB71A-9A39-48A8-9085-2CC5E29C7367}" type="pres">
      <dgm:prSet presAssocID="{49130707-924F-4F9D-B626-A5AE69500E54}" presName="Name37" presStyleLbl="parChTrans1D2" presStyleIdx="1" presStyleCnt="4"/>
      <dgm:spPr/>
      <dgm:t>
        <a:bodyPr/>
        <a:lstStyle/>
        <a:p>
          <a:endParaRPr lang="en-US"/>
        </a:p>
      </dgm:t>
    </dgm:pt>
    <dgm:pt modelId="{A32E8F00-F3EE-4640-837C-8AC84DE0A468}" type="pres">
      <dgm:prSet presAssocID="{46883E8F-99BD-4815-83FF-2979591EF10A}" presName="hierRoot2" presStyleCnt="0">
        <dgm:presLayoutVars>
          <dgm:hierBranch val="init"/>
        </dgm:presLayoutVars>
      </dgm:prSet>
      <dgm:spPr/>
    </dgm:pt>
    <dgm:pt modelId="{8425DD3A-BC61-4051-BA39-6E4361BFC0EA}" type="pres">
      <dgm:prSet presAssocID="{46883E8F-99BD-4815-83FF-2979591EF10A}" presName="rootComposite" presStyleCnt="0"/>
      <dgm:spPr/>
    </dgm:pt>
    <dgm:pt modelId="{43C0AB82-A8C9-4466-96A8-700F09D832D3}" type="pres">
      <dgm:prSet presAssocID="{46883E8F-99BD-4815-83FF-2979591EF10A}" presName="rootText" presStyleLbl="node1" presStyleIdx="1" presStyleCnt="4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E9F56F7D-369C-4BCA-AE02-504D9C7486E6}" type="pres">
      <dgm:prSet presAssocID="{46883E8F-99BD-4815-83FF-2979591EF10A}" presName="titleText2" presStyleLbl="fgAcc1" presStyleIdx="1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88056E8D-E2BB-45E3-8AF3-295BEC7A56FB}" type="pres">
      <dgm:prSet presAssocID="{46883E8F-99BD-4815-83FF-2979591EF10A}" presName="rootConnector" presStyleLbl="node2" presStyleIdx="0" presStyleCnt="0"/>
      <dgm:spPr/>
      <dgm:t>
        <a:bodyPr/>
        <a:lstStyle/>
        <a:p>
          <a:endParaRPr lang="en-US"/>
        </a:p>
      </dgm:t>
    </dgm:pt>
    <dgm:pt modelId="{187B4E04-9EE6-4C4D-BB48-0FBF559BC483}" type="pres">
      <dgm:prSet presAssocID="{46883E8F-99BD-4815-83FF-2979591EF10A}" presName="hierChild4" presStyleCnt="0"/>
      <dgm:spPr/>
    </dgm:pt>
    <dgm:pt modelId="{B45DED4C-3C45-4D5C-9594-77DBA76A843A}" type="pres">
      <dgm:prSet presAssocID="{46883E8F-99BD-4815-83FF-2979591EF10A}" presName="hierChild5" presStyleCnt="0"/>
      <dgm:spPr/>
    </dgm:pt>
    <dgm:pt modelId="{429469C5-B904-4913-98FE-E6095758CB2F}" type="pres">
      <dgm:prSet presAssocID="{BECF9B03-E789-4894-B442-C1B5EE7E0F03}" presName="Name37" presStyleLbl="parChTrans1D2" presStyleIdx="2" presStyleCnt="4"/>
      <dgm:spPr/>
      <dgm:t>
        <a:bodyPr/>
        <a:lstStyle/>
        <a:p>
          <a:endParaRPr lang="en-US"/>
        </a:p>
      </dgm:t>
    </dgm:pt>
    <dgm:pt modelId="{38DE0B6E-8639-478C-81DA-262DF296EAE2}" type="pres">
      <dgm:prSet presAssocID="{E157557E-BB54-4F62-927B-97030F04E162}" presName="hierRoot2" presStyleCnt="0">
        <dgm:presLayoutVars>
          <dgm:hierBranch val="init"/>
        </dgm:presLayoutVars>
      </dgm:prSet>
      <dgm:spPr/>
    </dgm:pt>
    <dgm:pt modelId="{8461A284-3129-47DA-BF5F-B24760AA345E}" type="pres">
      <dgm:prSet presAssocID="{E157557E-BB54-4F62-927B-97030F04E162}" presName="rootComposite" presStyleCnt="0"/>
      <dgm:spPr/>
    </dgm:pt>
    <dgm:pt modelId="{C4946B25-92EE-4BC2-9BC3-C3BA521E1DF0}" type="pres">
      <dgm:prSet presAssocID="{E157557E-BB54-4F62-927B-97030F04E162}" presName="rootText" presStyleLbl="node1" presStyleIdx="2" presStyleCnt="4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4DFDA536-790B-4983-8713-7F2A346BD6B2}" type="pres">
      <dgm:prSet presAssocID="{E157557E-BB54-4F62-927B-97030F04E162}" presName="titleText2" presStyleLbl="fgAcc1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4636020-8E24-441E-84BB-0B3E8C7F3B83}" type="pres">
      <dgm:prSet presAssocID="{E157557E-BB54-4F62-927B-97030F04E162}" presName="rootConnector" presStyleLbl="node2" presStyleIdx="0" presStyleCnt="0"/>
      <dgm:spPr/>
      <dgm:t>
        <a:bodyPr/>
        <a:lstStyle/>
        <a:p>
          <a:endParaRPr lang="en-US"/>
        </a:p>
      </dgm:t>
    </dgm:pt>
    <dgm:pt modelId="{A14F07BC-D2B8-46E1-A776-6D71E57D3537}" type="pres">
      <dgm:prSet presAssocID="{E157557E-BB54-4F62-927B-97030F04E162}" presName="hierChild4" presStyleCnt="0"/>
      <dgm:spPr/>
    </dgm:pt>
    <dgm:pt modelId="{FB1B1207-6007-42DB-8F55-1190614100EE}" type="pres">
      <dgm:prSet presAssocID="{E157557E-BB54-4F62-927B-97030F04E162}" presName="hierChild5" presStyleCnt="0"/>
      <dgm:spPr/>
    </dgm:pt>
    <dgm:pt modelId="{11BE4E42-F190-4B86-AA0A-F115848EB73D}" type="pres">
      <dgm:prSet presAssocID="{F2F0ECB4-B753-4AFF-B359-C6E37821940C}" presName="Name37" presStyleLbl="parChTrans1D2" presStyleIdx="3" presStyleCnt="4"/>
      <dgm:spPr/>
      <dgm:t>
        <a:bodyPr/>
        <a:lstStyle/>
        <a:p>
          <a:endParaRPr lang="en-US"/>
        </a:p>
      </dgm:t>
    </dgm:pt>
    <dgm:pt modelId="{92E758D2-375B-4235-9A33-72D7C2D45FF1}" type="pres">
      <dgm:prSet presAssocID="{FFF0C540-006A-45DE-9A6A-27F0D721BCA9}" presName="hierRoot2" presStyleCnt="0">
        <dgm:presLayoutVars>
          <dgm:hierBranch val="init"/>
        </dgm:presLayoutVars>
      </dgm:prSet>
      <dgm:spPr/>
    </dgm:pt>
    <dgm:pt modelId="{2F7FF4F4-CDCA-4912-8650-F6A2B926ED5C}" type="pres">
      <dgm:prSet presAssocID="{FFF0C540-006A-45DE-9A6A-27F0D721BCA9}" presName="rootComposite" presStyleCnt="0"/>
      <dgm:spPr/>
    </dgm:pt>
    <dgm:pt modelId="{98551F98-23B3-4F31-8167-8FC4F68C486D}" type="pres">
      <dgm:prSet presAssocID="{FFF0C540-006A-45DE-9A6A-27F0D721BCA9}" presName="rootText" presStyleLbl="node1" presStyleIdx="3" presStyleCnt="4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E6ABAA20-6DD7-4D23-B355-4221CD1C3406}" type="pres">
      <dgm:prSet presAssocID="{FFF0C540-006A-45DE-9A6A-27F0D721BCA9}" presName="titleText2" presStyleLbl="fgAcc1" presStyleIdx="3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2E5360D2-E96D-4FBE-B368-36BE29D9E210}" type="pres">
      <dgm:prSet presAssocID="{FFF0C540-006A-45DE-9A6A-27F0D721BCA9}" presName="rootConnector" presStyleLbl="node2" presStyleIdx="0" presStyleCnt="0"/>
      <dgm:spPr/>
      <dgm:t>
        <a:bodyPr/>
        <a:lstStyle/>
        <a:p>
          <a:endParaRPr lang="en-US"/>
        </a:p>
      </dgm:t>
    </dgm:pt>
    <dgm:pt modelId="{B46C3626-8710-48E4-9387-A07D50FF9E8B}" type="pres">
      <dgm:prSet presAssocID="{FFF0C540-006A-45DE-9A6A-27F0D721BCA9}" presName="hierChild4" presStyleCnt="0"/>
      <dgm:spPr/>
    </dgm:pt>
    <dgm:pt modelId="{CF0D6141-B7D8-4C56-998F-994AC79A8F2A}" type="pres">
      <dgm:prSet presAssocID="{FFF0C540-006A-45DE-9A6A-27F0D721BCA9}" presName="hierChild5" presStyleCnt="0"/>
      <dgm:spPr/>
    </dgm:pt>
    <dgm:pt modelId="{B422BA7B-DA07-4227-9A29-9004FFB4210B}" type="pres">
      <dgm:prSet presAssocID="{18281606-4EDD-4DB8-82BA-00CE9DC86332}" presName="hierChild3" presStyleCnt="0"/>
      <dgm:spPr/>
    </dgm:pt>
  </dgm:ptLst>
  <dgm:cxnLst>
    <dgm:cxn modelId="{3BE3DB70-FAD7-4E7B-AC03-3192ED615278}" srcId="{18281606-4EDD-4DB8-82BA-00CE9DC86332}" destId="{46883E8F-99BD-4815-83FF-2979591EF10A}" srcOrd="1" destOrd="0" parTransId="{49130707-924F-4F9D-B626-A5AE69500E54}" sibTransId="{4EB98DB1-B872-44BF-9F27-48FCE1BBACB6}"/>
    <dgm:cxn modelId="{A5FAE39A-3A29-4AA3-8DD8-4BA14FB0EE5A}" type="presOf" srcId="{FFF0C540-006A-45DE-9A6A-27F0D721BCA9}" destId="{2E5360D2-E96D-4FBE-B368-36BE29D9E210}" srcOrd="1" destOrd="0" presId="urn:microsoft.com/office/officeart/2008/layout/NameandTitleOrganizationalChart"/>
    <dgm:cxn modelId="{B37D1B52-72DF-48F1-8EA0-B0E3C7670E5A}" srcId="{5ED14F61-1054-464C-AF5A-85555DB3528A}" destId="{18281606-4EDD-4DB8-82BA-00CE9DC86332}" srcOrd="0" destOrd="0" parTransId="{C75997C0-E3D7-4064-BC5B-CD6072558DC2}" sibTransId="{EF7CE777-4439-4E44-89E9-DAA58027279A}"/>
    <dgm:cxn modelId="{7CC2D56D-FAAD-4EE7-A753-EE446BFE0F3E}" type="presOf" srcId="{46883E8F-99BD-4815-83FF-2979591EF10A}" destId="{88056E8D-E2BB-45E3-8AF3-295BEC7A56FB}" srcOrd="1" destOrd="0" presId="urn:microsoft.com/office/officeart/2008/layout/NameandTitleOrganizationalChart"/>
    <dgm:cxn modelId="{9E467FDC-5562-408A-9658-47C591975988}" type="presOf" srcId="{E157557E-BB54-4F62-927B-97030F04E162}" destId="{C4946B25-92EE-4BC2-9BC3-C3BA521E1DF0}" srcOrd="0" destOrd="0" presId="urn:microsoft.com/office/officeart/2008/layout/NameandTitleOrganizationalChart"/>
    <dgm:cxn modelId="{07B1B821-E251-4359-9B21-C1AB0647EB3B}" srcId="{18281606-4EDD-4DB8-82BA-00CE9DC86332}" destId="{FFF0C540-006A-45DE-9A6A-27F0D721BCA9}" srcOrd="3" destOrd="0" parTransId="{F2F0ECB4-B753-4AFF-B359-C6E37821940C}" sibTransId="{2C7CC42C-6C92-4CCB-ADD4-5B33A9DC0512}"/>
    <dgm:cxn modelId="{2644238E-7EC4-4E17-ADF3-9940FCAC093E}" type="presOf" srcId="{8801F7F6-C04C-4A81-84DB-C3B16FC7406D}" destId="{474DA239-34D5-4A74-8C69-CFE9D170ACE3}" srcOrd="0" destOrd="0" presId="urn:microsoft.com/office/officeart/2008/layout/NameandTitleOrganizationalChart"/>
    <dgm:cxn modelId="{87AA25A7-6749-499C-A44C-6846597B7C5D}" type="presOf" srcId="{4EB98DB1-B872-44BF-9F27-48FCE1BBACB6}" destId="{E9F56F7D-369C-4BCA-AE02-504D9C7486E6}" srcOrd="0" destOrd="0" presId="urn:microsoft.com/office/officeart/2008/layout/NameandTitleOrganizationalChart"/>
    <dgm:cxn modelId="{943A8AEB-4524-409B-A8A5-A61D09AFEB38}" type="presOf" srcId="{2443A874-FAF8-492F-91A2-1F1B5C77D6CA}" destId="{173C0E98-179D-4917-B551-170716CB3744}" srcOrd="1" destOrd="0" presId="urn:microsoft.com/office/officeart/2008/layout/NameandTitleOrganizationalChart"/>
    <dgm:cxn modelId="{DD5DEB6B-B04B-465B-95AD-45562D97E551}" type="presOf" srcId="{E157557E-BB54-4F62-927B-97030F04E162}" destId="{C4636020-8E24-441E-84BB-0B3E8C7F3B83}" srcOrd="1" destOrd="0" presId="urn:microsoft.com/office/officeart/2008/layout/NameandTitleOrganizationalChart"/>
    <dgm:cxn modelId="{D86C6818-6878-4B73-A755-D45C6C58E1B1}" type="presOf" srcId="{FFF0C540-006A-45DE-9A6A-27F0D721BCA9}" destId="{98551F98-23B3-4F31-8167-8FC4F68C486D}" srcOrd="0" destOrd="0" presId="urn:microsoft.com/office/officeart/2008/layout/NameandTitleOrganizationalChart"/>
    <dgm:cxn modelId="{965AFC64-CA99-4F84-97A9-7E7C1EAF8B59}" type="presOf" srcId="{49130707-924F-4F9D-B626-A5AE69500E54}" destId="{578CB71A-9A39-48A8-9085-2CC5E29C7367}" srcOrd="0" destOrd="0" presId="urn:microsoft.com/office/officeart/2008/layout/NameandTitleOrganizationalChart"/>
    <dgm:cxn modelId="{1B16B301-4F77-4D64-97FC-F0E2E74046DD}" type="presOf" srcId="{EF7CE777-4439-4E44-89E9-DAA58027279A}" destId="{66E638EE-7BFF-4567-A73F-51C4D5A9A975}" srcOrd="0" destOrd="0" presId="urn:microsoft.com/office/officeart/2008/layout/NameandTitleOrganizationalChart"/>
    <dgm:cxn modelId="{013338FA-950E-4AB4-A2F8-C6CC69FE77C9}" type="presOf" srcId="{BECF9B03-E789-4894-B442-C1B5EE7E0F03}" destId="{429469C5-B904-4913-98FE-E6095758CB2F}" srcOrd="0" destOrd="0" presId="urn:microsoft.com/office/officeart/2008/layout/NameandTitleOrganizationalChart"/>
    <dgm:cxn modelId="{E11B9A12-E077-4569-B09A-AC29CCA99527}" srcId="{18281606-4EDD-4DB8-82BA-00CE9DC86332}" destId="{2443A874-FAF8-492F-91A2-1F1B5C77D6CA}" srcOrd="0" destOrd="0" parTransId="{0BC1C973-D22B-4B18-A5CA-8E0AE9C9078E}" sibTransId="{8801F7F6-C04C-4A81-84DB-C3B16FC7406D}"/>
    <dgm:cxn modelId="{6AB6C618-67F3-4126-B428-2963B3DDB1C6}" type="presOf" srcId="{F2F0ECB4-B753-4AFF-B359-C6E37821940C}" destId="{11BE4E42-F190-4B86-AA0A-F115848EB73D}" srcOrd="0" destOrd="0" presId="urn:microsoft.com/office/officeart/2008/layout/NameandTitleOrganizationalChart"/>
    <dgm:cxn modelId="{A041CC70-BA98-4D1B-B345-311AB6D3EBFD}" type="presOf" srcId="{2C7CC42C-6C92-4CCB-ADD4-5B33A9DC0512}" destId="{E6ABAA20-6DD7-4D23-B355-4221CD1C3406}" srcOrd="0" destOrd="0" presId="urn:microsoft.com/office/officeart/2008/layout/NameandTitleOrganizationalChart"/>
    <dgm:cxn modelId="{5884A1B9-4517-4413-9C16-4C438CC605A7}" type="presOf" srcId="{18281606-4EDD-4DB8-82BA-00CE9DC86332}" destId="{BE13636C-9A2B-4159-9C6D-C3DDE5F9992D}" srcOrd="1" destOrd="0" presId="urn:microsoft.com/office/officeart/2008/layout/NameandTitleOrganizationalChart"/>
    <dgm:cxn modelId="{994A23A2-274F-4733-8C66-B7F8D95C9A73}" type="presOf" srcId="{18281606-4EDD-4DB8-82BA-00CE9DC86332}" destId="{A7664DF4-97F2-49A8-8564-6FDA49054DC0}" srcOrd="0" destOrd="0" presId="urn:microsoft.com/office/officeart/2008/layout/NameandTitleOrganizationalChart"/>
    <dgm:cxn modelId="{19B602E9-F97B-4CAE-B750-B7261B75F04A}" type="presOf" srcId="{46883E8F-99BD-4815-83FF-2979591EF10A}" destId="{43C0AB82-A8C9-4466-96A8-700F09D832D3}" srcOrd="0" destOrd="0" presId="urn:microsoft.com/office/officeart/2008/layout/NameandTitleOrganizationalChart"/>
    <dgm:cxn modelId="{187F97E6-AD4D-43D2-85AA-1F6E9DC00E7F}" type="presOf" srcId="{2443A874-FAF8-492F-91A2-1F1B5C77D6CA}" destId="{CC086781-CDA2-4079-B910-53FA88238751}" srcOrd="0" destOrd="0" presId="urn:microsoft.com/office/officeart/2008/layout/NameandTitleOrganizationalChart"/>
    <dgm:cxn modelId="{87E276AA-0D18-444B-90F0-0360A131A470}" srcId="{18281606-4EDD-4DB8-82BA-00CE9DC86332}" destId="{E157557E-BB54-4F62-927B-97030F04E162}" srcOrd="2" destOrd="0" parTransId="{BECF9B03-E789-4894-B442-C1B5EE7E0F03}" sibTransId="{EC44D130-6F2D-4CFD-B843-9644E43FE90A}"/>
    <dgm:cxn modelId="{BF3A291D-C48D-454F-8155-8F7267E98CAC}" type="presOf" srcId="{0BC1C973-D22B-4B18-A5CA-8E0AE9C9078E}" destId="{E5180351-6B34-4AA6-92E5-460AD5E776FE}" srcOrd="0" destOrd="0" presId="urn:microsoft.com/office/officeart/2008/layout/NameandTitleOrganizationalChart"/>
    <dgm:cxn modelId="{EF43C5F1-63AF-436A-B8B6-C131402E5D8F}" type="presOf" srcId="{5ED14F61-1054-464C-AF5A-85555DB3528A}" destId="{890B740A-00F9-433E-BA02-ABE2026415E9}" srcOrd="0" destOrd="0" presId="urn:microsoft.com/office/officeart/2008/layout/NameandTitleOrganizationalChart"/>
    <dgm:cxn modelId="{1844B38A-564F-44A3-9A6E-EF01B1F1D582}" type="presOf" srcId="{EC44D130-6F2D-4CFD-B843-9644E43FE90A}" destId="{4DFDA536-790B-4983-8713-7F2A346BD6B2}" srcOrd="0" destOrd="0" presId="urn:microsoft.com/office/officeart/2008/layout/NameandTitleOrganizationalChart"/>
    <dgm:cxn modelId="{BA4824D4-CB95-4D9A-9E15-5D6E165157F3}" type="presParOf" srcId="{890B740A-00F9-433E-BA02-ABE2026415E9}" destId="{061C5C8C-050A-4298-913C-839B888A5011}" srcOrd="0" destOrd="0" presId="urn:microsoft.com/office/officeart/2008/layout/NameandTitleOrganizationalChart"/>
    <dgm:cxn modelId="{04672B73-4A36-4B28-BB9B-86C2D1B2C745}" type="presParOf" srcId="{061C5C8C-050A-4298-913C-839B888A5011}" destId="{CDD9BB89-BAF2-4B32-B5D2-6E263CE9383B}" srcOrd="0" destOrd="0" presId="urn:microsoft.com/office/officeart/2008/layout/NameandTitleOrganizationalChart"/>
    <dgm:cxn modelId="{A5C7EDB0-E9C1-479A-BEE7-340B410FB5DE}" type="presParOf" srcId="{CDD9BB89-BAF2-4B32-B5D2-6E263CE9383B}" destId="{A7664DF4-97F2-49A8-8564-6FDA49054DC0}" srcOrd="0" destOrd="0" presId="urn:microsoft.com/office/officeart/2008/layout/NameandTitleOrganizationalChart"/>
    <dgm:cxn modelId="{57211CBF-5396-4A32-9A1A-704BDF7BA61B}" type="presParOf" srcId="{CDD9BB89-BAF2-4B32-B5D2-6E263CE9383B}" destId="{66E638EE-7BFF-4567-A73F-51C4D5A9A975}" srcOrd="1" destOrd="0" presId="urn:microsoft.com/office/officeart/2008/layout/NameandTitleOrganizationalChart"/>
    <dgm:cxn modelId="{233D114E-C452-421E-8774-E93A19876B85}" type="presParOf" srcId="{CDD9BB89-BAF2-4B32-B5D2-6E263CE9383B}" destId="{BE13636C-9A2B-4159-9C6D-C3DDE5F9992D}" srcOrd="2" destOrd="0" presId="urn:microsoft.com/office/officeart/2008/layout/NameandTitleOrganizationalChart"/>
    <dgm:cxn modelId="{FFC29560-6238-4A1E-A684-B298B96E2F8F}" type="presParOf" srcId="{061C5C8C-050A-4298-913C-839B888A5011}" destId="{EC70055E-E1C3-42A4-ADDD-AF8B36B878AB}" srcOrd="1" destOrd="0" presId="urn:microsoft.com/office/officeart/2008/layout/NameandTitleOrganizationalChart"/>
    <dgm:cxn modelId="{86686A6F-A985-4AB3-BAAB-225887465AAF}" type="presParOf" srcId="{EC70055E-E1C3-42A4-ADDD-AF8B36B878AB}" destId="{E5180351-6B34-4AA6-92E5-460AD5E776FE}" srcOrd="0" destOrd="0" presId="urn:microsoft.com/office/officeart/2008/layout/NameandTitleOrganizationalChart"/>
    <dgm:cxn modelId="{E951A6B2-A491-4D65-AB15-3256B33A609E}" type="presParOf" srcId="{EC70055E-E1C3-42A4-ADDD-AF8B36B878AB}" destId="{827260A7-3F27-43F5-B7BB-24D91F87B051}" srcOrd="1" destOrd="0" presId="urn:microsoft.com/office/officeart/2008/layout/NameandTitleOrganizationalChart"/>
    <dgm:cxn modelId="{F188624E-18FF-4FBD-8B68-7AB153D0C0C5}" type="presParOf" srcId="{827260A7-3F27-43F5-B7BB-24D91F87B051}" destId="{2E6EF123-B679-422A-BB29-610B179A06E6}" srcOrd="0" destOrd="0" presId="urn:microsoft.com/office/officeart/2008/layout/NameandTitleOrganizationalChart"/>
    <dgm:cxn modelId="{58B47AD5-C6DD-43B7-B741-A18F58FB721B}" type="presParOf" srcId="{2E6EF123-B679-422A-BB29-610B179A06E6}" destId="{CC086781-CDA2-4079-B910-53FA88238751}" srcOrd="0" destOrd="0" presId="urn:microsoft.com/office/officeart/2008/layout/NameandTitleOrganizationalChart"/>
    <dgm:cxn modelId="{2673E71F-6C0C-41E9-B72F-3D9D9EBA1D01}" type="presParOf" srcId="{2E6EF123-B679-422A-BB29-610B179A06E6}" destId="{474DA239-34D5-4A74-8C69-CFE9D170ACE3}" srcOrd="1" destOrd="0" presId="urn:microsoft.com/office/officeart/2008/layout/NameandTitleOrganizationalChart"/>
    <dgm:cxn modelId="{7A141243-5440-413A-A168-A9E52E71A0B2}" type="presParOf" srcId="{2E6EF123-B679-422A-BB29-610B179A06E6}" destId="{173C0E98-179D-4917-B551-170716CB3744}" srcOrd="2" destOrd="0" presId="urn:microsoft.com/office/officeart/2008/layout/NameandTitleOrganizationalChart"/>
    <dgm:cxn modelId="{2EEE3175-44B3-45F6-95B3-DBC9389CD266}" type="presParOf" srcId="{827260A7-3F27-43F5-B7BB-24D91F87B051}" destId="{57DBD740-4EDD-4109-BF48-4566E118ADB2}" srcOrd="1" destOrd="0" presId="urn:microsoft.com/office/officeart/2008/layout/NameandTitleOrganizationalChart"/>
    <dgm:cxn modelId="{9378B5FB-78C3-47FC-85FF-411329D0B6A9}" type="presParOf" srcId="{827260A7-3F27-43F5-B7BB-24D91F87B051}" destId="{10D2D497-5AD3-4AAC-B448-BC72DB34ED53}" srcOrd="2" destOrd="0" presId="urn:microsoft.com/office/officeart/2008/layout/NameandTitleOrganizationalChart"/>
    <dgm:cxn modelId="{05CEA5A1-49A3-4804-9232-3943A7E37D1F}" type="presParOf" srcId="{EC70055E-E1C3-42A4-ADDD-AF8B36B878AB}" destId="{578CB71A-9A39-48A8-9085-2CC5E29C7367}" srcOrd="2" destOrd="0" presId="urn:microsoft.com/office/officeart/2008/layout/NameandTitleOrganizationalChart"/>
    <dgm:cxn modelId="{6F8739ED-3193-4162-BF81-ECE826323847}" type="presParOf" srcId="{EC70055E-E1C3-42A4-ADDD-AF8B36B878AB}" destId="{A32E8F00-F3EE-4640-837C-8AC84DE0A468}" srcOrd="3" destOrd="0" presId="urn:microsoft.com/office/officeart/2008/layout/NameandTitleOrganizationalChart"/>
    <dgm:cxn modelId="{D0AF181A-E319-425E-A683-8D9F6E1AF3C5}" type="presParOf" srcId="{A32E8F00-F3EE-4640-837C-8AC84DE0A468}" destId="{8425DD3A-BC61-4051-BA39-6E4361BFC0EA}" srcOrd="0" destOrd="0" presId="urn:microsoft.com/office/officeart/2008/layout/NameandTitleOrganizationalChart"/>
    <dgm:cxn modelId="{8CFD161C-B311-474C-AF8B-170EFF9233EB}" type="presParOf" srcId="{8425DD3A-BC61-4051-BA39-6E4361BFC0EA}" destId="{43C0AB82-A8C9-4466-96A8-700F09D832D3}" srcOrd="0" destOrd="0" presId="urn:microsoft.com/office/officeart/2008/layout/NameandTitleOrganizationalChart"/>
    <dgm:cxn modelId="{536E9DE9-3F87-4060-B996-F97595D2A25E}" type="presParOf" srcId="{8425DD3A-BC61-4051-BA39-6E4361BFC0EA}" destId="{E9F56F7D-369C-4BCA-AE02-504D9C7486E6}" srcOrd="1" destOrd="0" presId="urn:microsoft.com/office/officeart/2008/layout/NameandTitleOrganizationalChart"/>
    <dgm:cxn modelId="{E886D543-F3A8-46E3-A750-6690E245E4CA}" type="presParOf" srcId="{8425DD3A-BC61-4051-BA39-6E4361BFC0EA}" destId="{88056E8D-E2BB-45E3-8AF3-295BEC7A56FB}" srcOrd="2" destOrd="0" presId="urn:microsoft.com/office/officeart/2008/layout/NameandTitleOrganizationalChart"/>
    <dgm:cxn modelId="{B600AD88-1350-4659-9429-E22301C26E2A}" type="presParOf" srcId="{A32E8F00-F3EE-4640-837C-8AC84DE0A468}" destId="{187B4E04-9EE6-4C4D-BB48-0FBF559BC483}" srcOrd="1" destOrd="0" presId="urn:microsoft.com/office/officeart/2008/layout/NameandTitleOrganizationalChart"/>
    <dgm:cxn modelId="{1F4C1C58-8617-4A54-BA7F-F94B911A2B42}" type="presParOf" srcId="{A32E8F00-F3EE-4640-837C-8AC84DE0A468}" destId="{B45DED4C-3C45-4D5C-9594-77DBA76A843A}" srcOrd="2" destOrd="0" presId="urn:microsoft.com/office/officeart/2008/layout/NameandTitleOrganizationalChart"/>
    <dgm:cxn modelId="{D639EB18-AFF3-4E6E-8890-0131C751A088}" type="presParOf" srcId="{EC70055E-E1C3-42A4-ADDD-AF8B36B878AB}" destId="{429469C5-B904-4913-98FE-E6095758CB2F}" srcOrd="4" destOrd="0" presId="urn:microsoft.com/office/officeart/2008/layout/NameandTitleOrganizationalChart"/>
    <dgm:cxn modelId="{4483DE99-B82C-4D02-BFB2-662D6FB35F99}" type="presParOf" srcId="{EC70055E-E1C3-42A4-ADDD-AF8B36B878AB}" destId="{38DE0B6E-8639-478C-81DA-262DF296EAE2}" srcOrd="5" destOrd="0" presId="urn:microsoft.com/office/officeart/2008/layout/NameandTitleOrganizationalChart"/>
    <dgm:cxn modelId="{E3E2CEE2-02C3-4EC1-BC21-61CAE50E02BB}" type="presParOf" srcId="{38DE0B6E-8639-478C-81DA-262DF296EAE2}" destId="{8461A284-3129-47DA-BF5F-B24760AA345E}" srcOrd="0" destOrd="0" presId="urn:microsoft.com/office/officeart/2008/layout/NameandTitleOrganizationalChart"/>
    <dgm:cxn modelId="{68256B3F-8171-49C7-8E24-474EE11096D9}" type="presParOf" srcId="{8461A284-3129-47DA-BF5F-B24760AA345E}" destId="{C4946B25-92EE-4BC2-9BC3-C3BA521E1DF0}" srcOrd="0" destOrd="0" presId="urn:microsoft.com/office/officeart/2008/layout/NameandTitleOrganizationalChart"/>
    <dgm:cxn modelId="{857ED68D-6BDD-4CE6-A62E-A06CA1BB91AF}" type="presParOf" srcId="{8461A284-3129-47DA-BF5F-B24760AA345E}" destId="{4DFDA536-790B-4983-8713-7F2A346BD6B2}" srcOrd="1" destOrd="0" presId="urn:microsoft.com/office/officeart/2008/layout/NameandTitleOrganizationalChart"/>
    <dgm:cxn modelId="{A3D0155E-30A6-431D-A92C-777C5CFC4BB7}" type="presParOf" srcId="{8461A284-3129-47DA-BF5F-B24760AA345E}" destId="{C4636020-8E24-441E-84BB-0B3E8C7F3B83}" srcOrd="2" destOrd="0" presId="urn:microsoft.com/office/officeart/2008/layout/NameandTitleOrganizationalChart"/>
    <dgm:cxn modelId="{FEA1F50C-B48A-45B6-B09A-34448F8C4DD1}" type="presParOf" srcId="{38DE0B6E-8639-478C-81DA-262DF296EAE2}" destId="{A14F07BC-D2B8-46E1-A776-6D71E57D3537}" srcOrd="1" destOrd="0" presId="urn:microsoft.com/office/officeart/2008/layout/NameandTitleOrganizationalChart"/>
    <dgm:cxn modelId="{8157BB92-C472-4B8C-845C-63F06370AC55}" type="presParOf" srcId="{38DE0B6E-8639-478C-81DA-262DF296EAE2}" destId="{FB1B1207-6007-42DB-8F55-1190614100EE}" srcOrd="2" destOrd="0" presId="urn:microsoft.com/office/officeart/2008/layout/NameandTitleOrganizationalChart"/>
    <dgm:cxn modelId="{6544B2A3-2523-45C5-B541-2E4ABE32FF6F}" type="presParOf" srcId="{EC70055E-E1C3-42A4-ADDD-AF8B36B878AB}" destId="{11BE4E42-F190-4B86-AA0A-F115848EB73D}" srcOrd="6" destOrd="0" presId="urn:microsoft.com/office/officeart/2008/layout/NameandTitleOrganizationalChart"/>
    <dgm:cxn modelId="{6795EB5A-07DB-46E9-BFBF-BDFA193AE640}" type="presParOf" srcId="{EC70055E-E1C3-42A4-ADDD-AF8B36B878AB}" destId="{92E758D2-375B-4235-9A33-72D7C2D45FF1}" srcOrd="7" destOrd="0" presId="urn:microsoft.com/office/officeart/2008/layout/NameandTitleOrganizationalChart"/>
    <dgm:cxn modelId="{25C226DE-B1E9-4440-B663-CFE719666220}" type="presParOf" srcId="{92E758D2-375B-4235-9A33-72D7C2D45FF1}" destId="{2F7FF4F4-CDCA-4912-8650-F6A2B926ED5C}" srcOrd="0" destOrd="0" presId="urn:microsoft.com/office/officeart/2008/layout/NameandTitleOrganizationalChart"/>
    <dgm:cxn modelId="{D2539A95-9929-487A-87FE-89A044EC363C}" type="presParOf" srcId="{2F7FF4F4-CDCA-4912-8650-F6A2B926ED5C}" destId="{98551F98-23B3-4F31-8167-8FC4F68C486D}" srcOrd="0" destOrd="0" presId="urn:microsoft.com/office/officeart/2008/layout/NameandTitleOrganizationalChart"/>
    <dgm:cxn modelId="{86E73696-610A-45FB-B765-70BE6CFBA55C}" type="presParOf" srcId="{2F7FF4F4-CDCA-4912-8650-F6A2B926ED5C}" destId="{E6ABAA20-6DD7-4D23-B355-4221CD1C3406}" srcOrd="1" destOrd="0" presId="urn:microsoft.com/office/officeart/2008/layout/NameandTitleOrganizationalChart"/>
    <dgm:cxn modelId="{C3200FB7-E768-4C92-B4F8-84531DA90FD2}" type="presParOf" srcId="{2F7FF4F4-CDCA-4912-8650-F6A2B926ED5C}" destId="{2E5360D2-E96D-4FBE-B368-36BE29D9E210}" srcOrd="2" destOrd="0" presId="urn:microsoft.com/office/officeart/2008/layout/NameandTitleOrganizationalChart"/>
    <dgm:cxn modelId="{DB3DA6A1-FEBE-4A05-A894-F2FF6463FA9E}" type="presParOf" srcId="{92E758D2-375B-4235-9A33-72D7C2D45FF1}" destId="{B46C3626-8710-48E4-9387-A07D50FF9E8B}" srcOrd="1" destOrd="0" presId="urn:microsoft.com/office/officeart/2008/layout/NameandTitleOrganizationalChart"/>
    <dgm:cxn modelId="{D7DCDBB1-DA4E-4811-BAAD-B28AA6F2E37A}" type="presParOf" srcId="{92E758D2-375B-4235-9A33-72D7C2D45FF1}" destId="{CF0D6141-B7D8-4C56-998F-994AC79A8F2A}" srcOrd="2" destOrd="0" presId="urn:microsoft.com/office/officeart/2008/layout/NameandTitleOrganizationalChart"/>
    <dgm:cxn modelId="{BACA472C-250F-4D40-B87E-43720B703E0F}" type="presParOf" srcId="{061C5C8C-050A-4298-913C-839B888A5011}" destId="{B422BA7B-DA07-4227-9A29-9004FFB4210B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F04358-04F5-488E-A004-6CF7E99B29C6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</dgm:pt>
    <dgm:pt modelId="{A1E67DFD-D2B1-417E-8DE8-6ABC82E3556C}">
      <dgm:prSet phldrT="[Text]"/>
      <dgm:spPr/>
      <dgm:t>
        <a:bodyPr/>
        <a:lstStyle/>
        <a:p>
          <a:pPr>
            <a:lnSpc>
              <a:spcPct val="90000"/>
            </a:lnSpc>
          </a:pPr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Step1 </a:t>
          </a:r>
        </a:p>
        <a:p>
          <a:pPr>
            <a:lnSpc>
              <a:spcPct val="100000"/>
            </a:lnSpc>
          </a:pPr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Video Codec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E6A346D-99F9-4767-8C22-EAA39B88E7FF}" type="parTrans" cxnId="{525A34C9-6ABB-4C5A-9B58-CDCDE5D7DF00}">
      <dgm:prSet/>
      <dgm:spPr/>
      <dgm:t>
        <a:bodyPr/>
        <a:lstStyle/>
        <a:p>
          <a:endParaRPr lang="en-US"/>
        </a:p>
      </dgm:t>
    </dgm:pt>
    <dgm:pt modelId="{650844D6-4FD3-47F3-9318-67D96E4FF287}" type="sibTrans" cxnId="{525A34C9-6ABB-4C5A-9B58-CDCDE5D7DF00}">
      <dgm:prSet/>
      <dgm:spPr/>
      <dgm:t>
        <a:bodyPr/>
        <a:lstStyle/>
        <a:p>
          <a:endParaRPr lang="en-US"/>
        </a:p>
      </dgm:t>
    </dgm:pt>
    <dgm:pt modelId="{36B29DA9-733A-4697-9778-DECA42BBAE68}">
      <dgm:prSet phldrT="[Text]"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Step2</a:t>
          </a:r>
        </a:p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Differentiation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82782C0-A51D-422D-A05D-306328611F19}" type="parTrans" cxnId="{F481FE70-B73A-4BB7-A036-B62DAB9EE148}">
      <dgm:prSet/>
      <dgm:spPr/>
      <dgm:t>
        <a:bodyPr/>
        <a:lstStyle/>
        <a:p>
          <a:endParaRPr lang="en-US"/>
        </a:p>
      </dgm:t>
    </dgm:pt>
    <dgm:pt modelId="{12592E40-3E2C-46E4-BD05-36390B483232}" type="sibTrans" cxnId="{F481FE70-B73A-4BB7-A036-B62DAB9EE148}">
      <dgm:prSet/>
      <dgm:spPr/>
      <dgm:t>
        <a:bodyPr/>
        <a:lstStyle/>
        <a:p>
          <a:endParaRPr lang="en-US"/>
        </a:p>
      </dgm:t>
    </dgm:pt>
    <dgm:pt modelId="{AF666140-4008-4B6C-B0C0-2E2EF31F71A3}">
      <dgm:prSet phldrT="[Text]"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Step3</a:t>
          </a:r>
        </a:p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Computer</a:t>
          </a:r>
          <a:r>
            <a:rPr lang="en-US" dirty="0" smtClean="0"/>
            <a:t> </a:t>
          </a:r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Vision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4FCA81D-028A-45E3-ACB9-F1466E13579D}" type="parTrans" cxnId="{70E0A231-5F25-4A81-B869-8D4C35D94744}">
      <dgm:prSet/>
      <dgm:spPr/>
      <dgm:t>
        <a:bodyPr/>
        <a:lstStyle/>
        <a:p>
          <a:endParaRPr lang="en-US"/>
        </a:p>
      </dgm:t>
    </dgm:pt>
    <dgm:pt modelId="{910AC8DD-F573-4D1C-8B1E-21E3DC4BEA8F}" type="sibTrans" cxnId="{70E0A231-5F25-4A81-B869-8D4C35D94744}">
      <dgm:prSet/>
      <dgm:spPr/>
      <dgm:t>
        <a:bodyPr/>
        <a:lstStyle/>
        <a:p>
          <a:endParaRPr lang="en-US"/>
        </a:p>
      </dgm:t>
    </dgm:pt>
    <dgm:pt modelId="{E7D14509-2A22-49A6-9FBF-5996198417D3}" type="pres">
      <dgm:prSet presAssocID="{DAF04358-04F5-488E-A004-6CF7E99B29C6}" presName="Name0" presStyleCnt="0">
        <dgm:presLayoutVars>
          <dgm:dir/>
          <dgm:animLvl val="lvl"/>
          <dgm:resizeHandles val="exact"/>
        </dgm:presLayoutVars>
      </dgm:prSet>
      <dgm:spPr/>
    </dgm:pt>
    <dgm:pt modelId="{1C2A6540-522B-462E-B0A5-118D998ACF3A}" type="pres">
      <dgm:prSet presAssocID="{A1E67DFD-D2B1-417E-8DE8-6ABC82E3556C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5C724B-597A-4C12-9775-96B868B9D087}" type="pres">
      <dgm:prSet presAssocID="{650844D6-4FD3-47F3-9318-67D96E4FF287}" presName="parTxOnlySpace" presStyleCnt="0"/>
      <dgm:spPr/>
    </dgm:pt>
    <dgm:pt modelId="{921EB1CA-7109-4953-B60A-9B13ABFA97CA}" type="pres">
      <dgm:prSet presAssocID="{36B29DA9-733A-4697-9778-DECA42BBAE68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30CDA2-E75B-4B68-8C29-71A1B3DE7360}" type="pres">
      <dgm:prSet presAssocID="{12592E40-3E2C-46E4-BD05-36390B483232}" presName="parTxOnlySpace" presStyleCnt="0"/>
      <dgm:spPr/>
    </dgm:pt>
    <dgm:pt modelId="{46B639A7-4F7B-43EB-9373-32E67118141F}" type="pres">
      <dgm:prSet presAssocID="{AF666140-4008-4B6C-B0C0-2E2EF31F71A3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8518E18-2FD9-4DDF-BD9A-895BE91B8B72}" type="presOf" srcId="{DAF04358-04F5-488E-A004-6CF7E99B29C6}" destId="{E7D14509-2A22-49A6-9FBF-5996198417D3}" srcOrd="0" destOrd="0" presId="urn:microsoft.com/office/officeart/2005/8/layout/chevron1"/>
    <dgm:cxn modelId="{70E0A231-5F25-4A81-B869-8D4C35D94744}" srcId="{DAF04358-04F5-488E-A004-6CF7E99B29C6}" destId="{AF666140-4008-4B6C-B0C0-2E2EF31F71A3}" srcOrd="2" destOrd="0" parTransId="{F4FCA81D-028A-45E3-ACB9-F1466E13579D}" sibTransId="{910AC8DD-F573-4D1C-8B1E-21E3DC4BEA8F}"/>
    <dgm:cxn modelId="{525A34C9-6ABB-4C5A-9B58-CDCDE5D7DF00}" srcId="{DAF04358-04F5-488E-A004-6CF7E99B29C6}" destId="{A1E67DFD-D2B1-417E-8DE8-6ABC82E3556C}" srcOrd="0" destOrd="0" parTransId="{3E6A346D-99F9-4767-8C22-EAA39B88E7FF}" sibTransId="{650844D6-4FD3-47F3-9318-67D96E4FF287}"/>
    <dgm:cxn modelId="{D4A2862B-7F87-41C4-8386-C2752909668E}" type="presOf" srcId="{A1E67DFD-D2B1-417E-8DE8-6ABC82E3556C}" destId="{1C2A6540-522B-462E-B0A5-118D998ACF3A}" srcOrd="0" destOrd="0" presId="urn:microsoft.com/office/officeart/2005/8/layout/chevron1"/>
    <dgm:cxn modelId="{CDE2B9EC-56BA-4D83-A41C-5877B3EDF6CC}" type="presOf" srcId="{36B29DA9-733A-4697-9778-DECA42BBAE68}" destId="{921EB1CA-7109-4953-B60A-9B13ABFA97CA}" srcOrd="0" destOrd="0" presId="urn:microsoft.com/office/officeart/2005/8/layout/chevron1"/>
    <dgm:cxn modelId="{F481FE70-B73A-4BB7-A036-B62DAB9EE148}" srcId="{DAF04358-04F5-488E-A004-6CF7E99B29C6}" destId="{36B29DA9-733A-4697-9778-DECA42BBAE68}" srcOrd="1" destOrd="0" parTransId="{482782C0-A51D-422D-A05D-306328611F19}" sibTransId="{12592E40-3E2C-46E4-BD05-36390B483232}"/>
    <dgm:cxn modelId="{A21350B6-4062-4D8B-A93A-F448C4546066}" type="presOf" srcId="{AF666140-4008-4B6C-B0C0-2E2EF31F71A3}" destId="{46B639A7-4F7B-43EB-9373-32E67118141F}" srcOrd="0" destOrd="0" presId="urn:microsoft.com/office/officeart/2005/8/layout/chevron1"/>
    <dgm:cxn modelId="{5BA4D916-AEA2-4505-96B7-525D7642C574}" type="presParOf" srcId="{E7D14509-2A22-49A6-9FBF-5996198417D3}" destId="{1C2A6540-522B-462E-B0A5-118D998ACF3A}" srcOrd="0" destOrd="0" presId="urn:microsoft.com/office/officeart/2005/8/layout/chevron1"/>
    <dgm:cxn modelId="{E1DDD951-562F-4280-AED7-4067106AAE2D}" type="presParOf" srcId="{E7D14509-2A22-49A6-9FBF-5996198417D3}" destId="{445C724B-597A-4C12-9775-96B868B9D087}" srcOrd="1" destOrd="0" presId="urn:microsoft.com/office/officeart/2005/8/layout/chevron1"/>
    <dgm:cxn modelId="{F6FC5674-41BF-40E3-8288-DB622CC0D12A}" type="presParOf" srcId="{E7D14509-2A22-49A6-9FBF-5996198417D3}" destId="{921EB1CA-7109-4953-B60A-9B13ABFA97CA}" srcOrd="2" destOrd="0" presId="urn:microsoft.com/office/officeart/2005/8/layout/chevron1"/>
    <dgm:cxn modelId="{38E28E43-5430-432A-8C17-2AEFD23A3B79}" type="presParOf" srcId="{E7D14509-2A22-49A6-9FBF-5996198417D3}" destId="{7C30CDA2-E75B-4B68-8C29-71A1B3DE7360}" srcOrd="3" destOrd="0" presId="urn:microsoft.com/office/officeart/2005/8/layout/chevron1"/>
    <dgm:cxn modelId="{5B44A303-5FA6-413D-A81B-4F2D8B79A045}" type="presParOf" srcId="{E7D14509-2A22-49A6-9FBF-5996198417D3}" destId="{46B639A7-4F7B-43EB-9373-32E67118141F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46AB23-4844-4CFB-A6B2-6117331ACBAB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69DA507-A496-463E-9E24-F519B2BFEADC}">
      <dgm:prSet phldrT="[Text]"/>
      <dgm:spPr/>
      <dgm:t>
        <a:bodyPr/>
        <a:lstStyle/>
        <a:p>
          <a:r>
            <a:rPr lang="en-US" dirty="0" smtClean="0"/>
            <a:t>Vision</a:t>
          </a:r>
          <a:endParaRPr lang="en-US" dirty="0"/>
        </a:p>
      </dgm:t>
    </dgm:pt>
    <dgm:pt modelId="{8A3A4150-C4FD-4B1F-9732-538D2E76A77C}" type="parTrans" cxnId="{767FA478-C610-455D-953E-8090C781F2F0}">
      <dgm:prSet/>
      <dgm:spPr/>
      <dgm:t>
        <a:bodyPr/>
        <a:lstStyle/>
        <a:p>
          <a:endParaRPr lang="en-US"/>
        </a:p>
      </dgm:t>
    </dgm:pt>
    <dgm:pt modelId="{D65BADE3-FBD3-458E-8F30-1D51BFC0A0EF}" type="sibTrans" cxnId="{767FA478-C610-455D-953E-8090C781F2F0}">
      <dgm:prSet/>
      <dgm:spPr/>
      <dgm:t>
        <a:bodyPr/>
        <a:lstStyle/>
        <a:p>
          <a:endParaRPr lang="en-US"/>
        </a:p>
      </dgm:t>
    </dgm:pt>
    <dgm:pt modelId="{3199486E-26FE-4AB9-BBB7-0073365FAF85}">
      <dgm:prSet phldrT="[Text]"/>
      <dgm:spPr/>
      <dgm:t>
        <a:bodyPr/>
        <a:lstStyle/>
        <a:p>
          <a:r>
            <a:rPr lang="en-US" dirty="0" smtClean="0"/>
            <a:t>English</a:t>
          </a:r>
          <a:endParaRPr lang="en-US" dirty="0"/>
        </a:p>
      </dgm:t>
    </dgm:pt>
    <dgm:pt modelId="{59FA2CF5-89EC-4846-84B5-8799C6D93626}" type="parTrans" cxnId="{429CED44-EAE9-47C8-A141-FBEBD6F9C3FA}">
      <dgm:prSet/>
      <dgm:spPr/>
      <dgm:t>
        <a:bodyPr/>
        <a:lstStyle/>
        <a:p>
          <a:endParaRPr lang="en-US"/>
        </a:p>
      </dgm:t>
    </dgm:pt>
    <dgm:pt modelId="{90AB876D-C474-4881-B1E2-A9CAFDB411B0}" type="sibTrans" cxnId="{429CED44-EAE9-47C8-A141-FBEBD6F9C3FA}">
      <dgm:prSet/>
      <dgm:spPr/>
      <dgm:t>
        <a:bodyPr/>
        <a:lstStyle/>
        <a:p>
          <a:endParaRPr lang="en-US"/>
        </a:p>
      </dgm:t>
    </dgm:pt>
    <dgm:pt modelId="{8C701221-93D5-4CE8-933F-34A2EF5C67D1}">
      <dgm:prSet phldrT="[Text]"/>
      <dgm:spPr/>
      <dgm:t>
        <a:bodyPr/>
        <a:lstStyle/>
        <a:p>
          <a:r>
            <a:rPr lang="en-US" dirty="0" smtClean="0"/>
            <a:t>Strategic planning </a:t>
          </a:r>
          <a:endParaRPr lang="en-US" dirty="0"/>
        </a:p>
      </dgm:t>
    </dgm:pt>
    <dgm:pt modelId="{F93BE536-488D-45C4-91EF-C691293C7601}" type="parTrans" cxnId="{19EEBFAF-C9F1-4277-A08C-5BE5EFA9CA28}">
      <dgm:prSet/>
      <dgm:spPr/>
      <dgm:t>
        <a:bodyPr/>
        <a:lstStyle/>
        <a:p>
          <a:endParaRPr lang="en-US"/>
        </a:p>
      </dgm:t>
    </dgm:pt>
    <dgm:pt modelId="{987578B6-58B5-40A0-937D-5BDDBDA4230C}" type="sibTrans" cxnId="{19EEBFAF-C9F1-4277-A08C-5BE5EFA9CA28}">
      <dgm:prSet/>
      <dgm:spPr/>
      <dgm:t>
        <a:bodyPr/>
        <a:lstStyle/>
        <a:p>
          <a:endParaRPr lang="en-US"/>
        </a:p>
      </dgm:t>
    </dgm:pt>
    <dgm:pt modelId="{19AD01FC-4A87-47EF-9A5D-3ED2477019A8}">
      <dgm:prSet phldrT="[Text]"/>
      <dgm:spPr/>
      <dgm:t>
        <a:bodyPr/>
        <a:lstStyle/>
        <a:p>
          <a:r>
            <a:rPr lang="en-US" dirty="0" smtClean="0"/>
            <a:t>15 years chip design</a:t>
          </a:r>
          <a:endParaRPr lang="en-US" dirty="0"/>
        </a:p>
      </dgm:t>
    </dgm:pt>
    <dgm:pt modelId="{4EA1FCE0-883B-41B5-BF43-F3130A2C4D98}" type="parTrans" cxnId="{9190CC60-2FD7-4870-82DD-C691E1667636}">
      <dgm:prSet/>
      <dgm:spPr/>
      <dgm:t>
        <a:bodyPr/>
        <a:lstStyle/>
        <a:p>
          <a:endParaRPr lang="en-US"/>
        </a:p>
      </dgm:t>
    </dgm:pt>
    <dgm:pt modelId="{2CE204FA-8B11-4855-BBB5-21847DDA294E}" type="sibTrans" cxnId="{9190CC60-2FD7-4870-82DD-C691E1667636}">
      <dgm:prSet/>
      <dgm:spPr/>
      <dgm:t>
        <a:bodyPr/>
        <a:lstStyle/>
        <a:p>
          <a:endParaRPr lang="en-US"/>
        </a:p>
      </dgm:t>
    </dgm:pt>
    <dgm:pt modelId="{659C1DC9-3C07-4A64-A19B-CB4A212BCDB5}">
      <dgm:prSet phldrT="[Text]"/>
      <dgm:spPr/>
      <dgm:t>
        <a:bodyPr/>
        <a:lstStyle/>
        <a:p>
          <a:r>
            <a:rPr lang="en-US" dirty="0" smtClean="0"/>
            <a:t>Connections</a:t>
          </a:r>
          <a:endParaRPr lang="en-US" dirty="0"/>
        </a:p>
      </dgm:t>
    </dgm:pt>
    <dgm:pt modelId="{C0D0B851-6023-4D84-9EC2-7230A11C0C93}" type="parTrans" cxnId="{DE4C9EF9-3840-4845-A4DB-D93C9DE3FE38}">
      <dgm:prSet/>
      <dgm:spPr/>
      <dgm:t>
        <a:bodyPr/>
        <a:lstStyle/>
        <a:p>
          <a:endParaRPr lang="en-US"/>
        </a:p>
      </dgm:t>
    </dgm:pt>
    <dgm:pt modelId="{52AFCA34-869E-4EA7-A840-1EBF96AF87B1}" type="sibTrans" cxnId="{DE4C9EF9-3840-4845-A4DB-D93C9DE3FE38}">
      <dgm:prSet/>
      <dgm:spPr/>
      <dgm:t>
        <a:bodyPr/>
        <a:lstStyle/>
        <a:p>
          <a:endParaRPr lang="en-US"/>
        </a:p>
      </dgm:t>
    </dgm:pt>
    <dgm:pt modelId="{AE7C10DE-0382-4AF5-9237-73B09E351BCD}">
      <dgm:prSet phldrT="[Text]"/>
      <dgm:spPr/>
      <dgm:t>
        <a:bodyPr/>
        <a:lstStyle/>
        <a:p>
          <a:r>
            <a:rPr lang="en-US" dirty="0" smtClean="0"/>
            <a:t>11 years video experience</a:t>
          </a:r>
          <a:endParaRPr lang="en-US" dirty="0"/>
        </a:p>
      </dgm:t>
    </dgm:pt>
    <dgm:pt modelId="{E7A909C7-C772-499B-AA26-B77900DAC701}" type="parTrans" cxnId="{37CA2A17-D84D-4092-A11E-D8381236CE2C}">
      <dgm:prSet/>
      <dgm:spPr/>
      <dgm:t>
        <a:bodyPr/>
        <a:lstStyle/>
        <a:p>
          <a:endParaRPr lang="en-US"/>
        </a:p>
      </dgm:t>
    </dgm:pt>
    <dgm:pt modelId="{8E3AA419-E0D5-4AC7-AFFB-1FB3FFC47301}" type="sibTrans" cxnId="{37CA2A17-D84D-4092-A11E-D8381236CE2C}">
      <dgm:prSet/>
      <dgm:spPr/>
      <dgm:t>
        <a:bodyPr/>
        <a:lstStyle/>
        <a:p>
          <a:endParaRPr lang="en-US"/>
        </a:p>
      </dgm:t>
    </dgm:pt>
    <dgm:pt modelId="{9FC887B7-4006-4BAF-8BCF-3F6F8E03057E}">
      <dgm:prSet phldrT="[Text]"/>
      <dgm:spPr/>
      <dgm:t>
        <a:bodyPr/>
        <a:lstStyle/>
        <a:p>
          <a:r>
            <a:rPr lang="en-US" dirty="0" smtClean="0"/>
            <a:t>10 years oversea</a:t>
          </a:r>
          <a:endParaRPr lang="en-US" dirty="0"/>
        </a:p>
      </dgm:t>
    </dgm:pt>
    <dgm:pt modelId="{93D55C66-BA4A-4D9A-BE67-8DA47E975E09}" type="parTrans" cxnId="{16C43C84-7F5E-4D60-9D4C-C35D4CC6A16A}">
      <dgm:prSet/>
      <dgm:spPr/>
      <dgm:t>
        <a:bodyPr/>
        <a:lstStyle/>
        <a:p>
          <a:endParaRPr lang="en-US"/>
        </a:p>
      </dgm:t>
    </dgm:pt>
    <dgm:pt modelId="{C535BF47-4C32-4DEB-93CB-1BA4D8A9ABB6}" type="sibTrans" cxnId="{16C43C84-7F5E-4D60-9D4C-C35D4CC6A16A}">
      <dgm:prSet/>
      <dgm:spPr/>
      <dgm:t>
        <a:bodyPr/>
        <a:lstStyle/>
        <a:p>
          <a:endParaRPr lang="en-US"/>
        </a:p>
      </dgm:t>
    </dgm:pt>
    <dgm:pt modelId="{B946D2C9-62B4-4F02-A91D-61A4E50AAE32}">
      <dgm:prSet phldrT="[Text]"/>
      <dgm:spPr/>
      <dgm:t>
        <a:bodyPr/>
        <a:lstStyle/>
        <a:p>
          <a:r>
            <a:rPr lang="en-US" dirty="0" smtClean="0"/>
            <a:t>Communication</a:t>
          </a:r>
          <a:endParaRPr lang="en-US" dirty="0"/>
        </a:p>
      </dgm:t>
    </dgm:pt>
    <dgm:pt modelId="{CE709EF1-9FC9-4427-A056-771FF44B8DB9}" type="parTrans" cxnId="{AFA3CB91-9A94-417D-B4B0-47B68F68CADC}">
      <dgm:prSet/>
      <dgm:spPr/>
      <dgm:t>
        <a:bodyPr/>
        <a:lstStyle/>
        <a:p>
          <a:endParaRPr lang="en-US"/>
        </a:p>
      </dgm:t>
    </dgm:pt>
    <dgm:pt modelId="{629AC89C-478A-4E71-B037-4C9FF472FD7E}" type="sibTrans" cxnId="{AFA3CB91-9A94-417D-B4B0-47B68F68CADC}">
      <dgm:prSet/>
      <dgm:spPr/>
      <dgm:t>
        <a:bodyPr/>
        <a:lstStyle/>
        <a:p>
          <a:endParaRPr lang="en-US"/>
        </a:p>
      </dgm:t>
    </dgm:pt>
    <dgm:pt modelId="{C68E9DAF-FE59-4256-A000-2BA053D0454B}">
      <dgm:prSet phldrT="[Text]"/>
      <dgm:spPr/>
      <dgm:t>
        <a:bodyPr/>
        <a:lstStyle/>
        <a:p>
          <a:r>
            <a:rPr lang="en-US" dirty="0" smtClean="0"/>
            <a:t>Leadership</a:t>
          </a:r>
          <a:endParaRPr lang="en-US" dirty="0"/>
        </a:p>
      </dgm:t>
    </dgm:pt>
    <dgm:pt modelId="{4C42548A-C392-4472-A46F-462F7DD44BE4}" type="parTrans" cxnId="{46F00D15-F7C7-4566-AE24-D75942B9EABB}">
      <dgm:prSet/>
      <dgm:spPr/>
      <dgm:t>
        <a:bodyPr/>
        <a:lstStyle/>
        <a:p>
          <a:endParaRPr lang="en-US"/>
        </a:p>
      </dgm:t>
    </dgm:pt>
    <dgm:pt modelId="{B50F873F-08E9-429D-9BC3-2EF566C93DE0}" type="sibTrans" cxnId="{46F00D15-F7C7-4566-AE24-D75942B9EABB}">
      <dgm:prSet/>
      <dgm:spPr/>
      <dgm:t>
        <a:bodyPr/>
        <a:lstStyle/>
        <a:p>
          <a:endParaRPr lang="en-US"/>
        </a:p>
      </dgm:t>
    </dgm:pt>
    <dgm:pt modelId="{B01E8320-0EAE-4990-8AE9-B3FAD3C6DEDD}">
      <dgm:prSet phldrT="[Text]"/>
      <dgm:spPr/>
      <dgm:t>
        <a:bodyPr/>
        <a:lstStyle/>
        <a:p>
          <a:r>
            <a:rPr lang="en-US" dirty="0" smtClean="0"/>
            <a:t>Academy + industry</a:t>
          </a:r>
          <a:endParaRPr lang="en-US" dirty="0"/>
        </a:p>
      </dgm:t>
    </dgm:pt>
    <dgm:pt modelId="{6210A3D6-FE59-4567-9B24-147821BB16FA}" type="parTrans" cxnId="{05BBD696-1BD7-41CB-A373-16874B945147}">
      <dgm:prSet/>
      <dgm:spPr/>
      <dgm:t>
        <a:bodyPr/>
        <a:lstStyle/>
        <a:p>
          <a:endParaRPr lang="en-US"/>
        </a:p>
      </dgm:t>
    </dgm:pt>
    <dgm:pt modelId="{5E2A4F73-DC5E-4A82-807A-887D3BB5C168}" type="sibTrans" cxnId="{05BBD696-1BD7-41CB-A373-16874B945147}">
      <dgm:prSet/>
      <dgm:spPr/>
      <dgm:t>
        <a:bodyPr/>
        <a:lstStyle/>
        <a:p>
          <a:endParaRPr lang="en-US"/>
        </a:p>
      </dgm:t>
    </dgm:pt>
    <dgm:pt modelId="{749A4CB6-8A84-4376-B107-26CA6E8E8A68}" type="pres">
      <dgm:prSet presAssocID="{2346AB23-4844-4CFB-A6B2-6117331ACBA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9B4D2CF-3507-4055-8E4B-CCCE1C9A3A52}" type="pres">
      <dgm:prSet presAssocID="{569DA507-A496-463E-9E24-F519B2BFEADC}" presName="node" presStyleLbl="node1" presStyleIdx="0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F9FB9A-73FE-47A3-8E0D-DEBBC9F918F0}" type="pres">
      <dgm:prSet presAssocID="{D65BADE3-FBD3-458E-8F30-1D51BFC0A0EF}" presName="sibTrans" presStyleCnt="0"/>
      <dgm:spPr/>
    </dgm:pt>
    <dgm:pt modelId="{263A370E-365B-4910-AEE5-FA8500D02B14}" type="pres">
      <dgm:prSet presAssocID="{8C701221-93D5-4CE8-933F-34A2EF5C67D1}" presName="node" presStyleLbl="node1" presStyleIdx="1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080302-6D83-44DA-94FE-CC528E09B46F}" type="pres">
      <dgm:prSet presAssocID="{987578B6-58B5-40A0-937D-5BDDBDA4230C}" presName="sibTrans" presStyleCnt="0"/>
      <dgm:spPr/>
    </dgm:pt>
    <dgm:pt modelId="{D274A3B5-E209-4A39-BE8E-284E26EA0544}" type="pres">
      <dgm:prSet presAssocID="{B01E8320-0EAE-4990-8AE9-B3FAD3C6DEDD}" presName="node" presStyleLbl="node1" presStyleIdx="2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76891F-B831-4944-9C99-449A33FF3559}" type="pres">
      <dgm:prSet presAssocID="{5E2A4F73-DC5E-4A82-807A-887D3BB5C168}" presName="sibTrans" presStyleCnt="0"/>
      <dgm:spPr/>
    </dgm:pt>
    <dgm:pt modelId="{22E66DFB-2A69-4F18-964D-E777611088A0}" type="pres">
      <dgm:prSet presAssocID="{19AD01FC-4A87-47EF-9A5D-3ED2477019A8}" presName="node" presStyleLbl="node1" presStyleIdx="3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79D834-F274-49E8-B61A-8305052B5023}" type="pres">
      <dgm:prSet presAssocID="{2CE204FA-8B11-4855-BBB5-21847DDA294E}" presName="sibTrans" presStyleCnt="0"/>
      <dgm:spPr/>
    </dgm:pt>
    <dgm:pt modelId="{FE38D6CA-B860-400B-8F5C-B94B9CFBE494}" type="pres">
      <dgm:prSet presAssocID="{AE7C10DE-0382-4AF5-9237-73B09E351BCD}" presName="node" presStyleLbl="node1" presStyleIdx="4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5EDE7F-8742-4563-BD7F-6BC52D9487FF}" type="pres">
      <dgm:prSet presAssocID="{8E3AA419-E0D5-4AC7-AFFB-1FB3FFC47301}" presName="sibTrans" presStyleCnt="0"/>
      <dgm:spPr/>
    </dgm:pt>
    <dgm:pt modelId="{CB40EED8-FABD-4C68-A9DC-AE4BE2C0717F}" type="pres">
      <dgm:prSet presAssocID="{9FC887B7-4006-4BAF-8BCF-3F6F8E03057E}" presName="node" presStyleLbl="node1" presStyleIdx="5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436AC9-75E8-46F8-A22D-9E69E1ECF328}" type="pres">
      <dgm:prSet presAssocID="{C535BF47-4C32-4DEB-93CB-1BA4D8A9ABB6}" presName="sibTrans" presStyleCnt="0"/>
      <dgm:spPr/>
    </dgm:pt>
    <dgm:pt modelId="{B2D52E7E-432A-484D-A149-5C50B8D984BD}" type="pres">
      <dgm:prSet presAssocID="{C68E9DAF-FE59-4256-A000-2BA053D0454B}" presName="node" presStyleLbl="node1" presStyleIdx="6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0A0AB9-27C5-4A74-A3DE-8A674AE03341}" type="pres">
      <dgm:prSet presAssocID="{B50F873F-08E9-429D-9BC3-2EF566C93DE0}" presName="sibTrans" presStyleCnt="0"/>
      <dgm:spPr/>
    </dgm:pt>
    <dgm:pt modelId="{A8D2F7D3-E3D2-4F77-813B-ED33D8F3C18D}" type="pres">
      <dgm:prSet presAssocID="{B946D2C9-62B4-4F02-A91D-61A4E50AAE32}" presName="node" presStyleLbl="node1" presStyleIdx="7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5ACD55-9565-4FBA-9242-1AC21ED203C3}" type="pres">
      <dgm:prSet presAssocID="{629AC89C-478A-4E71-B037-4C9FF472FD7E}" presName="sibTrans" presStyleCnt="0"/>
      <dgm:spPr/>
    </dgm:pt>
    <dgm:pt modelId="{338A816B-1B13-4262-A6F8-83942706BA5A}" type="pres">
      <dgm:prSet presAssocID="{659C1DC9-3C07-4A64-A19B-CB4A212BCDB5}" presName="node" presStyleLbl="node1" presStyleIdx="8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220EB8-9B65-4218-8CD6-8DE35C22D7F1}" type="pres">
      <dgm:prSet presAssocID="{52AFCA34-869E-4EA7-A840-1EBF96AF87B1}" presName="sibTrans" presStyleCnt="0"/>
      <dgm:spPr/>
    </dgm:pt>
    <dgm:pt modelId="{67C5D8C9-5C2B-49B0-B038-C2C133B33F69}" type="pres">
      <dgm:prSet presAssocID="{3199486E-26FE-4AB9-BBB7-0073365FAF85}" presName="node" presStyleLbl="node1" presStyleIdx="9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5BBD696-1BD7-41CB-A373-16874B945147}" srcId="{2346AB23-4844-4CFB-A6B2-6117331ACBAB}" destId="{B01E8320-0EAE-4990-8AE9-B3FAD3C6DEDD}" srcOrd="2" destOrd="0" parTransId="{6210A3D6-FE59-4567-9B24-147821BB16FA}" sibTransId="{5E2A4F73-DC5E-4A82-807A-887D3BB5C168}"/>
    <dgm:cxn modelId="{767FA478-C610-455D-953E-8090C781F2F0}" srcId="{2346AB23-4844-4CFB-A6B2-6117331ACBAB}" destId="{569DA507-A496-463E-9E24-F519B2BFEADC}" srcOrd="0" destOrd="0" parTransId="{8A3A4150-C4FD-4B1F-9732-538D2E76A77C}" sibTransId="{D65BADE3-FBD3-458E-8F30-1D51BFC0A0EF}"/>
    <dgm:cxn modelId="{3A321509-14E2-4D2E-901B-A5FE34EB2BAA}" type="presOf" srcId="{B946D2C9-62B4-4F02-A91D-61A4E50AAE32}" destId="{A8D2F7D3-E3D2-4F77-813B-ED33D8F3C18D}" srcOrd="0" destOrd="0" presId="urn:microsoft.com/office/officeart/2005/8/layout/default"/>
    <dgm:cxn modelId="{37CA2A17-D84D-4092-A11E-D8381236CE2C}" srcId="{2346AB23-4844-4CFB-A6B2-6117331ACBAB}" destId="{AE7C10DE-0382-4AF5-9237-73B09E351BCD}" srcOrd="4" destOrd="0" parTransId="{E7A909C7-C772-499B-AA26-B77900DAC701}" sibTransId="{8E3AA419-E0D5-4AC7-AFFB-1FB3FFC47301}"/>
    <dgm:cxn modelId="{9190CC60-2FD7-4870-82DD-C691E1667636}" srcId="{2346AB23-4844-4CFB-A6B2-6117331ACBAB}" destId="{19AD01FC-4A87-47EF-9A5D-3ED2477019A8}" srcOrd="3" destOrd="0" parTransId="{4EA1FCE0-883B-41B5-BF43-F3130A2C4D98}" sibTransId="{2CE204FA-8B11-4855-BBB5-21847DDA294E}"/>
    <dgm:cxn modelId="{46F00D15-F7C7-4566-AE24-D75942B9EABB}" srcId="{2346AB23-4844-4CFB-A6B2-6117331ACBAB}" destId="{C68E9DAF-FE59-4256-A000-2BA053D0454B}" srcOrd="6" destOrd="0" parTransId="{4C42548A-C392-4472-A46F-462F7DD44BE4}" sibTransId="{B50F873F-08E9-429D-9BC3-2EF566C93DE0}"/>
    <dgm:cxn modelId="{DE4C9EF9-3840-4845-A4DB-D93C9DE3FE38}" srcId="{2346AB23-4844-4CFB-A6B2-6117331ACBAB}" destId="{659C1DC9-3C07-4A64-A19B-CB4A212BCDB5}" srcOrd="8" destOrd="0" parTransId="{C0D0B851-6023-4D84-9EC2-7230A11C0C93}" sibTransId="{52AFCA34-869E-4EA7-A840-1EBF96AF87B1}"/>
    <dgm:cxn modelId="{A42AA33D-BC5F-4074-9738-F77E1D8A0F62}" type="presOf" srcId="{9FC887B7-4006-4BAF-8BCF-3F6F8E03057E}" destId="{CB40EED8-FABD-4C68-A9DC-AE4BE2C0717F}" srcOrd="0" destOrd="0" presId="urn:microsoft.com/office/officeart/2005/8/layout/default"/>
    <dgm:cxn modelId="{6442707F-1B12-4B01-8952-E19B3676F353}" type="presOf" srcId="{659C1DC9-3C07-4A64-A19B-CB4A212BCDB5}" destId="{338A816B-1B13-4262-A6F8-83942706BA5A}" srcOrd="0" destOrd="0" presId="urn:microsoft.com/office/officeart/2005/8/layout/default"/>
    <dgm:cxn modelId="{16C43C84-7F5E-4D60-9D4C-C35D4CC6A16A}" srcId="{2346AB23-4844-4CFB-A6B2-6117331ACBAB}" destId="{9FC887B7-4006-4BAF-8BCF-3F6F8E03057E}" srcOrd="5" destOrd="0" parTransId="{93D55C66-BA4A-4D9A-BE67-8DA47E975E09}" sibTransId="{C535BF47-4C32-4DEB-93CB-1BA4D8A9ABB6}"/>
    <dgm:cxn modelId="{ED8CC19A-6BBC-44F1-A177-BFA4E9B8EE92}" type="presOf" srcId="{2346AB23-4844-4CFB-A6B2-6117331ACBAB}" destId="{749A4CB6-8A84-4376-B107-26CA6E8E8A68}" srcOrd="0" destOrd="0" presId="urn:microsoft.com/office/officeart/2005/8/layout/default"/>
    <dgm:cxn modelId="{AFA3CB91-9A94-417D-B4B0-47B68F68CADC}" srcId="{2346AB23-4844-4CFB-A6B2-6117331ACBAB}" destId="{B946D2C9-62B4-4F02-A91D-61A4E50AAE32}" srcOrd="7" destOrd="0" parTransId="{CE709EF1-9FC9-4427-A056-771FF44B8DB9}" sibTransId="{629AC89C-478A-4E71-B037-4C9FF472FD7E}"/>
    <dgm:cxn modelId="{82221396-9D6A-4478-B590-DCDFABEADF52}" type="presOf" srcId="{3199486E-26FE-4AB9-BBB7-0073365FAF85}" destId="{67C5D8C9-5C2B-49B0-B038-C2C133B33F69}" srcOrd="0" destOrd="0" presId="urn:microsoft.com/office/officeart/2005/8/layout/default"/>
    <dgm:cxn modelId="{75FE82A3-FEDC-43AC-851D-D1BEECB8E383}" type="presOf" srcId="{AE7C10DE-0382-4AF5-9237-73B09E351BCD}" destId="{FE38D6CA-B860-400B-8F5C-B94B9CFBE494}" srcOrd="0" destOrd="0" presId="urn:microsoft.com/office/officeart/2005/8/layout/default"/>
    <dgm:cxn modelId="{360DC0E9-581A-43AB-A5DE-B3A31C052E9B}" type="presOf" srcId="{C68E9DAF-FE59-4256-A000-2BA053D0454B}" destId="{B2D52E7E-432A-484D-A149-5C50B8D984BD}" srcOrd="0" destOrd="0" presId="urn:microsoft.com/office/officeart/2005/8/layout/default"/>
    <dgm:cxn modelId="{19EEBFAF-C9F1-4277-A08C-5BE5EFA9CA28}" srcId="{2346AB23-4844-4CFB-A6B2-6117331ACBAB}" destId="{8C701221-93D5-4CE8-933F-34A2EF5C67D1}" srcOrd="1" destOrd="0" parTransId="{F93BE536-488D-45C4-91EF-C691293C7601}" sibTransId="{987578B6-58B5-40A0-937D-5BDDBDA4230C}"/>
    <dgm:cxn modelId="{37ADEA20-1E94-4B6E-B395-CFC226B009AC}" type="presOf" srcId="{19AD01FC-4A87-47EF-9A5D-3ED2477019A8}" destId="{22E66DFB-2A69-4F18-964D-E777611088A0}" srcOrd="0" destOrd="0" presId="urn:microsoft.com/office/officeart/2005/8/layout/default"/>
    <dgm:cxn modelId="{429CED44-EAE9-47C8-A141-FBEBD6F9C3FA}" srcId="{2346AB23-4844-4CFB-A6B2-6117331ACBAB}" destId="{3199486E-26FE-4AB9-BBB7-0073365FAF85}" srcOrd="9" destOrd="0" parTransId="{59FA2CF5-89EC-4846-84B5-8799C6D93626}" sibTransId="{90AB876D-C474-4881-B1E2-A9CAFDB411B0}"/>
    <dgm:cxn modelId="{E219BBE3-CED7-48DB-A935-A9B952D6250E}" type="presOf" srcId="{B01E8320-0EAE-4990-8AE9-B3FAD3C6DEDD}" destId="{D274A3B5-E209-4A39-BE8E-284E26EA0544}" srcOrd="0" destOrd="0" presId="urn:microsoft.com/office/officeart/2005/8/layout/default"/>
    <dgm:cxn modelId="{61639AA6-16FA-4764-958C-D8F2A8E51391}" type="presOf" srcId="{569DA507-A496-463E-9E24-F519B2BFEADC}" destId="{59B4D2CF-3507-4055-8E4B-CCCE1C9A3A52}" srcOrd="0" destOrd="0" presId="urn:microsoft.com/office/officeart/2005/8/layout/default"/>
    <dgm:cxn modelId="{3D12B353-3801-4739-A94E-1D5DE42B23EB}" type="presOf" srcId="{8C701221-93D5-4CE8-933F-34A2EF5C67D1}" destId="{263A370E-365B-4910-AEE5-FA8500D02B14}" srcOrd="0" destOrd="0" presId="urn:microsoft.com/office/officeart/2005/8/layout/default"/>
    <dgm:cxn modelId="{FBB4D341-2C55-4B11-8998-8F152681D372}" type="presParOf" srcId="{749A4CB6-8A84-4376-B107-26CA6E8E8A68}" destId="{59B4D2CF-3507-4055-8E4B-CCCE1C9A3A52}" srcOrd="0" destOrd="0" presId="urn:microsoft.com/office/officeart/2005/8/layout/default"/>
    <dgm:cxn modelId="{6E35EDFA-3622-40CB-BB69-C13FE8E76C70}" type="presParOf" srcId="{749A4CB6-8A84-4376-B107-26CA6E8E8A68}" destId="{9DF9FB9A-73FE-47A3-8E0D-DEBBC9F918F0}" srcOrd="1" destOrd="0" presId="urn:microsoft.com/office/officeart/2005/8/layout/default"/>
    <dgm:cxn modelId="{CF021F35-934F-46FB-B2A3-5B12F6CECE71}" type="presParOf" srcId="{749A4CB6-8A84-4376-B107-26CA6E8E8A68}" destId="{263A370E-365B-4910-AEE5-FA8500D02B14}" srcOrd="2" destOrd="0" presId="urn:microsoft.com/office/officeart/2005/8/layout/default"/>
    <dgm:cxn modelId="{E85633AC-B263-40EB-A7B3-AA2471D0665E}" type="presParOf" srcId="{749A4CB6-8A84-4376-B107-26CA6E8E8A68}" destId="{89080302-6D83-44DA-94FE-CC528E09B46F}" srcOrd="3" destOrd="0" presId="urn:microsoft.com/office/officeart/2005/8/layout/default"/>
    <dgm:cxn modelId="{43C70480-2495-4C67-A12D-08427B773FC9}" type="presParOf" srcId="{749A4CB6-8A84-4376-B107-26CA6E8E8A68}" destId="{D274A3B5-E209-4A39-BE8E-284E26EA0544}" srcOrd="4" destOrd="0" presId="urn:microsoft.com/office/officeart/2005/8/layout/default"/>
    <dgm:cxn modelId="{E14401E0-0A35-4479-9668-059096684B22}" type="presParOf" srcId="{749A4CB6-8A84-4376-B107-26CA6E8E8A68}" destId="{B876891F-B831-4944-9C99-449A33FF3559}" srcOrd="5" destOrd="0" presId="urn:microsoft.com/office/officeart/2005/8/layout/default"/>
    <dgm:cxn modelId="{760DB2B3-07AD-47F8-9160-96C70AD3F701}" type="presParOf" srcId="{749A4CB6-8A84-4376-B107-26CA6E8E8A68}" destId="{22E66DFB-2A69-4F18-964D-E777611088A0}" srcOrd="6" destOrd="0" presId="urn:microsoft.com/office/officeart/2005/8/layout/default"/>
    <dgm:cxn modelId="{22BA5B28-663B-4C45-8BB5-A6293A9E4D92}" type="presParOf" srcId="{749A4CB6-8A84-4376-B107-26CA6E8E8A68}" destId="{3B79D834-F274-49E8-B61A-8305052B5023}" srcOrd="7" destOrd="0" presId="urn:microsoft.com/office/officeart/2005/8/layout/default"/>
    <dgm:cxn modelId="{F30A2C9E-4D31-4416-8A69-1BE0D405BF6F}" type="presParOf" srcId="{749A4CB6-8A84-4376-B107-26CA6E8E8A68}" destId="{FE38D6CA-B860-400B-8F5C-B94B9CFBE494}" srcOrd="8" destOrd="0" presId="urn:microsoft.com/office/officeart/2005/8/layout/default"/>
    <dgm:cxn modelId="{E9B627CD-D372-4D75-A87A-334CB292C1C3}" type="presParOf" srcId="{749A4CB6-8A84-4376-B107-26CA6E8E8A68}" destId="{225EDE7F-8742-4563-BD7F-6BC52D9487FF}" srcOrd="9" destOrd="0" presId="urn:microsoft.com/office/officeart/2005/8/layout/default"/>
    <dgm:cxn modelId="{E2314F44-BC01-45DF-8571-732E4646B9FF}" type="presParOf" srcId="{749A4CB6-8A84-4376-B107-26CA6E8E8A68}" destId="{CB40EED8-FABD-4C68-A9DC-AE4BE2C0717F}" srcOrd="10" destOrd="0" presId="urn:microsoft.com/office/officeart/2005/8/layout/default"/>
    <dgm:cxn modelId="{47DCD2BE-2939-47A3-B5EA-661D6A8A4CAC}" type="presParOf" srcId="{749A4CB6-8A84-4376-B107-26CA6E8E8A68}" destId="{43436AC9-75E8-46F8-A22D-9E69E1ECF328}" srcOrd="11" destOrd="0" presId="urn:microsoft.com/office/officeart/2005/8/layout/default"/>
    <dgm:cxn modelId="{BDFAA49B-BC7B-42E9-B671-38C51D587BB3}" type="presParOf" srcId="{749A4CB6-8A84-4376-B107-26CA6E8E8A68}" destId="{B2D52E7E-432A-484D-A149-5C50B8D984BD}" srcOrd="12" destOrd="0" presId="urn:microsoft.com/office/officeart/2005/8/layout/default"/>
    <dgm:cxn modelId="{60B1A6BC-F93A-4763-80E9-E55BC07856B2}" type="presParOf" srcId="{749A4CB6-8A84-4376-B107-26CA6E8E8A68}" destId="{220A0AB9-27C5-4A74-A3DE-8A674AE03341}" srcOrd="13" destOrd="0" presId="urn:microsoft.com/office/officeart/2005/8/layout/default"/>
    <dgm:cxn modelId="{109280C8-DFA5-413F-AD7A-9BE17FED8A7E}" type="presParOf" srcId="{749A4CB6-8A84-4376-B107-26CA6E8E8A68}" destId="{A8D2F7D3-E3D2-4F77-813B-ED33D8F3C18D}" srcOrd="14" destOrd="0" presId="urn:microsoft.com/office/officeart/2005/8/layout/default"/>
    <dgm:cxn modelId="{DD106771-A2BD-464F-B2A1-B2CDF916498B}" type="presParOf" srcId="{749A4CB6-8A84-4376-B107-26CA6E8E8A68}" destId="{2C5ACD55-9565-4FBA-9242-1AC21ED203C3}" srcOrd="15" destOrd="0" presId="urn:microsoft.com/office/officeart/2005/8/layout/default"/>
    <dgm:cxn modelId="{AABF784B-8527-4309-B9F5-71E93A1AEF95}" type="presParOf" srcId="{749A4CB6-8A84-4376-B107-26CA6E8E8A68}" destId="{338A816B-1B13-4262-A6F8-83942706BA5A}" srcOrd="16" destOrd="0" presId="urn:microsoft.com/office/officeart/2005/8/layout/default"/>
    <dgm:cxn modelId="{A6E8DD4A-1F9F-4143-9CEF-71EB4447EB00}" type="presParOf" srcId="{749A4CB6-8A84-4376-B107-26CA6E8E8A68}" destId="{E6220EB8-9B65-4218-8CD6-8DE35C22D7F1}" srcOrd="17" destOrd="0" presId="urn:microsoft.com/office/officeart/2005/8/layout/default"/>
    <dgm:cxn modelId="{122A0E31-665C-441A-B666-FC6E388C5136}" type="presParOf" srcId="{749A4CB6-8A84-4376-B107-26CA6E8E8A68}" destId="{67C5D8C9-5C2B-49B0-B038-C2C133B33F69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BE4E42-F190-4B86-AA0A-F115848EB73D}">
      <dsp:nvSpPr>
        <dsp:cNvPr id="0" name=""/>
        <dsp:cNvSpPr/>
      </dsp:nvSpPr>
      <dsp:spPr>
        <a:xfrm>
          <a:off x="3425600" y="733892"/>
          <a:ext cx="2688103" cy="3995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8215"/>
              </a:lnTo>
              <a:lnTo>
                <a:pt x="2688103" y="238215"/>
              </a:lnTo>
              <a:lnTo>
                <a:pt x="2688103" y="39958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9469C5-B904-4913-98FE-E6095758CB2F}">
      <dsp:nvSpPr>
        <dsp:cNvPr id="0" name=""/>
        <dsp:cNvSpPr/>
      </dsp:nvSpPr>
      <dsp:spPr>
        <a:xfrm>
          <a:off x="3425600" y="733892"/>
          <a:ext cx="896034" cy="3995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8215"/>
              </a:lnTo>
              <a:lnTo>
                <a:pt x="896034" y="238215"/>
              </a:lnTo>
              <a:lnTo>
                <a:pt x="896034" y="39958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8CB71A-9A39-48A8-9085-2CC5E29C7367}">
      <dsp:nvSpPr>
        <dsp:cNvPr id="0" name=""/>
        <dsp:cNvSpPr/>
      </dsp:nvSpPr>
      <dsp:spPr>
        <a:xfrm>
          <a:off x="2529565" y="733892"/>
          <a:ext cx="896034" cy="399586"/>
        </a:xfrm>
        <a:custGeom>
          <a:avLst/>
          <a:gdLst/>
          <a:ahLst/>
          <a:cxnLst/>
          <a:rect l="0" t="0" r="0" b="0"/>
          <a:pathLst>
            <a:path>
              <a:moveTo>
                <a:pt x="896034" y="0"/>
              </a:moveTo>
              <a:lnTo>
                <a:pt x="896034" y="238215"/>
              </a:lnTo>
              <a:lnTo>
                <a:pt x="0" y="238215"/>
              </a:lnTo>
              <a:lnTo>
                <a:pt x="0" y="39958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180351-6B34-4AA6-92E5-460AD5E776FE}">
      <dsp:nvSpPr>
        <dsp:cNvPr id="0" name=""/>
        <dsp:cNvSpPr/>
      </dsp:nvSpPr>
      <dsp:spPr>
        <a:xfrm>
          <a:off x="737496" y="733892"/>
          <a:ext cx="2688103" cy="399586"/>
        </a:xfrm>
        <a:custGeom>
          <a:avLst/>
          <a:gdLst/>
          <a:ahLst/>
          <a:cxnLst/>
          <a:rect l="0" t="0" r="0" b="0"/>
          <a:pathLst>
            <a:path>
              <a:moveTo>
                <a:pt x="2688103" y="0"/>
              </a:moveTo>
              <a:lnTo>
                <a:pt x="2688103" y="238215"/>
              </a:lnTo>
              <a:lnTo>
                <a:pt x="0" y="238215"/>
              </a:lnTo>
              <a:lnTo>
                <a:pt x="0" y="39958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664DF4-97F2-49A8-8564-6FDA49054DC0}">
      <dsp:nvSpPr>
        <dsp:cNvPr id="0" name=""/>
        <dsp:cNvSpPr/>
      </dsp:nvSpPr>
      <dsp:spPr>
        <a:xfrm>
          <a:off x="2757725" y="42300"/>
          <a:ext cx="1335750" cy="691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97591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Video</a:t>
          </a:r>
          <a:endParaRPr lang="en-US" sz="1700" kern="1200" dirty="0"/>
        </a:p>
      </dsp:txBody>
      <dsp:txXfrm>
        <a:off x="2757725" y="42300"/>
        <a:ext cx="1335750" cy="691592"/>
      </dsp:txXfrm>
    </dsp:sp>
    <dsp:sp modelId="{66E638EE-7BFF-4567-A73F-51C4D5A9A975}">
      <dsp:nvSpPr>
        <dsp:cNvPr id="0" name=""/>
        <dsp:cNvSpPr/>
      </dsp:nvSpPr>
      <dsp:spPr>
        <a:xfrm>
          <a:off x="3024875" y="580205"/>
          <a:ext cx="1202175" cy="2305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lvl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VP</a:t>
          </a:r>
          <a:endParaRPr lang="en-US" sz="1000" kern="1200" dirty="0"/>
        </a:p>
      </dsp:txBody>
      <dsp:txXfrm>
        <a:off x="3024875" y="580205"/>
        <a:ext cx="1202175" cy="230530"/>
      </dsp:txXfrm>
    </dsp:sp>
    <dsp:sp modelId="{CC086781-CDA2-4079-B910-53FA88238751}">
      <dsp:nvSpPr>
        <dsp:cNvPr id="0" name=""/>
        <dsp:cNvSpPr/>
      </dsp:nvSpPr>
      <dsp:spPr>
        <a:xfrm>
          <a:off x="69621" y="1133479"/>
          <a:ext cx="1335750" cy="69159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97591" numCol="1" spcCol="1270" anchor="ctr" anchorCtr="0">
          <a:noAutofit/>
        </a:bodyPr>
        <a:lstStyle/>
        <a:p>
          <a:pPr lvl="0" algn="ctr" defTabSz="755650">
            <a:lnSpc>
              <a:spcPct val="7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Algorithm &amp; System Team</a:t>
          </a:r>
          <a:endParaRPr lang="en-US" sz="1700" kern="1200" dirty="0"/>
        </a:p>
      </dsp:txBody>
      <dsp:txXfrm>
        <a:off x="69621" y="1133479"/>
        <a:ext cx="1335750" cy="691592"/>
      </dsp:txXfrm>
    </dsp:sp>
    <dsp:sp modelId="{474DA239-34D5-4A74-8C69-CFE9D170ACE3}">
      <dsp:nvSpPr>
        <dsp:cNvPr id="0" name=""/>
        <dsp:cNvSpPr/>
      </dsp:nvSpPr>
      <dsp:spPr>
        <a:xfrm>
          <a:off x="336771" y="1671384"/>
          <a:ext cx="1202175" cy="2305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lvl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Director, &gt;30</a:t>
          </a:r>
          <a:endParaRPr lang="en-US" sz="1000" kern="1200" dirty="0"/>
        </a:p>
      </dsp:txBody>
      <dsp:txXfrm>
        <a:off x="336771" y="1671384"/>
        <a:ext cx="1202175" cy="230530"/>
      </dsp:txXfrm>
    </dsp:sp>
    <dsp:sp modelId="{43C0AB82-A8C9-4466-96A8-700F09D832D3}">
      <dsp:nvSpPr>
        <dsp:cNvPr id="0" name=""/>
        <dsp:cNvSpPr/>
      </dsp:nvSpPr>
      <dsp:spPr>
        <a:xfrm>
          <a:off x="1861690" y="1133479"/>
          <a:ext cx="1335750" cy="691592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97591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HW Team</a:t>
          </a:r>
          <a:endParaRPr lang="en-US" sz="1700" kern="1200" dirty="0"/>
        </a:p>
      </dsp:txBody>
      <dsp:txXfrm>
        <a:off x="1861690" y="1133479"/>
        <a:ext cx="1335750" cy="691592"/>
      </dsp:txXfrm>
    </dsp:sp>
    <dsp:sp modelId="{E9F56F7D-369C-4BCA-AE02-504D9C7486E6}">
      <dsp:nvSpPr>
        <dsp:cNvPr id="0" name=""/>
        <dsp:cNvSpPr/>
      </dsp:nvSpPr>
      <dsp:spPr>
        <a:xfrm>
          <a:off x="2128840" y="1671384"/>
          <a:ext cx="1202175" cy="2305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lvl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Director, ~30</a:t>
          </a:r>
          <a:endParaRPr lang="en-US" sz="1000" kern="1200" dirty="0"/>
        </a:p>
      </dsp:txBody>
      <dsp:txXfrm>
        <a:off x="2128840" y="1671384"/>
        <a:ext cx="1202175" cy="230530"/>
      </dsp:txXfrm>
    </dsp:sp>
    <dsp:sp modelId="{C4946B25-92EE-4BC2-9BC3-C3BA521E1DF0}">
      <dsp:nvSpPr>
        <dsp:cNvPr id="0" name=""/>
        <dsp:cNvSpPr/>
      </dsp:nvSpPr>
      <dsp:spPr>
        <a:xfrm>
          <a:off x="3653759" y="1133479"/>
          <a:ext cx="1335750" cy="691592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97591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DV Team</a:t>
          </a:r>
          <a:endParaRPr lang="en-US" sz="1700" kern="1200" dirty="0"/>
        </a:p>
      </dsp:txBody>
      <dsp:txXfrm>
        <a:off x="3653759" y="1133479"/>
        <a:ext cx="1335750" cy="691592"/>
      </dsp:txXfrm>
    </dsp:sp>
    <dsp:sp modelId="{4DFDA536-790B-4983-8713-7F2A346BD6B2}">
      <dsp:nvSpPr>
        <dsp:cNvPr id="0" name=""/>
        <dsp:cNvSpPr/>
      </dsp:nvSpPr>
      <dsp:spPr>
        <a:xfrm>
          <a:off x="3920909" y="1671384"/>
          <a:ext cx="1202175" cy="2305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lvl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Director, ~40</a:t>
          </a:r>
          <a:endParaRPr lang="en-US" sz="1000" kern="1200" dirty="0"/>
        </a:p>
      </dsp:txBody>
      <dsp:txXfrm>
        <a:off x="3920909" y="1671384"/>
        <a:ext cx="1202175" cy="230530"/>
      </dsp:txXfrm>
    </dsp:sp>
    <dsp:sp modelId="{98551F98-23B3-4F31-8167-8FC4F68C486D}">
      <dsp:nvSpPr>
        <dsp:cNvPr id="0" name=""/>
        <dsp:cNvSpPr/>
      </dsp:nvSpPr>
      <dsp:spPr>
        <a:xfrm>
          <a:off x="5445828" y="1133479"/>
          <a:ext cx="1335750" cy="69159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97591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SW/FW Team</a:t>
          </a:r>
          <a:endParaRPr lang="en-US" sz="1700" kern="1200" dirty="0"/>
        </a:p>
      </dsp:txBody>
      <dsp:txXfrm>
        <a:off x="5445828" y="1133479"/>
        <a:ext cx="1335750" cy="691592"/>
      </dsp:txXfrm>
    </dsp:sp>
    <dsp:sp modelId="{E6ABAA20-6DD7-4D23-B355-4221CD1C3406}">
      <dsp:nvSpPr>
        <dsp:cNvPr id="0" name=""/>
        <dsp:cNvSpPr/>
      </dsp:nvSpPr>
      <dsp:spPr>
        <a:xfrm>
          <a:off x="5712978" y="1671384"/>
          <a:ext cx="1202175" cy="2305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lvl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Director, ~50</a:t>
          </a:r>
          <a:endParaRPr lang="en-US" sz="1000" kern="1200" dirty="0"/>
        </a:p>
      </dsp:txBody>
      <dsp:txXfrm>
        <a:off x="5712978" y="1671384"/>
        <a:ext cx="1202175" cy="2305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2A6540-522B-462E-B0A5-118D998ACF3A}">
      <dsp:nvSpPr>
        <dsp:cNvPr id="0" name=""/>
        <dsp:cNvSpPr/>
      </dsp:nvSpPr>
      <dsp:spPr>
        <a:xfrm>
          <a:off x="2383" y="247225"/>
          <a:ext cx="2904334" cy="1161733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Step1 </a:t>
          </a:r>
        </a:p>
        <a:p>
          <a:pPr lvl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Video Codec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83250" y="247225"/>
        <a:ext cx="1742601" cy="1161733"/>
      </dsp:txXfrm>
    </dsp:sp>
    <dsp:sp modelId="{921EB1CA-7109-4953-B60A-9B13ABFA97CA}">
      <dsp:nvSpPr>
        <dsp:cNvPr id="0" name=""/>
        <dsp:cNvSpPr/>
      </dsp:nvSpPr>
      <dsp:spPr>
        <a:xfrm>
          <a:off x="2616284" y="247225"/>
          <a:ext cx="2904334" cy="1161733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Step2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Differentiation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97151" y="247225"/>
        <a:ext cx="1742601" cy="1161733"/>
      </dsp:txXfrm>
    </dsp:sp>
    <dsp:sp modelId="{46B639A7-4F7B-43EB-9373-32E67118141F}">
      <dsp:nvSpPr>
        <dsp:cNvPr id="0" name=""/>
        <dsp:cNvSpPr/>
      </dsp:nvSpPr>
      <dsp:spPr>
        <a:xfrm>
          <a:off x="5230185" y="247225"/>
          <a:ext cx="2904334" cy="1161733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Step3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Computer</a:t>
          </a:r>
          <a:r>
            <a:rPr lang="en-US" sz="2000" kern="1200" dirty="0" smtClean="0"/>
            <a:t> </a:t>
          </a: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Vision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811052" y="247225"/>
        <a:ext cx="1742601" cy="11617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4D2CF-3507-4055-8E4B-CCCE1C9A3A52}">
      <dsp:nvSpPr>
        <dsp:cNvPr id="0" name=""/>
        <dsp:cNvSpPr/>
      </dsp:nvSpPr>
      <dsp:spPr>
        <a:xfrm>
          <a:off x="640556" y="719"/>
          <a:ext cx="1504652" cy="90279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Vision</a:t>
          </a:r>
          <a:endParaRPr lang="en-US" sz="1500" kern="1200" dirty="0"/>
        </a:p>
      </dsp:txBody>
      <dsp:txXfrm>
        <a:off x="640556" y="719"/>
        <a:ext cx="1504652" cy="902791"/>
      </dsp:txXfrm>
    </dsp:sp>
    <dsp:sp modelId="{263A370E-365B-4910-AEE5-FA8500D02B14}">
      <dsp:nvSpPr>
        <dsp:cNvPr id="0" name=""/>
        <dsp:cNvSpPr/>
      </dsp:nvSpPr>
      <dsp:spPr>
        <a:xfrm>
          <a:off x="2295673" y="719"/>
          <a:ext cx="1504652" cy="9027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Strategic planning </a:t>
          </a:r>
          <a:endParaRPr lang="en-US" sz="1500" kern="1200" dirty="0"/>
        </a:p>
      </dsp:txBody>
      <dsp:txXfrm>
        <a:off x="2295673" y="719"/>
        <a:ext cx="1504652" cy="902791"/>
      </dsp:txXfrm>
    </dsp:sp>
    <dsp:sp modelId="{D274A3B5-E209-4A39-BE8E-284E26EA0544}">
      <dsp:nvSpPr>
        <dsp:cNvPr id="0" name=""/>
        <dsp:cNvSpPr/>
      </dsp:nvSpPr>
      <dsp:spPr>
        <a:xfrm>
          <a:off x="3950791" y="719"/>
          <a:ext cx="1504652" cy="90279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Academy + industry</a:t>
          </a:r>
          <a:endParaRPr lang="en-US" sz="1500" kern="1200" dirty="0"/>
        </a:p>
      </dsp:txBody>
      <dsp:txXfrm>
        <a:off x="3950791" y="719"/>
        <a:ext cx="1504652" cy="902791"/>
      </dsp:txXfrm>
    </dsp:sp>
    <dsp:sp modelId="{22E66DFB-2A69-4F18-964D-E777611088A0}">
      <dsp:nvSpPr>
        <dsp:cNvPr id="0" name=""/>
        <dsp:cNvSpPr/>
      </dsp:nvSpPr>
      <dsp:spPr>
        <a:xfrm>
          <a:off x="640556" y="1053975"/>
          <a:ext cx="1504652" cy="90279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15 years chip design</a:t>
          </a:r>
          <a:endParaRPr lang="en-US" sz="1500" kern="1200" dirty="0"/>
        </a:p>
      </dsp:txBody>
      <dsp:txXfrm>
        <a:off x="640556" y="1053975"/>
        <a:ext cx="1504652" cy="902791"/>
      </dsp:txXfrm>
    </dsp:sp>
    <dsp:sp modelId="{FE38D6CA-B860-400B-8F5C-B94B9CFBE494}">
      <dsp:nvSpPr>
        <dsp:cNvPr id="0" name=""/>
        <dsp:cNvSpPr/>
      </dsp:nvSpPr>
      <dsp:spPr>
        <a:xfrm>
          <a:off x="2295673" y="1053975"/>
          <a:ext cx="1504652" cy="90279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11 years video experience</a:t>
          </a:r>
          <a:endParaRPr lang="en-US" sz="1500" kern="1200" dirty="0"/>
        </a:p>
      </dsp:txBody>
      <dsp:txXfrm>
        <a:off x="2295673" y="1053975"/>
        <a:ext cx="1504652" cy="902791"/>
      </dsp:txXfrm>
    </dsp:sp>
    <dsp:sp modelId="{CB40EED8-FABD-4C68-A9DC-AE4BE2C0717F}">
      <dsp:nvSpPr>
        <dsp:cNvPr id="0" name=""/>
        <dsp:cNvSpPr/>
      </dsp:nvSpPr>
      <dsp:spPr>
        <a:xfrm>
          <a:off x="3950791" y="1053975"/>
          <a:ext cx="1504652" cy="90279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10 years oversea</a:t>
          </a:r>
          <a:endParaRPr lang="en-US" sz="1500" kern="1200" dirty="0"/>
        </a:p>
      </dsp:txBody>
      <dsp:txXfrm>
        <a:off x="3950791" y="1053975"/>
        <a:ext cx="1504652" cy="902791"/>
      </dsp:txXfrm>
    </dsp:sp>
    <dsp:sp modelId="{B2D52E7E-432A-484D-A149-5C50B8D984BD}">
      <dsp:nvSpPr>
        <dsp:cNvPr id="0" name=""/>
        <dsp:cNvSpPr/>
      </dsp:nvSpPr>
      <dsp:spPr>
        <a:xfrm>
          <a:off x="640556" y="2107232"/>
          <a:ext cx="1504652" cy="9027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Leadership</a:t>
          </a:r>
          <a:endParaRPr lang="en-US" sz="1500" kern="1200" dirty="0"/>
        </a:p>
      </dsp:txBody>
      <dsp:txXfrm>
        <a:off x="640556" y="2107232"/>
        <a:ext cx="1504652" cy="902791"/>
      </dsp:txXfrm>
    </dsp:sp>
    <dsp:sp modelId="{A8D2F7D3-E3D2-4F77-813B-ED33D8F3C18D}">
      <dsp:nvSpPr>
        <dsp:cNvPr id="0" name=""/>
        <dsp:cNvSpPr/>
      </dsp:nvSpPr>
      <dsp:spPr>
        <a:xfrm>
          <a:off x="2295673" y="2107232"/>
          <a:ext cx="1504652" cy="90279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Communication</a:t>
          </a:r>
          <a:endParaRPr lang="en-US" sz="1500" kern="1200" dirty="0"/>
        </a:p>
      </dsp:txBody>
      <dsp:txXfrm>
        <a:off x="2295673" y="2107232"/>
        <a:ext cx="1504652" cy="902791"/>
      </dsp:txXfrm>
    </dsp:sp>
    <dsp:sp modelId="{338A816B-1B13-4262-A6F8-83942706BA5A}">
      <dsp:nvSpPr>
        <dsp:cNvPr id="0" name=""/>
        <dsp:cNvSpPr/>
      </dsp:nvSpPr>
      <dsp:spPr>
        <a:xfrm>
          <a:off x="3950791" y="2107232"/>
          <a:ext cx="1504652" cy="90279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Connections</a:t>
          </a:r>
          <a:endParaRPr lang="en-US" sz="1500" kern="1200" dirty="0"/>
        </a:p>
      </dsp:txBody>
      <dsp:txXfrm>
        <a:off x="3950791" y="2107232"/>
        <a:ext cx="1504652" cy="902791"/>
      </dsp:txXfrm>
    </dsp:sp>
    <dsp:sp modelId="{67C5D8C9-5C2B-49B0-B038-C2C133B33F69}">
      <dsp:nvSpPr>
        <dsp:cNvPr id="0" name=""/>
        <dsp:cNvSpPr/>
      </dsp:nvSpPr>
      <dsp:spPr>
        <a:xfrm>
          <a:off x="2295673" y="3160489"/>
          <a:ext cx="1504652" cy="90279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English</a:t>
          </a:r>
          <a:endParaRPr lang="en-US" sz="1500" kern="1200" dirty="0"/>
        </a:p>
      </dsp:txBody>
      <dsp:txXfrm>
        <a:off x="2295673" y="3160489"/>
        <a:ext cx="1504652" cy="9027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3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0.84288</cdr:x>
      <cdr:y>0.3319</cdr:y>
    </cdr:from>
    <cdr:to>
      <cdr:x>1</cdr:x>
      <cdr:y>0.3943</cdr:y>
    </cdr:to>
    <cdr:sp macro="" textlink="">
      <cdr:nvSpPr>
        <cdr:cNvPr id="2" name="TextBox 3"/>
        <cdr:cNvSpPr txBox="1"/>
      </cdr:nvSpPr>
      <cdr:spPr>
        <a:xfrm xmlns:a="http://schemas.openxmlformats.org/drawingml/2006/main">
          <a:off x="6780860" y="1296144"/>
          <a:ext cx="1264010" cy="24368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050" b="1" dirty="0">
              <a:solidFill>
                <a:schemeClr val="accent2">
                  <a:lumMod val="50000"/>
                </a:schemeClr>
              </a:solidFill>
            </a:rPr>
            <a:t>Target</a:t>
          </a:r>
          <a:r>
            <a:rPr lang="en-US" sz="1050" b="1" dirty="0">
              <a:solidFill>
                <a:schemeClr val="tx2"/>
              </a:solidFill>
            </a:rPr>
            <a:t> </a:t>
          </a:r>
          <a:r>
            <a:rPr lang="en-US" sz="1050" b="1" dirty="0">
              <a:solidFill>
                <a:schemeClr val="accent2">
                  <a:lumMod val="50000"/>
                </a:schemeClr>
              </a:solidFill>
            </a:rPr>
            <a:t>Time</a:t>
          </a:r>
        </a:p>
      </cdr:txBody>
    </cdr:sp>
  </cdr:relSizeAnchor>
  <cdr:relSizeAnchor xmlns:cdr="http://schemas.openxmlformats.org/drawingml/2006/chartDrawing">
    <cdr:from>
      <cdr:x>0.66861</cdr:x>
      <cdr:y>0.55691</cdr:y>
    </cdr:from>
    <cdr:to>
      <cdr:x>0.87719</cdr:x>
      <cdr:y>0.61931</cdr:y>
    </cdr:to>
    <cdr:sp macro="" textlink="">
      <cdr:nvSpPr>
        <cdr:cNvPr id="5" name="TextBox 3"/>
        <cdr:cNvSpPr txBox="1"/>
      </cdr:nvSpPr>
      <cdr:spPr>
        <a:xfrm xmlns:a="http://schemas.openxmlformats.org/drawingml/2006/main">
          <a:off x="4356092" y="2174877"/>
          <a:ext cx="1358908" cy="24368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50" b="1">
              <a:solidFill>
                <a:schemeClr val="accent4">
                  <a:lumMod val="50000"/>
                </a:schemeClr>
              </a:solidFill>
            </a:rPr>
            <a:t>Required system latency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0.11702</cdr:x>
      <cdr:y>0.35804</cdr:y>
    </cdr:from>
    <cdr:to>
      <cdr:x>0.98936</cdr:x>
      <cdr:y>0.35804</cdr:y>
    </cdr:to>
    <cdr:cxnSp macro="">
      <cdr:nvCxnSpPr>
        <cdr:cNvPr id="3" name="Straight Connector 2"/>
        <cdr:cNvCxnSpPr/>
      </cdr:nvCxnSpPr>
      <cdr:spPr>
        <a:xfrm xmlns:a="http://schemas.openxmlformats.org/drawingml/2006/main">
          <a:off x="838200" y="1219200"/>
          <a:ext cx="6248400" cy="0"/>
        </a:xfrm>
        <a:prstGeom xmlns:a="http://schemas.openxmlformats.org/drawingml/2006/main" prst="line">
          <a:avLst/>
        </a:prstGeom>
        <a:ln xmlns:a="http://schemas.openxmlformats.org/drawingml/2006/main" w="19050">
          <a:solidFill>
            <a:srgbClr val="FF0000"/>
          </a:solidFill>
          <a:headEnd type="none" w="lg" len="lg"/>
          <a:tailEnd type="none"/>
        </a:ln>
        <a:effectLst xmlns:a="http://schemas.openxmlformats.org/drawingml/2006/main"/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0.15098</cdr:x>
      <cdr:y>0.78151</cdr:y>
    </cdr:from>
    <cdr:to>
      <cdr:x>0.28519</cdr:x>
      <cdr:y>0.84013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648072" y="2880198"/>
          <a:ext cx="576064" cy="21602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dirty="0" err="1" smtClean="0">
              <a:latin typeface="Arial" panose="020B0604020202020204" pitchFamily="34" charset="0"/>
              <a:cs typeface="Arial" panose="020B0604020202020204" pitchFamily="34" charset="0"/>
            </a:rPr>
            <a:t>GenA</a:t>
          </a:r>
          <a:endParaRPr lang="en-US" sz="1100" dirty="0"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  <cdr:relSizeAnchor xmlns:cdr="http://schemas.openxmlformats.org/drawingml/2006/chartDrawing">
    <cdr:from>
      <cdr:x>0.36907</cdr:x>
      <cdr:y>0.78155</cdr:y>
    </cdr:from>
    <cdr:to>
      <cdr:x>0.50327</cdr:x>
      <cdr:y>0.90858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584176" y="2880320"/>
          <a:ext cx="576064" cy="46817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dirty="0" err="1" smtClean="0">
              <a:latin typeface="Arial" panose="020B0604020202020204" pitchFamily="34" charset="0"/>
              <a:cs typeface="Arial" panose="020B0604020202020204" pitchFamily="34" charset="0"/>
            </a:rPr>
            <a:t>GenA</a:t>
          </a:r>
          <a:r>
            <a:rPr lang="en-US" sz="1100" dirty="0" smtClean="0">
              <a:latin typeface="Arial" panose="020B0604020202020204" pitchFamily="34" charset="0"/>
              <a:cs typeface="Arial" panose="020B0604020202020204" pitchFamily="34" charset="0"/>
            </a:rPr>
            <a:t>  </a:t>
          </a:r>
          <a:r>
            <a:rPr lang="en-US" sz="800" dirty="0" smtClean="0">
              <a:latin typeface="Arial" panose="020B0604020202020204" pitchFamily="34" charset="0"/>
              <a:cs typeface="Arial" panose="020B0604020202020204" pitchFamily="34" charset="0"/>
            </a:rPr>
            <a:t>DCVS</a:t>
          </a:r>
          <a:endParaRPr lang="en-US" sz="800" dirty="0"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  <cdr:relSizeAnchor xmlns:cdr="http://schemas.openxmlformats.org/drawingml/2006/chartDrawing">
    <cdr:from>
      <cdr:x>0.57038</cdr:x>
      <cdr:y>0.78638</cdr:y>
    </cdr:from>
    <cdr:to>
      <cdr:x>0.80524</cdr:x>
      <cdr:y>0.89388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2448272" y="2898139"/>
          <a:ext cx="1008112" cy="39616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dirty="0" err="1" smtClean="0">
              <a:latin typeface="Arial" panose="020B0604020202020204" pitchFamily="34" charset="0"/>
              <a:cs typeface="Arial" panose="020B0604020202020204" pitchFamily="34" charset="0"/>
            </a:rPr>
            <a:t>GenB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  <a:p xmlns:a="http://schemas.openxmlformats.org/drawingml/2006/main">
          <a:r>
            <a:rPr lang="en-US" sz="800" dirty="0" smtClean="0">
              <a:latin typeface="Arial" panose="020B0604020202020204" pitchFamily="34" charset="0"/>
              <a:cs typeface="Arial" panose="020B0604020202020204" pitchFamily="34" charset="0"/>
            </a:rPr>
            <a:t>BW compression </a:t>
          </a:r>
          <a:endParaRPr lang="en-US" sz="800" dirty="0"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  <cdr:relSizeAnchor xmlns:cdr="http://schemas.openxmlformats.org/drawingml/2006/chartDrawing">
    <cdr:from>
      <cdr:x>0.76514</cdr:x>
      <cdr:y>0.78155</cdr:y>
    </cdr:from>
    <cdr:to>
      <cdr:x>1</cdr:x>
      <cdr:y>0.94766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3284278" y="2880320"/>
          <a:ext cx="1008112" cy="61219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dirty="0" err="1" smtClean="0">
              <a:latin typeface="Arial" panose="020B0604020202020204" pitchFamily="34" charset="0"/>
              <a:cs typeface="Arial" panose="020B0604020202020204" pitchFamily="34" charset="0"/>
            </a:rPr>
            <a:t>GenB</a:t>
          </a:r>
          <a:r>
            <a:rPr lang="en-US" sz="1100" dirty="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 xmlns:a="http://schemas.openxmlformats.org/drawingml/2006/main">
          <a:r>
            <a:rPr lang="en-US" sz="800" dirty="0" smtClean="0">
              <a:latin typeface="Arial" panose="020B0604020202020204" pitchFamily="34" charset="0"/>
              <a:cs typeface="Arial" panose="020B0604020202020204" pitchFamily="34" charset="0"/>
            </a:rPr>
            <a:t>BW compression + DCVS </a:t>
          </a:r>
          <a:endParaRPr lang="en-US" sz="800" dirty="0"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0.71104</cdr:x>
      <cdr:y>0.30263</cdr:y>
    </cdr:from>
    <cdr:to>
      <cdr:x>0.77058</cdr:x>
      <cdr:y>0.43066</cdr:y>
    </cdr:to>
    <cdr:pic>
      <cdr:nvPicPr>
        <cdr:cNvPr id="2" name="chart"/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3598366" y="1010404"/>
          <a:ext cx="301315" cy="427463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2C9A3-5BAD-43E8-B77F-3F9D82DC2DB8}" type="datetimeFigureOut">
              <a:rPr lang="en-US" smtClean="0"/>
              <a:t>7/8/2015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C920FB-EE54-46DF-B7B1-D891745C4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35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C920FB-EE54-46DF-B7B1-D891745C4E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85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5143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509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3528" y="27216"/>
            <a:ext cx="8820472" cy="857250"/>
          </a:xfrm>
        </p:spPr>
        <p:txBody>
          <a:bodyPr/>
          <a:lstStyle>
            <a:lvl1pPr algn="l">
              <a:defRPr sz="32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altLang="ko-KR" dirty="0" smtClean="0"/>
              <a:t> Click to edit Master title style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9582"/>
            <a:ext cx="8229600" cy="353504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467544" y="843558"/>
            <a:ext cx="8219256" cy="0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467544" y="843558"/>
            <a:ext cx="8219256" cy="0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907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730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08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2015-07-08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7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2015-07-08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11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2015-07-08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442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733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94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184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0396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68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7216"/>
            <a:ext cx="6948264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C5CDB-1AEF-4522-8EAF-CE1F4E5D863E}" type="datetimeFigureOut">
              <a:rPr lang="ko-KR" altLang="en-US" smtClean="0"/>
              <a:t>2015-07-08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075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hyperlink" Target="sequences/speedboat/Speedboat_1_1920x1080_30fps.avi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0232" y="4011910"/>
            <a:ext cx="1224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kumimoji="0" lang="en-US" altLang="ko-KR" sz="1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Xu, Ph.D.</a:t>
            </a:r>
            <a:endParaRPr kumimoji="0" lang="en-US" altLang="ko-KR" sz="1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3635896" y="3291830"/>
            <a:ext cx="43924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200" b="1" dirty="0" smtClean="0">
                <a:solidFill>
                  <a:schemeClr val="bg1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Mobile Video System</a:t>
            </a:r>
          </a:p>
        </p:txBody>
      </p:sp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278720" y="2307251"/>
            <a:ext cx="8236877" cy="0"/>
          </a:xfrm>
          <a:prstGeom prst="line">
            <a:avLst/>
          </a:prstGeom>
          <a:ln w="1270">
            <a:solidFill>
              <a:schemeClr val="tx1">
                <a:lumMod val="65000"/>
                <a:lumOff val="35000"/>
              </a:schemeClr>
            </a:solidFill>
            <a:prstDash val="sys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8"/>
          <p:cNvSpPr txBox="1"/>
          <p:nvPr/>
        </p:nvSpPr>
        <p:spPr>
          <a:xfrm>
            <a:off x="153154" y="2732178"/>
            <a:ext cx="1361715" cy="3222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4" name="TextBox 27"/>
          <p:cNvSpPr txBox="1"/>
          <p:nvPr/>
        </p:nvSpPr>
        <p:spPr>
          <a:xfrm>
            <a:off x="1979712" y="2730853"/>
            <a:ext cx="1465485" cy="4156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/>
          <p:cNvSpPr>
            <a:spLocks noChangeAspect="1"/>
          </p:cNvSpPr>
          <p:nvPr/>
        </p:nvSpPr>
        <p:spPr bwMode="auto">
          <a:xfrm>
            <a:off x="2275939" y="1907930"/>
            <a:ext cx="737210" cy="74980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2</a:t>
            </a:r>
          </a:p>
        </p:txBody>
      </p:sp>
      <p:sp>
        <p:nvSpPr>
          <p:cNvPr id="6" name="TextBox 28"/>
          <p:cNvSpPr txBox="1"/>
          <p:nvPr/>
        </p:nvSpPr>
        <p:spPr>
          <a:xfrm>
            <a:off x="3949649" y="2738185"/>
            <a:ext cx="1058299" cy="4156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7" name="Oval 6"/>
          <p:cNvSpPr>
            <a:spLocks noChangeAspect="1"/>
          </p:cNvSpPr>
          <p:nvPr/>
        </p:nvSpPr>
        <p:spPr bwMode="auto">
          <a:xfrm>
            <a:off x="4115317" y="1907930"/>
            <a:ext cx="766536" cy="74980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3</a:t>
            </a:r>
          </a:p>
        </p:txBody>
      </p:sp>
      <p:sp>
        <p:nvSpPr>
          <p:cNvPr id="8" name="TextBox 29"/>
          <p:cNvSpPr txBox="1"/>
          <p:nvPr/>
        </p:nvSpPr>
        <p:spPr>
          <a:xfrm>
            <a:off x="5652120" y="2731663"/>
            <a:ext cx="1325608" cy="3188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9" name="Oval 8"/>
          <p:cNvSpPr>
            <a:spLocks noChangeAspect="1"/>
          </p:cNvSpPr>
          <p:nvPr/>
        </p:nvSpPr>
        <p:spPr bwMode="auto">
          <a:xfrm>
            <a:off x="7562613" y="1907930"/>
            <a:ext cx="758062" cy="74980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5</a:t>
            </a:r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Qualcomm Office Bold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84633" y="1383417"/>
            <a:ext cx="85747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>
            <a:spLocks noChangeAspect="1"/>
          </p:cNvSpPr>
          <p:nvPr/>
        </p:nvSpPr>
        <p:spPr bwMode="auto">
          <a:xfrm>
            <a:off x="5931656" y="1907930"/>
            <a:ext cx="766536" cy="74980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4</a:t>
            </a:r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Qualcomm Office Bold" pitchFamily="34" charset="0"/>
            </a:endParaRPr>
          </a:p>
        </p:txBody>
      </p:sp>
      <p:sp>
        <p:nvSpPr>
          <p:cNvPr id="12" name="Oval 11"/>
          <p:cNvSpPr>
            <a:spLocks noChangeAspect="1"/>
          </p:cNvSpPr>
          <p:nvPr/>
        </p:nvSpPr>
        <p:spPr bwMode="auto">
          <a:xfrm>
            <a:off x="495409" y="1910580"/>
            <a:ext cx="765219" cy="747158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1</a:t>
            </a:r>
          </a:p>
        </p:txBody>
      </p:sp>
      <p:sp>
        <p:nvSpPr>
          <p:cNvPr id="14" name="TextBox 29"/>
          <p:cNvSpPr txBox="1"/>
          <p:nvPr/>
        </p:nvSpPr>
        <p:spPr>
          <a:xfrm>
            <a:off x="7278840" y="2738185"/>
            <a:ext cx="1325608" cy="3188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MISC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21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Competitive Solution</a:t>
            </a:r>
            <a:endParaRPr lang="en-US" dirty="0"/>
          </a:p>
        </p:txBody>
      </p:sp>
      <p:sp>
        <p:nvSpPr>
          <p:cNvPr id="4" name="Text Placeholder 7"/>
          <p:cNvSpPr txBox="1">
            <a:spLocks/>
          </p:cNvSpPr>
          <p:nvPr/>
        </p:nvSpPr>
        <p:spPr>
          <a:xfrm>
            <a:off x="2154338" y="1091349"/>
            <a:ext cx="2321093" cy="43053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Fundamentals</a:t>
            </a:r>
            <a:r>
              <a:rPr lang="en-US" dirty="0" smtClean="0"/>
              <a:t>		   				</a:t>
            </a:r>
            <a:endParaRPr lang="en-US" dirty="0"/>
          </a:p>
        </p:txBody>
      </p:sp>
      <p:sp>
        <p:nvSpPr>
          <p:cNvPr id="5" name="TextBox 20"/>
          <p:cNvSpPr txBox="1"/>
          <p:nvPr/>
        </p:nvSpPr>
        <p:spPr>
          <a:xfrm>
            <a:off x="1134066" y="3201193"/>
            <a:ext cx="311590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Codec</a:t>
            </a:r>
            <a:r>
              <a:rPr lang="en-US" sz="2800" b="0" dirty="0" smtClean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 </a:t>
            </a:r>
            <a:r>
              <a:rPr lang="en-US" sz="2400" dirty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&amp;</a:t>
            </a:r>
            <a:r>
              <a:rPr lang="en-US" sz="2800" b="0" dirty="0" smtClean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 </a:t>
            </a:r>
            <a:r>
              <a:rPr lang="en-US" sz="2400" dirty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Features</a:t>
            </a:r>
          </a:p>
        </p:txBody>
      </p:sp>
      <p:sp>
        <p:nvSpPr>
          <p:cNvPr id="6" name="TextBox 21"/>
          <p:cNvSpPr txBox="1"/>
          <p:nvPr/>
        </p:nvSpPr>
        <p:spPr>
          <a:xfrm>
            <a:off x="1659578" y="2368433"/>
            <a:ext cx="252609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Power</a:t>
            </a:r>
          </a:p>
        </p:txBody>
      </p:sp>
      <p:sp>
        <p:nvSpPr>
          <p:cNvPr id="7" name="TextBox 22"/>
          <p:cNvSpPr txBox="1"/>
          <p:nvPr/>
        </p:nvSpPr>
        <p:spPr>
          <a:xfrm>
            <a:off x="4427984" y="3191223"/>
            <a:ext cx="4110823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Streaming</a:t>
            </a:r>
            <a:r>
              <a:rPr lang="en-US" sz="2800" b="0" dirty="0" smtClean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 &amp; </a:t>
            </a:r>
            <a:r>
              <a:rPr lang="en-US" sz="2400" dirty="0" smtClean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Video Chat</a:t>
            </a:r>
            <a:endParaRPr lang="en-US" sz="2400" dirty="0">
              <a:ln w="12700">
                <a:noFill/>
              </a:ln>
              <a:solidFill>
                <a:srgbClr val="F7921E"/>
              </a:solidFill>
              <a:latin typeface="Qualcomm Office Semibold" pitchFamily="34" charset="0"/>
            </a:endParaRPr>
          </a:p>
        </p:txBody>
      </p:sp>
      <p:sp>
        <p:nvSpPr>
          <p:cNvPr id="8" name="TextBox 23"/>
          <p:cNvSpPr txBox="1"/>
          <p:nvPr/>
        </p:nvSpPr>
        <p:spPr>
          <a:xfrm>
            <a:off x="2064749" y="1549201"/>
            <a:ext cx="204277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 smtClean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Performance</a:t>
            </a:r>
            <a:endParaRPr lang="en-US" sz="2400" b="0" dirty="0">
              <a:ln w="12700">
                <a:noFill/>
              </a:ln>
              <a:solidFill>
                <a:srgbClr val="F7921E"/>
              </a:solidFill>
              <a:latin typeface="Qualcomm Office Semibold" pitchFamily="34" charset="0"/>
            </a:endParaRPr>
          </a:p>
        </p:txBody>
      </p:sp>
      <p:sp>
        <p:nvSpPr>
          <p:cNvPr id="9" name="TextBox 24"/>
          <p:cNvSpPr txBox="1"/>
          <p:nvPr/>
        </p:nvSpPr>
        <p:spPr>
          <a:xfrm>
            <a:off x="4499993" y="2310222"/>
            <a:ext cx="318809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Editing</a:t>
            </a:r>
            <a:r>
              <a:rPr lang="en-US" sz="2800" b="0" dirty="0" smtClean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 </a:t>
            </a:r>
            <a:r>
              <a:rPr lang="en-US" sz="2400" dirty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&amp; Sharing</a:t>
            </a:r>
          </a:p>
        </p:txBody>
      </p:sp>
      <p:sp>
        <p:nvSpPr>
          <p:cNvPr id="10" name="TextBox 26"/>
          <p:cNvSpPr txBox="1"/>
          <p:nvPr/>
        </p:nvSpPr>
        <p:spPr>
          <a:xfrm>
            <a:off x="4475431" y="1542352"/>
            <a:ext cx="216024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Video</a:t>
            </a:r>
            <a:r>
              <a:rPr lang="en-US" sz="2800" b="0" dirty="0" smtClean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 </a:t>
            </a:r>
            <a:r>
              <a:rPr lang="en-US" sz="2400" dirty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Quality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194467" y="1995686"/>
            <a:ext cx="1945485" cy="45719"/>
            <a:chOff x="870767" y="2904772"/>
            <a:chExt cx="2593305" cy="73152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870767" y="2941348"/>
              <a:ext cx="2514600" cy="0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</p:cxnSp>
        <p:sp>
          <p:nvSpPr>
            <p:cNvPr id="13" name="Oval 12"/>
            <p:cNvSpPr/>
            <p:nvPr/>
          </p:nvSpPr>
          <p:spPr bwMode="auto">
            <a:xfrm>
              <a:off x="3390920" y="2904772"/>
              <a:ext cx="73152" cy="7315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0" dirty="0">
                <a:solidFill>
                  <a:prstClr val="black"/>
                </a:solidFill>
                <a:latin typeface="Qualcomm Office Regular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162608" y="2760846"/>
            <a:ext cx="1945485" cy="45719"/>
            <a:chOff x="870767" y="2904772"/>
            <a:chExt cx="2593305" cy="73152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870767" y="2941348"/>
              <a:ext cx="2514600" cy="0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</p:cxnSp>
        <p:sp>
          <p:nvSpPr>
            <p:cNvPr id="16" name="Oval 15"/>
            <p:cNvSpPr/>
            <p:nvPr/>
          </p:nvSpPr>
          <p:spPr bwMode="auto">
            <a:xfrm>
              <a:off x="3390920" y="2904772"/>
              <a:ext cx="73152" cy="7315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0" dirty="0">
                <a:solidFill>
                  <a:prstClr val="black"/>
                </a:solidFill>
                <a:latin typeface="Qualcomm Office Regular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194467" y="3651870"/>
            <a:ext cx="1945485" cy="45719"/>
            <a:chOff x="870767" y="2904772"/>
            <a:chExt cx="2593305" cy="73152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70767" y="2941348"/>
              <a:ext cx="2514600" cy="0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</p:cxnSp>
        <p:sp>
          <p:nvSpPr>
            <p:cNvPr id="19" name="Oval 18"/>
            <p:cNvSpPr/>
            <p:nvPr/>
          </p:nvSpPr>
          <p:spPr bwMode="auto">
            <a:xfrm>
              <a:off x="3390920" y="2904772"/>
              <a:ext cx="73152" cy="7315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0" dirty="0">
                <a:solidFill>
                  <a:prstClr val="black"/>
                </a:solidFill>
                <a:latin typeface="Qualcomm Office Regular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 flipH="1">
            <a:off x="4564319" y="1995686"/>
            <a:ext cx="1879889" cy="45719"/>
            <a:chOff x="870767" y="2904772"/>
            <a:chExt cx="2593305" cy="73152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870767" y="2941348"/>
              <a:ext cx="2514600" cy="0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</p:cxnSp>
        <p:sp>
          <p:nvSpPr>
            <p:cNvPr id="22" name="Oval 21"/>
            <p:cNvSpPr/>
            <p:nvPr/>
          </p:nvSpPr>
          <p:spPr bwMode="auto">
            <a:xfrm>
              <a:off x="3390920" y="2904772"/>
              <a:ext cx="73152" cy="7315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0" dirty="0">
                <a:solidFill>
                  <a:prstClr val="black"/>
                </a:solidFill>
                <a:latin typeface="Qualcomm Office Regular" pitchFamily="34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 flipH="1">
            <a:off x="4565684" y="2755522"/>
            <a:ext cx="1945485" cy="51371"/>
            <a:chOff x="870767" y="2904772"/>
            <a:chExt cx="2593305" cy="73152"/>
          </a:xfrm>
        </p:grpSpPr>
        <p:cxnSp>
          <p:nvCxnSpPr>
            <p:cNvPr id="24" name="Straight Connector 23"/>
            <p:cNvCxnSpPr/>
            <p:nvPr/>
          </p:nvCxnSpPr>
          <p:spPr>
            <a:xfrm>
              <a:off x="870767" y="2941348"/>
              <a:ext cx="2514600" cy="0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</p:cxnSp>
        <p:sp>
          <p:nvSpPr>
            <p:cNvPr id="25" name="Oval 24"/>
            <p:cNvSpPr/>
            <p:nvPr/>
          </p:nvSpPr>
          <p:spPr bwMode="auto">
            <a:xfrm>
              <a:off x="3390920" y="2904772"/>
              <a:ext cx="73152" cy="7315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0" dirty="0">
                <a:solidFill>
                  <a:prstClr val="black"/>
                </a:solidFill>
                <a:latin typeface="Qualcomm Office Regular" pitchFamily="34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 flipH="1">
            <a:off x="4544081" y="3662116"/>
            <a:ext cx="1945485" cy="45720"/>
            <a:chOff x="870767" y="2904772"/>
            <a:chExt cx="2593305" cy="73152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870767" y="2941348"/>
              <a:ext cx="2514600" cy="0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</p:cxnSp>
        <p:sp>
          <p:nvSpPr>
            <p:cNvPr id="28" name="Oval 27"/>
            <p:cNvSpPr/>
            <p:nvPr/>
          </p:nvSpPr>
          <p:spPr bwMode="auto">
            <a:xfrm>
              <a:off x="3390920" y="2904772"/>
              <a:ext cx="73152" cy="7315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0" dirty="0">
                <a:solidFill>
                  <a:prstClr val="black"/>
                </a:solidFill>
                <a:latin typeface="Qualcomm Office Regular" pitchFamily="34" charset="0"/>
              </a:endParaRPr>
            </a:p>
          </p:txBody>
        </p:sp>
      </p:grpSp>
      <p:sp>
        <p:nvSpPr>
          <p:cNvPr id="29" name="TextBox 20"/>
          <p:cNvSpPr txBox="1"/>
          <p:nvPr/>
        </p:nvSpPr>
        <p:spPr>
          <a:xfrm>
            <a:off x="1257037" y="4011910"/>
            <a:ext cx="298684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Die</a:t>
            </a:r>
            <a:r>
              <a:rPr lang="en-US" sz="2800" b="0" dirty="0" smtClean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 </a:t>
            </a:r>
            <a:r>
              <a:rPr lang="en-US" sz="2400" dirty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Size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2195736" y="4470247"/>
            <a:ext cx="1945485" cy="45719"/>
            <a:chOff x="870767" y="2904772"/>
            <a:chExt cx="2593305" cy="73152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870767" y="2941348"/>
              <a:ext cx="2514600" cy="0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</p:cxnSp>
        <p:sp>
          <p:nvSpPr>
            <p:cNvPr id="32" name="Oval 31"/>
            <p:cNvSpPr/>
            <p:nvPr/>
          </p:nvSpPr>
          <p:spPr bwMode="auto">
            <a:xfrm>
              <a:off x="3390920" y="2904772"/>
              <a:ext cx="73152" cy="7315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0" dirty="0">
                <a:solidFill>
                  <a:prstClr val="black"/>
                </a:solidFill>
                <a:latin typeface="Qualcomm Office Regular" pitchFamily="34" charset="0"/>
              </a:endParaRPr>
            </a:p>
          </p:txBody>
        </p:sp>
      </p:grpSp>
      <p:sp>
        <p:nvSpPr>
          <p:cNvPr id="33" name="TextBox 71"/>
          <p:cNvSpPr txBox="1"/>
          <p:nvPr/>
        </p:nvSpPr>
        <p:spPr>
          <a:xfrm>
            <a:off x="1690637" y="2067694"/>
            <a:ext cx="2449315" cy="3016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4K 30/60/120fps</a:t>
            </a:r>
            <a:endParaRPr lang="en-US" sz="1600" b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4" name="TextBox 71"/>
          <p:cNvSpPr txBox="1"/>
          <p:nvPr/>
        </p:nvSpPr>
        <p:spPr>
          <a:xfrm>
            <a:off x="491189" y="2836608"/>
            <a:ext cx="3625794" cy="3016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4K thermal issues</a:t>
            </a:r>
          </a:p>
        </p:txBody>
      </p:sp>
      <p:sp>
        <p:nvSpPr>
          <p:cNvPr id="35" name="TextBox 71"/>
          <p:cNvSpPr txBox="1"/>
          <p:nvPr/>
        </p:nvSpPr>
        <p:spPr>
          <a:xfrm>
            <a:off x="1676660" y="3782297"/>
            <a:ext cx="2535300" cy="3016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HEVC, SHVC, VP9, 10 bit</a:t>
            </a:r>
          </a:p>
        </p:txBody>
      </p:sp>
      <p:sp>
        <p:nvSpPr>
          <p:cNvPr id="36" name="TextBox 71"/>
          <p:cNvSpPr txBox="1"/>
          <p:nvPr/>
        </p:nvSpPr>
        <p:spPr>
          <a:xfrm>
            <a:off x="1792477" y="4502377"/>
            <a:ext cx="2419483" cy="3016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Lowest possible cost</a:t>
            </a:r>
            <a:endParaRPr lang="en-US" sz="1600" b="0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7" name="TextBox 71"/>
          <p:cNvSpPr txBox="1"/>
          <p:nvPr/>
        </p:nvSpPr>
        <p:spPr>
          <a:xfrm>
            <a:off x="4454271" y="2061869"/>
            <a:ext cx="2277969" cy="3016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Pre &amp; post-processing</a:t>
            </a:r>
          </a:p>
        </p:txBody>
      </p:sp>
      <p:sp>
        <p:nvSpPr>
          <p:cNvPr id="38" name="TextBox 71"/>
          <p:cNvSpPr txBox="1"/>
          <p:nvPr/>
        </p:nvSpPr>
        <p:spPr>
          <a:xfrm>
            <a:off x="4475431" y="2903471"/>
            <a:ext cx="3329532" cy="3016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Enabling fast editing &amp; Sharing</a:t>
            </a:r>
          </a:p>
        </p:txBody>
      </p:sp>
      <p:sp>
        <p:nvSpPr>
          <p:cNvPr id="39" name="TextBox 71"/>
          <p:cNvSpPr txBox="1"/>
          <p:nvPr/>
        </p:nvSpPr>
        <p:spPr>
          <a:xfrm>
            <a:off x="4495937" y="3777370"/>
            <a:ext cx="3849626" cy="3016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Video communication over Modem</a:t>
            </a:r>
          </a:p>
        </p:txBody>
      </p:sp>
      <p:sp>
        <p:nvSpPr>
          <p:cNvPr id="40" name="TextBox 22"/>
          <p:cNvSpPr txBox="1"/>
          <p:nvPr/>
        </p:nvSpPr>
        <p:spPr>
          <a:xfrm>
            <a:off x="4471602" y="4036556"/>
            <a:ext cx="448801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Video</a:t>
            </a:r>
            <a:r>
              <a:rPr lang="en-US" sz="2800" b="0" dirty="0" smtClean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 </a:t>
            </a:r>
            <a:r>
              <a:rPr lang="en-US" sz="2400" dirty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HW</a:t>
            </a:r>
            <a:r>
              <a:rPr lang="en-US" sz="2800" b="0" dirty="0" smtClean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 </a:t>
            </a:r>
            <a:r>
              <a:rPr lang="en-US" sz="2400" dirty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for</a:t>
            </a:r>
            <a:r>
              <a:rPr lang="en-US" sz="2800" b="0" dirty="0" smtClean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 </a:t>
            </a:r>
            <a:r>
              <a:rPr lang="en-US" sz="2400" dirty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other</a:t>
            </a:r>
            <a:r>
              <a:rPr lang="en-US" sz="2800" b="0" dirty="0" smtClean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 </a:t>
            </a:r>
            <a:r>
              <a:rPr lang="en-US" sz="2400" dirty="0">
                <a:ln w="12700">
                  <a:noFill/>
                </a:ln>
                <a:solidFill>
                  <a:srgbClr val="F7921E"/>
                </a:solidFill>
                <a:latin typeface="Qualcomm Office Semibold" pitchFamily="34" charset="0"/>
              </a:rPr>
              <a:t>use-cases</a:t>
            </a:r>
          </a:p>
        </p:txBody>
      </p:sp>
      <p:grpSp>
        <p:nvGrpSpPr>
          <p:cNvPr id="41" name="Group 40"/>
          <p:cNvGrpSpPr/>
          <p:nvPr/>
        </p:nvGrpSpPr>
        <p:grpSpPr>
          <a:xfrm flipH="1">
            <a:off x="4570731" y="4469584"/>
            <a:ext cx="1945485" cy="45719"/>
            <a:chOff x="870767" y="2904772"/>
            <a:chExt cx="2593305" cy="73152"/>
          </a:xfrm>
        </p:grpSpPr>
        <p:cxnSp>
          <p:nvCxnSpPr>
            <p:cNvPr id="42" name="Straight Connector 41"/>
            <p:cNvCxnSpPr/>
            <p:nvPr/>
          </p:nvCxnSpPr>
          <p:spPr>
            <a:xfrm>
              <a:off x="870767" y="2941348"/>
              <a:ext cx="2514600" cy="0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</p:cxnSp>
        <p:sp>
          <p:nvSpPr>
            <p:cNvPr id="43" name="Oval 42"/>
            <p:cNvSpPr/>
            <p:nvPr/>
          </p:nvSpPr>
          <p:spPr bwMode="auto">
            <a:xfrm>
              <a:off x="3390920" y="2904772"/>
              <a:ext cx="73152" cy="7315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0" dirty="0">
                <a:solidFill>
                  <a:prstClr val="black"/>
                </a:solidFill>
                <a:latin typeface="Qualcomm Office Regular" pitchFamily="34" charset="0"/>
              </a:endParaRPr>
            </a:p>
          </p:txBody>
        </p:sp>
      </p:grpSp>
      <p:sp>
        <p:nvSpPr>
          <p:cNvPr id="44" name="TextBox 71"/>
          <p:cNvSpPr txBox="1"/>
          <p:nvPr/>
        </p:nvSpPr>
        <p:spPr>
          <a:xfrm>
            <a:off x="4499992" y="4515966"/>
            <a:ext cx="3399355" cy="3016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Video analysis, Computer vision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355976" y="1059582"/>
            <a:ext cx="0" cy="3977229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Placeholder 7"/>
          <p:cNvSpPr txBox="1">
            <a:spLocks/>
          </p:cNvSpPr>
          <p:nvPr/>
        </p:nvSpPr>
        <p:spPr>
          <a:xfrm>
            <a:off x="4432431" y="1098246"/>
            <a:ext cx="4066960" cy="43053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Opportunities to differentiate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22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Market Trends</a:t>
            </a:r>
            <a:endParaRPr lang="en-US" dirty="0"/>
          </a:p>
        </p:txBody>
      </p:sp>
      <p:pic>
        <p:nvPicPr>
          <p:cNvPr id="91" name="Picture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04" y="906501"/>
            <a:ext cx="6899264" cy="420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23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</a:t>
            </a:r>
            <a:r>
              <a:rPr lang="en-US" dirty="0" err="1" smtClean="0"/>
              <a:t>Usecase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49291" y="1563638"/>
            <a:ext cx="8431618" cy="12121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08779" y="1828816"/>
            <a:ext cx="1254642" cy="723015"/>
          </a:xfrm>
          <a:prstGeom prst="rect">
            <a:avLst/>
          </a:prstGeom>
          <a:solidFill>
            <a:srgbClr val="368B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WiFi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Display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96698" y="1828816"/>
            <a:ext cx="1254642" cy="723015"/>
          </a:xfrm>
          <a:prstGeom prst="rect">
            <a:avLst/>
          </a:prstGeom>
          <a:solidFill>
            <a:srgbClr val="368B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Camcorder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4617" y="1828816"/>
            <a:ext cx="1254642" cy="723015"/>
          </a:xfrm>
          <a:prstGeom prst="rect">
            <a:avLst/>
          </a:prstGeom>
          <a:solidFill>
            <a:srgbClr val="368B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Video</a:t>
            </a:r>
            <a:r>
              <a:rPr lang="en-US" sz="1400" dirty="0" smtClean="0"/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Playback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2536" y="1828816"/>
            <a:ext cx="1254642" cy="723015"/>
          </a:xfrm>
          <a:prstGeom prst="rect">
            <a:avLst/>
          </a:prstGeom>
          <a:solidFill>
            <a:srgbClr val="368B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Video</a:t>
            </a:r>
            <a:r>
              <a:rPr lang="en-US" sz="1400" dirty="0" smtClean="0"/>
              <a:t>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Streaming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7260455" y="1828816"/>
            <a:ext cx="1254642" cy="723015"/>
          </a:xfrm>
          <a:prstGeom prst="rect">
            <a:avLst/>
          </a:prstGeom>
          <a:solidFill>
            <a:srgbClr val="368B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sz="1400" dirty="0" smtClean="0"/>
              <a:t>Video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Telephony</a:t>
            </a:r>
            <a:endParaRPr 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395536" y="3040929"/>
            <a:ext cx="17024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Encoder + decoder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Miracast 2.0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4K, 10bit, 422 or 444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3728" y="3040929"/>
            <a:ext cx="13667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1080p or UHD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Not 4K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1920" y="3040928"/>
            <a:ext cx="1366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4K 60, 4K 120?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8104" y="3040928"/>
            <a:ext cx="13667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8466" y="3036049"/>
            <a:ext cx="16020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Encoder + decoder</a:t>
            </a:r>
          </a:p>
        </p:txBody>
      </p:sp>
    </p:spTree>
    <p:extLst>
      <p:ext uri="{BB962C8B-B14F-4D97-AF65-F5344CB8AC3E}">
        <p14:creationId xmlns:p14="http://schemas.microsoft.com/office/powerpoint/2010/main" val="426617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 Codec Solution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59632" y="1419622"/>
            <a:ext cx="7410893" cy="275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 fontAlgn="auto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  <a:buClr>
                <a:srgbClr val="911C1F"/>
              </a:buClr>
              <a:buFont typeface="+mj-lt"/>
              <a:buAutoNum type="arabicPeriod"/>
              <a:defRPr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Hardware IP Core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Dedicated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Video IP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core.</a:t>
            </a:r>
          </a:p>
          <a:p>
            <a:pPr marL="342900" lvl="1" indent="-342900" fontAlgn="auto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  <a:buClr>
                <a:srgbClr val="911C1F"/>
              </a:buClr>
              <a:buFont typeface="+mj-lt"/>
              <a:buAutoNum type="arabicPeriod"/>
              <a:defRPr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 fontAlgn="auto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  <a:buClr>
                <a:srgbClr val="911C1F"/>
              </a:buClr>
              <a:buFont typeface="+mj-lt"/>
              <a:buAutoNum type="arabicPeriod"/>
              <a:defRPr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DSP Video</a:t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Fully or partially (hybrid) DSP accelerated based solutions.</a:t>
            </a:r>
          </a:p>
          <a:p>
            <a:pPr marL="342900" lvl="1" indent="-342900" fontAlgn="auto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  <a:buClr>
                <a:srgbClr val="911C1F"/>
              </a:buClr>
              <a:buFont typeface="+mj-lt"/>
              <a:buAutoNum type="arabicPeriod"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 fontAlgn="auto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  <a:buClr>
                <a:srgbClr val="911C1F"/>
              </a:buClr>
              <a:buFont typeface="+mj-lt"/>
              <a:buAutoNum type="arabicPeriod"/>
              <a:defRPr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Software Codecs</a:t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Optimized software solutions (licensed or developed in-house).</a:t>
            </a:r>
            <a:endParaRPr lang="en-US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26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278720" y="2307251"/>
            <a:ext cx="8236877" cy="0"/>
          </a:xfrm>
          <a:prstGeom prst="line">
            <a:avLst/>
          </a:prstGeom>
          <a:ln w="1270">
            <a:solidFill>
              <a:schemeClr val="tx1">
                <a:lumMod val="65000"/>
                <a:lumOff val="35000"/>
              </a:schemeClr>
            </a:solidFill>
            <a:prstDash val="sys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8"/>
          <p:cNvSpPr txBox="1"/>
          <p:nvPr/>
        </p:nvSpPr>
        <p:spPr>
          <a:xfrm>
            <a:off x="153154" y="2732178"/>
            <a:ext cx="1361715" cy="3222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4" name="TextBox 27"/>
          <p:cNvSpPr txBox="1"/>
          <p:nvPr/>
        </p:nvSpPr>
        <p:spPr>
          <a:xfrm>
            <a:off x="1979712" y="2730853"/>
            <a:ext cx="1465485" cy="4156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</a:p>
        </p:txBody>
      </p:sp>
      <p:sp>
        <p:nvSpPr>
          <p:cNvPr id="5" name="Oval 4"/>
          <p:cNvSpPr>
            <a:spLocks noChangeAspect="1"/>
          </p:cNvSpPr>
          <p:nvPr/>
        </p:nvSpPr>
        <p:spPr bwMode="auto">
          <a:xfrm>
            <a:off x="2275939" y="1907930"/>
            <a:ext cx="737210" cy="749808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2</a:t>
            </a:r>
          </a:p>
        </p:txBody>
      </p:sp>
      <p:sp>
        <p:nvSpPr>
          <p:cNvPr id="6" name="TextBox 28"/>
          <p:cNvSpPr txBox="1"/>
          <p:nvPr/>
        </p:nvSpPr>
        <p:spPr>
          <a:xfrm>
            <a:off x="3949649" y="2738185"/>
            <a:ext cx="1058299" cy="4156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7" name="Oval 6"/>
          <p:cNvSpPr>
            <a:spLocks noChangeAspect="1"/>
          </p:cNvSpPr>
          <p:nvPr/>
        </p:nvSpPr>
        <p:spPr bwMode="auto">
          <a:xfrm>
            <a:off x="4115317" y="1907930"/>
            <a:ext cx="766536" cy="74980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3</a:t>
            </a:r>
          </a:p>
        </p:txBody>
      </p:sp>
      <p:sp>
        <p:nvSpPr>
          <p:cNvPr id="8" name="TextBox 29"/>
          <p:cNvSpPr txBox="1"/>
          <p:nvPr/>
        </p:nvSpPr>
        <p:spPr>
          <a:xfrm>
            <a:off x="5652120" y="2731663"/>
            <a:ext cx="1325608" cy="3188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9" name="Oval 8"/>
          <p:cNvSpPr>
            <a:spLocks noChangeAspect="1"/>
          </p:cNvSpPr>
          <p:nvPr/>
        </p:nvSpPr>
        <p:spPr bwMode="auto">
          <a:xfrm>
            <a:off x="7562613" y="1907930"/>
            <a:ext cx="758062" cy="74980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5</a:t>
            </a:r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Qualcomm Office Bold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84633" y="1383417"/>
            <a:ext cx="85747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>
            <a:spLocks noChangeAspect="1"/>
          </p:cNvSpPr>
          <p:nvPr/>
        </p:nvSpPr>
        <p:spPr bwMode="auto">
          <a:xfrm>
            <a:off x="5931656" y="1907930"/>
            <a:ext cx="766536" cy="74980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4</a:t>
            </a:r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Qualcomm Office Bold" pitchFamily="34" charset="0"/>
            </a:endParaRPr>
          </a:p>
        </p:txBody>
      </p:sp>
      <p:sp>
        <p:nvSpPr>
          <p:cNvPr id="12" name="Oval 11"/>
          <p:cNvSpPr>
            <a:spLocks noChangeAspect="1"/>
          </p:cNvSpPr>
          <p:nvPr/>
        </p:nvSpPr>
        <p:spPr bwMode="auto">
          <a:xfrm>
            <a:off x="495409" y="1910580"/>
            <a:ext cx="765219" cy="74715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1</a:t>
            </a:r>
          </a:p>
        </p:txBody>
      </p:sp>
      <p:sp>
        <p:nvSpPr>
          <p:cNvPr id="14" name="TextBox 29"/>
          <p:cNvSpPr txBox="1"/>
          <p:nvPr/>
        </p:nvSpPr>
        <p:spPr>
          <a:xfrm>
            <a:off x="7278840" y="2738185"/>
            <a:ext cx="1325608" cy="3188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MISC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36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Overview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148064" y="1347614"/>
            <a:ext cx="36004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A: host and ARM communication via general registers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B: host and ARM data exchange via system memory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C: host access HW SWI registers directly (debug mode)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D: ARM controls HW via SWI (normal mode)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E: FW access data in system memory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F: HW access data in system memory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275606"/>
            <a:ext cx="4366651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854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Overview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 bwMode="auto">
          <a:xfrm rot="5400000">
            <a:off x="2598750" y="2832462"/>
            <a:ext cx="4086647" cy="39687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Windows on ARM</a:t>
            </a:r>
          </a:p>
        </p:txBody>
      </p:sp>
      <p:sp>
        <p:nvSpPr>
          <p:cNvPr id="5" name="Rounded Rectangle 4"/>
          <p:cNvSpPr/>
          <p:nvPr/>
        </p:nvSpPr>
        <p:spPr bwMode="auto">
          <a:xfrm rot="5400000">
            <a:off x="1669507" y="2832461"/>
            <a:ext cx="4086647" cy="39687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solidFill>
                  <a:schemeClr val="tx1"/>
                </a:solidFill>
                <a:latin typeface="Calibri" pitchFamily="34" charset="0"/>
              </a:rPr>
              <a:t>…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grpSp>
        <p:nvGrpSpPr>
          <p:cNvPr id="6" name="Group 32"/>
          <p:cNvGrpSpPr/>
          <p:nvPr/>
        </p:nvGrpSpPr>
        <p:grpSpPr>
          <a:xfrm>
            <a:off x="3988903" y="987575"/>
            <a:ext cx="2225675" cy="4084858"/>
            <a:chOff x="468311" y="872006"/>
            <a:chExt cx="2225675" cy="5169569"/>
          </a:xfrm>
        </p:grpSpPr>
        <p:sp>
          <p:nvSpPr>
            <p:cNvPr id="7" name="Rounded Rectangle 6"/>
            <p:cNvSpPr/>
            <p:nvPr/>
          </p:nvSpPr>
          <p:spPr bwMode="auto">
            <a:xfrm rot="5400000">
              <a:off x="-89232" y="3258351"/>
              <a:ext cx="5169561" cy="39687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chemeClr val="tx1"/>
                  </a:solidFill>
                  <a:latin typeface="Calibri" pitchFamily="34" charset="0"/>
                </a:rPr>
                <a:t>QNX</a:t>
              </a:r>
            </a:p>
          </p:txBody>
        </p:sp>
        <p:sp>
          <p:nvSpPr>
            <p:cNvPr id="8" name="Rounded Rectangle 7"/>
            <p:cNvSpPr/>
            <p:nvPr/>
          </p:nvSpPr>
          <p:spPr bwMode="auto">
            <a:xfrm rot="5400000">
              <a:off x="-1918032" y="3258352"/>
              <a:ext cx="5169562" cy="39687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chemeClr val="tx1"/>
                  </a:solidFill>
                  <a:latin typeface="Calibri" pitchFamily="34" charset="0"/>
                </a:rPr>
                <a:t>Windows Phone</a:t>
              </a:r>
            </a:p>
          </p:txBody>
        </p:sp>
        <p:sp>
          <p:nvSpPr>
            <p:cNvPr id="9" name="Rounded Rectangle 8"/>
            <p:cNvSpPr/>
            <p:nvPr/>
          </p:nvSpPr>
          <p:spPr bwMode="auto">
            <a:xfrm rot="5400000">
              <a:off x="-551922" y="3258354"/>
              <a:ext cx="5169566" cy="39687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chemeClr val="tx1"/>
                  </a:solidFill>
                  <a:latin typeface="Calibri" pitchFamily="34" charset="0"/>
                </a:rPr>
                <a:t>Android</a:t>
              </a:r>
            </a:p>
          </p:txBody>
        </p:sp>
        <p:sp>
          <p:nvSpPr>
            <p:cNvPr id="10" name="Rounded Rectangle 9"/>
            <p:cNvSpPr/>
            <p:nvPr/>
          </p:nvSpPr>
          <p:spPr bwMode="auto">
            <a:xfrm rot="5400000">
              <a:off x="-1007293" y="3258353"/>
              <a:ext cx="5169567" cy="39687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chemeClr val="tx1"/>
                  </a:solidFill>
                  <a:latin typeface="Calibri" pitchFamily="34" charset="0"/>
                </a:rPr>
                <a:t>…</a:t>
              </a:r>
            </a:p>
          </p:txBody>
        </p:sp>
      </p:grpSp>
      <p:sp>
        <p:nvSpPr>
          <p:cNvPr id="11" name="Rounded Rectangle 10"/>
          <p:cNvSpPr/>
          <p:nvPr/>
        </p:nvSpPr>
        <p:spPr bwMode="auto">
          <a:xfrm>
            <a:off x="3409031" y="4275939"/>
            <a:ext cx="2920882" cy="381000"/>
          </a:xfrm>
          <a:prstGeom prst="roundRect">
            <a:avLst/>
          </a:prstGeom>
          <a:solidFill>
            <a:srgbClr val="00B050"/>
          </a:solidFill>
          <a:ln>
            <a:noFill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</a:rPr>
              <a:t>Firmware</a:t>
            </a:r>
          </a:p>
        </p:txBody>
      </p:sp>
      <p:sp>
        <p:nvSpPr>
          <p:cNvPr id="12" name="Rounded Rectangle 11"/>
          <p:cNvSpPr/>
          <p:nvPr/>
        </p:nvSpPr>
        <p:spPr bwMode="auto">
          <a:xfrm>
            <a:off x="3409031" y="3891272"/>
            <a:ext cx="2920882" cy="381000"/>
          </a:xfrm>
          <a:prstGeom prst="roundRect">
            <a:avLst/>
          </a:prstGeom>
          <a:solidFill>
            <a:srgbClr val="00B050"/>
          </a:solidFill>
          <a:ln>
            <a:noFill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</a:rPr>
              <a:t>Video Driver</a:t>
            </a:r>
          </a:p>
        </p:txBody>
      </p:sp>
      <p:sp>
        <p:nvSpPr>
          <p:cNvPr id="14" name="Rounded Rectangle 13"/>
          <p:cNvSpPr/>
          <p:nvPr/>
        </p:nvSpPr>
        <p:spPr bwMode="auto">
          <a:xfrm>
            <a:off x="3409031" y="3510272"/>
            <a:ext cx="2920882" cy="381000"/>
          </a:xfrm>
          <a:prstGeom prst="roundRect">
            <a:avLst/>
          </a:prstGeom>
          <a:solidFill>
            <a:srgbClr val="00B0F0">
              <a:alpha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</a:rPr>
              <a:t>Multimedia Framework</a:t>
            </a:r>
          </a:p>
        </p:txBody>
      </p:sp>
      <p:sp>
        <p:nvSpPr>
          <p:cNvPr id="15" name="Rounded Rectangle 14"/>
          <p:cNvSpPr/>
          <p:nvPr/>
        </p:nvSpPr>
        <p:spPr bwMode="auto">
          <a:xfrm>
            <a:off x="3409031" y="3129272"/>
            <a:ext cx="2920882" cy="381000"/>
          </a:xfrm>
          <a:prstGeom prst="roundRect">
            <a:avLst/>
          </a:prstGeom>
          <a:solidFill>
            <a:srgbClr val="7030A0">
              <a:alpha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 smtClean="0">
                <a:solidFill>
                  <a:schemeClr val="tx1"/>
                </a:solidFill>
                <a:latin typeface="Calibri" pitchFamily="34" charset="0"/>
              </a:rPr>
              <a:t>Application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3409031" y="4639022"/>
            <a:ext cx="2920882" cy="381000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</a:rPr>
              <a:t>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6621" y="3133160"/>
            <a:ext cx="1779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</a:rPr>
              <a:t>User space - Java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2575" y="3507854"/>
            <a:ext cx="1779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</a:rPr>
              <a:t>User space – C++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4623" y="4118158"/>
            <a:ext cx="1279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</a:rPr>
              <a:t>Kernel space</a:t>
            </a:r>
          </a:p>
        </p:txBody>
      </p:sp>
      <p:sp>
        <p:nvSpPr>
          <p:cNvPr id="24" name="Left Brace 23"/>
          <p:cNvSpPr/>
          <p:nvPr/>
        </p:nvSpPr>
        <p:spPr>
          <a:xfrm>
            <a:off x="3203848" y="3930612"/>
            <a:ext cx="139970" cy="696702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8067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Firmware Tasks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9582"/>
            <a:ext cx="4402832" cy="3535041"/>
          </a:xfrm>
        </p:spPr>
        <p:txBody>
          <a:bodyPr>
            <a:normAutofit/>
          </a:bodyPr>
          <a:lstStyle/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dirty="0" smtClean="0"/>
              <a:t>HW side</a:t>
            </a:r>
          </a:p>
          <a:p>
            <a:pPr lvl="1" latinLnBrk="0"/>
            <a:r>
              <a:rPr lang="en-US" dirty="0" smtClean="0"/>
              <a:t>Frame level interaction between FW/HW</a:t>
            </a:r>
          </a:p>
          <a:p>
            <a:pPr lvl="1" latinLnBrk="0"/>
            <a:r>
              <a:rPr lang="en-US" dirty="0" smtClean="0"/>
              <a:t>Slice interaction for H264/H265</a:t>
            </a:r>
          </a:p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dirty="0" smtClean="0"/>
              <a:t>SW side</a:t>
            </a:r>
          </a:p>
          <a:p>
            <a:pPr lvl="1" latinLnBrk="0"/>
            <a:r>
              <a:rPr lang="en-US" dirty="0" smtClean="0"/>
              <a:t>SW queue in </a:t>
            </a:r>
            <a:r>
              <a:rPr lang="en-US" dirty="0" err="1" smtClean="0"/>
              <a:t>bitstream</a:t>
            </a:r>
            <a:r>
              <a:rPr lang="en-US" dirty="0" smtClean="0"/>
              <a:t> and YUV buffers. </a:t>
            </a:r>
          </a:p>
          <a:p>
            <a:pPr lvl="1" latinLnBrk="0"/>
            <a:r>
              <a:rPr lang="en-US" dirty="0" smtClean="0"/>
              <a:t>FW/HW finish encoding/decoding and return to buffers</a:t>
            </a:r>
          </a:p>
          <a:p>
            <a:pPr>
              <a:buClr>
                <a:schemeClr val="accent5">
                  <a:lumMod val="50000"/>
                </a:schemeClr>
              </a:buClr>
            </a:pPr>
            <a:r>
              <a:rPr lang="en-US" dirty="0" smtClean="0"/>
              <a:t>Multiple session support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932040" y="1131590"/>
            <a:ext cx="4499992" cy="34630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5">
                  <a:lumMod val="50000"/>
                </a:schemeClr>
              </a:buClr>
            </a:pPr>
            <a:r>
              <a:rPr lang="en-US" dirty="0" smtClean="0"/>
              <a:t>Data processing for encoder</a:t>
            </a:r>
          </a:p>
          <a:p>
            <a:pPr lvl="1"/>
            <a:r>
              <a:rPr lang="en-US" dirty="0" smtClean="0"/>
              <a:t>Frame level rate control</a:t>
            </a:r>
          </a:p>
          <a:p>
            <a:pPr lvl="1"/>
            <a:r>
              <a:rPr lang="en-US" dirty="0" smtClean="0"/>
              <a:t>Frame type decision</a:t>
            </a:r>
          </a:p>
          <a:p>
            <a:pPr lvl="1"/>
            <a:r>
              <a:rPr lang="en-US" dirty="0" smtClean="0"/>
              <a:t>Reference frame management</a:t>
            </a:r>
          </a:p>
          <a:p>
            <a:pPr lvl="2"/>
            <a:r>
              <a:rPr lang="en-US" dirty="0" smtClean="0"/>
              <a:t>Different GOP structure</a:t>
            </a:r>
          </a:p>
          <a:p>
            <a:pPr lvl="2"/>
            <a:r>
              <a:rPr lang="en-US" dirty="0" smtClean="0"/>
              <a:t>Long term reference</a:t>
            </a:r>
          </a:p>
          <a:p>
            <a:pPr lvl="1"/>
            <a:r>
              <a:rPr lang="en-US" dirty="0" smtClean="0"/>
              <a:t>Header encoding</a:t>
            </a:r>
          </a:p>
          <a:p>
            <a:pPr>
              <a:buClr>
                <a:schemeClr val="accent5">
                  <a:lumMod val="50000"/>
                </a:schemeClr>
              </a:buClr>
            </a:pPr>
            <a:r>
              <a:rPr lang="en-US" dirty="0" smtClean="0"/>
              <a:t>Data processing for decoder</a:t>
            </a:r>
          </a:p>
          <a:p>
            <a:pPr lvl="1"/>
            <a:r>
              <a:rPr lang="en-US" dirty="0" smtClean="0"/>
              <a:t>Start code search</a:t>
            </a:r>
          </a:p>
          <a:p>
            <a:pPr lvl="1"/>
            <a:r>
              <a:rPr lang="en-US" dirty="0" smtClean="0"/>
              <a:t>Frame accumulation</a:t>
            </a:r>
          </a:p>
          <a:p>
            <a:pPr lvl="1"/>
            <a:r>
              <a:rPr lang="en-US" dirty="0" smtClean="0"/>
              <a:t>Frame/slice header parsing</a:t>
            </a:r>
          </a:p>
          <a:p>
            <a:pPr lvl="1"/>
            <a:r>
              <a:rPr lang="en-US" dirty="0" smtClean="0"/>
              <a:t>Reference frame management</a:t>
            </a:r>
          </a:p>
        </p:txBody>
      </p:sp>
    </p:spTree>
    <p:extLst>
      <p:ext uri="{BB962C8B-B14F-4D97-AF65-F5344CB8AC3E}">
        <p14:creationId xmlns:p14="http://schemas.microsoft.com/office/powerpoint/2010/main" val="104111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Hardware Architecture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987574"/>
            <a:ext cx="5871153" cy="403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514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 Options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746647"/>
            <a:ext cx="2099090" cy="23762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954089"/>
            <a:ext cx="3238983" cy="19806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904" y="3067050"/>
            <a:ext cx="4861707" cy="207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Straight Connector 7"/>
          <p:cNvCxnSpPr/>
          <p:nvPr/>
        </p:nvCxnSpPr>
        <p:spPr>
          <a:xfrm>
            <a:off x="3419871" y="1131590"/>
            <a:ext cx="0" cy="3888432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 flipV="1">
            <a:off x="3419871" y="2991918"/>
            <a:ext cx="5328593" cy="681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59632" y="4227934"/>
            <a:ext cx="1229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Shared</a:t>
            </a:r>
            <a:endParaRPr lang="en-US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54144" y="1707654"/>
            <a:ext cx="1494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High </a:t>
            </a:r>
          </a:p>
          <a:p>
            <a:r>
              <a:rPr lang="en-US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endParaRPr lang="en-US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 rot="16200000">
            <a:off x="8092625" y="3932135"/>
            <a:ext cx="151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Multi-core</a:t>
            </a:r>
            <a:endParaRPr lang="en-US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074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Concurrency Measurement (max frame rate)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1" y="1131590"/>
            <a:ext cx="7091983" cy="3905361"/>
          </a:xfrm>
          <a:prstGeom prst="rect">
            <a:avLst/>
          </a:prstGeom>
        </p:spPr>
      </p:pic>
      <p:sp>
        <p:nvSpPr>
          <p:cNvPr id="13" name="Content Placeholder 2"/>
          <p:cNvSpPr txBox="1">
            <a:spLocks/>
          </p:cNvSpPr>
          <p:nvPr/>
        </p:nvSpPr>
        <p:spPr>
          <a:xfrm>
            <a:off x="7442024" y="1347614"/>
            <a:ext cx="1594472" cy="1431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Clr>
                <a:schemeClr val="accent5">
                  <a:lumMod val="50000"/>
                </a:schemeClr>
              </a:buClr>
              <a:buNone/>
            </a:pPr>
            <a:r>
              <a:rPr lang="en-US" sz="1200" dirty="0" smtClean="0"/>
              <a:t>Some </a:t>
            </a:r>
            <a:r>
              <a:rPr lang="en-US" sz="1200" b="1" dirty="0" smtClean="0"/>
              <a:t>MTK</a:t>
            </a:r>
            <a:r>
              <a:rPr lang="en-US" sz="1200" dirty="0" smtClean="0"/>
              <a:t> chipsets don’t have significant frame drop for simultaneous encode &amp; decode</a:t>
            </a:r>
          </a:p>
        </p:txBody>
      </p:sp>
    </p:spTree>
    <p:extLst>
      <p:ext uri="{BB962C8B-B14F-4D97-AF65-F5344CB8AC3E}">
        <p14:creationId xmlns:p14="http://schemas.microsoft.com/office/powerpoint/2010/main" val="59907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Engine Configuration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987574"/>
            <a:ext cx="5917689" cy="406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28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278720" y="2307251"/>
            <a:ext cx="8236877" cy="0"/>
          </a:xfrm>
          <a:prstGeom prst="line">
            <a:avLst/>
          </a:prstGeom>
          <a:ln w="1270">
            <a:solidFill>
              <a:schemeClr val="tx1">
                <a:lumMod val="65000"/>
                <a:lumOff val="35000"/>
              </a:schemeClr>
            </a:solidFill>
            <a:prstDash val="sys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8"/>
          <p:cNvSpPr txBox="1"/>
          <p:nvPr/>
        </p:nvSpPr>
        <p:spPr>
          <a:xfrm>
            <a:off x="153154" y="2732178"/>
            <a:ext cx="1361715" cy="3222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4" name="TextBox 27"/>
          <p:cNvSpPr txBox="1"/>
          <p:nvPr/>
        </p:nvSpPr>
        <p:spPr>
          <a:xfrm>
            <a:off x="1979712" y="2730853"/>
            <a:ext cx="1465485" cy="4156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</a:p>
        </p:txBody>
      </p:sp>
      <p:sp>
        <p:nvSpPr>
          <p:cNvPr id="5" name="Oval 4"/>
          <p:cNvSpPr>
            <a:spLocks noChangeAspect="1"/>
          </p:cNvSpPr>
          <p:nvPr/>
        </p:nvSpPr>
        <p:spPr bwMode="auto">
          <a:xfrm>
            <a:off x="2275939" y="1907930"/>
            <a:ext cx="737210" cy="74980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2</a:t>
            </a:r>
          </a:p>
        </p:txBody>
      </p:sp>
      <p:sp>
        <p:nvSpPr>
          <p:cNvPr id="6" name="TextBox 28"/>
          <p:cNvSpPr txBox="1"/>
          <p:nvPr/>
        </p:nvSpPr>
        <p:spPr>
          <a:xfrm>
            <a:off x="3949649" y="2738185"/>
            <a:ext cx="1058299" cy="4156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</a:p>
        </p:txBody>
      </p:sp>
      <p:sp useBgFill="1">
        <p:nvSpPr>
          <p:cNvPr id="7" name="Oval 6"/>
          <p:cNvSpPr>
            <a:spLocks noChangeAspect="1"/>
          </p:cNvSpPr>
          <p:nvPr/>
        </p:nvSpPr>
        <p:spPr bwMode="auto">
          <a:xfrm>
            <a:off x="4115317" y="1907930"/>
            <a:ext cx="766536" cy="749808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3</a:t>
            </a:r>
          </a:p>
        </p:txBody>
      </p:sp>
      <p:sp>
        <p:nvSpPr>
          <p:cNvPr id="8" name="TextBox 29"/>
          <p:cNvSpPr txBox="1"/>
          <p:nvPr/>
        </p:nvSpPr>
        <p:spPr>
          <a:xfrm>
            <a:off x="5652120" y="2731663"/>
            <a:ext cx="1325608" cy="3188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9" name="Oval 8"/>
          <p:cNvSpPr>
            <a:spLocks noChangeAspect="1"/>
          </p:cNvSpPr>
          <p:nvPr/>
        </p:nvSpPr>
        <p:spPr bwMode="auto">
          <a:xfrm>
            <a:off x="7562613" y="1907930"/>
            <a:ext cx="758062" cy="74980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5</a:t>
            </a:r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Qualcomm Office Bold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84633" y="1383417"/>
            <a:ext cx="85747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>
            <a:spLocks noChangeAspect="1"/>
          </p:cNvSpPr>
          <p:nvPr/>
        </p:nvSpPr>
        <p:spPr bwMode="auto">
          <a:xfrm>
            <a:off x="5931656" y="1907930"/>
            <a:ext cx="766536" cy="74980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4</a:t>
            </a:r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Qualcomm Office Bold" pitchFamily="34" charset="0"/>
            </a:endParaRPr>
          </a:p>
        </p:txBody>
      </p:sp>
      <p:sp>
        <p:nvSpPr>
          <p:cNvPr id="12" name="Oval 11"/>
          <p:cNvSpPr>
            <a:spLocks noChangeAspect="1"/>
          </p:cNvSpPr>
          <p:nvPr/>
        </p:nvSpPr>
        <p:spPr bwMode="auto">
          <a:xfrm>
            <a:off x="495409" y="1910580"/>
            <a:ext cx="765219" cy="74715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1</a:t>
            </a:r>
          </a:p>
        </p:txBody>
      </p:sp>
      <p:sp>
        <p:nvSpPr>
          <p:cNvPr id="14" name="TextBox 29"/>
          <p:cNvSpPr txBox="1"/>
          <p:nvPr/>
        </p:nvSpPr>
        <p:spPr>
          <a:xfrm>
            <a:off x="7278840" y="2738185"/>
            <a:ext cx="1325608" cy="3188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MISC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26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Decoder Dataflow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035604"/>
            <a:ext cx="8128177" cy="391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09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084417"/>
              </p:ext>
            </p:extLst>
          </p:nvPr>
        </p:nvGraphicFramePr>
        <p:xfrm>
          <a:off x="467544" y="108537"/>
          <a:ext cx="8201809" cy="4910859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844623"/>
                <a:gridCol w="1326230"/>
                <a:gridCol w="1326230"/>
                <a:gridCol w="1326230"/>
                <a:gridCol w="1689248"/>
                <a:gridCol w="1689248"/>
              </a:tblGrid>
              <a:tr h="128039">
                <a:tc rowSpan="2">
                  <a:txBody>
                    <a:bodyPr/>
                    <a:lstStyle/>
                    <a:p>
                      <a:pPr marL="0" marR="0" algn="ctr" latinLnBrk="0">
                        <a:spcBef>
                          <a:spcPts val="600"/>
                        </a:spcBef>
                        <a:spcAft>
                          <a:spcPts val="200"/>
                        </a:spcAft>
                        <a:tabLst>
                          <a:tab pos="1371600" algn="l"/>
                        </a:tabLst>
                      </a:pPr>
                      <a:r>
                        <a:rPr lang="en-US" sz="800" dirty="0">
                          <a:effectLst/>
                        </a:rPr>
                        <a:t>Codec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>
                    <a:solidFill>
                      <a:srgbClr val="007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200"/>
                        </a:spcAft>
                        <a:tabLst>
                          <a:tab pos="1371600" algn="l"/>
                        </a:tabLst>
                      </a:pPr>
                      <a:r>
                        <a:rPr lang="en-US" sz="800" dirty="0">
                          <a:effectLst/>
                        </a:rPr>
                        <a:t>Standard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200"/>
                        </a:spcAft>
                        <a:tabLst>
                          <a:tab pos="1371600" algn="l"/>
                        </a:tabLst>
                      </a:pPr>
                      <a:r>
                        <a:rPr lang="en-US" sz="800">
                          <a:effectLst/>
                        </a:rPr>
                        <a:t>Core Requirement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98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latinLnBrk="0">
                        <a:spcBef>
                          <a:spcPts val="600"/>
                        </a:spcBef>
                        <a:spcAft>
                          <a:spcPts val="200"/>
                        </a:spcAft>
                        <a:tabLst>
                          <a:tab pos="1371600" algn="l"/>
                        </a:tabLst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effectLst/>
                        </a:rPr>
                        <a:t>Profile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spcBef>
                          <a:spcPts val="600"/>
                        </a:spcBef>
                        <a:spcAft>
                          <a:spcPts val="200"/>
                        </a:spcAft>
                        <a:tabLst>
                          <a:tab pos="1371600" algn="l"/>
                        </a:tabLst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effectLst/>
                        </a:rPr>
                        <a:t>Level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spcBef>
                          <a:spcPts val="600"/>
                        </a:spcBef>
                        <a:spcAft>
                          <a:spcPts val="200"/>
                        </a:spcAft>
                        <a:tabLst>
                          <a:tab pos="1371600" algn="l"/>
                        </a:tabLst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effectLst/>
                        </a:rPr>
                        <a:t>Max Performance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spcBef>
                          <a:spcPts val="600"/>
                        </a:spcBef>
                        <a:spcAft>
                          <a:spcPts val="200"/>
                        </a:spcAft>
                        <a:tabLst>
                          <a:tab pos="1371600" algn="l"/>
                        </a:tabLst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effectLst/>
                        </a:rPr>
                        <a:t>Max. Sessions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spcBef>
                          <a:spcPts val="600"/>
                        </a:spcBef>
                        <a:spcAft>
                          <a:spcPts val="200"/>
                        </a:spcAft>
                        <a:tabLst>
                          <a:tab pos="1371600" algn="l"/>
                        </a:tabLst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effectLst/>
                        </a:rPr>
                        <a:t>Processing Capacity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>
                    <a:solidFill>
                      <a:srgbClr val="0070C0"/>
                    </a:solidFill>
                  </a:tcPr>
                </a:tc>
              </a:tr>
              <a:tr h="162430">
                <a:tc rowSpan="4"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HEVC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>
                    <a:solidFill>
                      <a:srgbClr val="0070C0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Main/Main Still Picture/Main10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5.1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4096x2160, 60fps, 160Mbps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1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rowSpan="4"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Max resolution &amp; fps: 4096x2160, 60fps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Max bit-rate: 240 Mbps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Main Still Picture Profile supports resolution up to 8192x4320 with TBD fps.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/>
                </a:tc>
              </a:tr>
              <a:tr h="1624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4.1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2048x1080,60fps, 50Mbps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72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4.0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1080p, 32fps, 30Mbps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8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4141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3.1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720p, 33.7fps, 10Mbps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16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2430">
                <a:tc rowSpan="7"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H264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>
                    <a:solidFill>
                      <a:srgbClr val="0070C0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Baseline,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Main,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High,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High-10,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High-10 Intra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5.1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4096x2304,  26.67 fps, 240Mbps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rowSpan="5"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Max resolution &amp; fps: 4096x2160, 60fps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Max bit-rate: 300 Mbps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/>
                </a:tc>
              </a:tr>
              <a:tr h="1624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4.2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2048x1080, 60fps, 50Mbps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72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4.1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1080p, 30fps, 50Mbps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6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72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4.0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1080p, 30fps, 20Mbps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8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0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3.1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720p, 30fps, 14Mbps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16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797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High 4:2:2,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High 4:2:2 Intra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4096x2160, 45fps, 180Mbps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Max resolution &amp; fps: 4096x2160, 45fps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Max bit-rate: 180 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/>
                </a:tc>
              </a:tr>
              <a:tr h="4782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High 4:4:4 Predictive,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High  4:4:4 Intra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CAVLC 4:4:4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5.1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4096x2304,  26.67 fps, 240Mbps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1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Max resolution &amp; fps: 4096x2160, 30fps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Max bit-rate: 240 Mbps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Note: High 4:4:4 profiles support up to 10 bits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/>
                </a:tc>
              </a:tr>
              <a:tr h="87208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VP9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-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-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4096x2160, 60fps	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1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rowSpan="2"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Max resolution &amp; fps: 4096x2160, 60fps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Max bit-rate: 320 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/>
                </a:tc>
              </a:tr>
              <a:tr h="192532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VP8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-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-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4096x2160, 60fps	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1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7208">
                <a:tc rowSpan="2"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MPEG4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SP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8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1080p, 30fps, 20Mbps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8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rowSpan="6"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Max resolution &amp; fps: 1080p, 240fps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Max bit-rate: 320 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/>
                </a:tc>
              </a:tr>
              <a:tr h="872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ASP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5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720x576, 30fps, 8Mbps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16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7208">
                <a:tc rowSpan="2"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DivX 3/4/5/6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HD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1080p, 30fps, 20Mbps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16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72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Home Theater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720p, 30fps, 20Mbps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16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7208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H263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P0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70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720x576, 30fps, 16Mbps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16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7208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Sorenson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V0/V1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720x576, 30fps, 16Mbps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16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79740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MPEG2/1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Main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High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1080p, 30fps, 80Mbps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Max resolution &amp; fps: 1080p, 240fps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Max bit-rate: 320 Mbps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/>
                </a:tc>
              </a:tr>
              <a:tr h="279740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VC1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SP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Medium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352x288, 15fps, 384Kbps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</a:rPr>
                        <a:t>16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/>
                </a:tc>
                <a:tc>
                  <a:txBody>
                    <a:bodyPr/>
                    <a:lstStyle/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Max resolution &amp; fps: 1080p, 240fps</a:t>
                      </a:r>
                    </a:p>
                    <a:p>
                      <a:pPr marL="0" marR="0" latinLnBrk="0">
                        <a:lnSpc>
                          <a:spcPts val="9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</a:rPr>
                        <a:t>Max bit-rate: 360 Mbps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49223" marR="49223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90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8082478"/>
              </p:ext>
            </p:extLst>
          </p:nvPr>
        </p:nvGraphicFramePr>
        <p:xfrm>
          <a:off x="251520" y="195486"/>
          <a:ext cx="8701342" cy="48218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4081"/>
                <a:gridCol w="1740408"/>
                <a:gridCol w="4035552"/>
                <a:gridCol w="1781301"/>
              </a:tblGrid>
              <a:tr h="240977"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Video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Controller ARM9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Video HW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678241"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HEVC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Stream queuing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SPS, PPS, SEI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Slice header/APS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Reference frame management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 for 2-stage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SP</a:t>
                      </a:r>
                      <a:endParaRPr lang="en-US" sz="10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Slice data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Header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parsing assistance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678241"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H264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Stream queuing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SPS, PPS, SEI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Slice header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Reference frame management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 for 2-stage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VSP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Slice data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Header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parsing assistance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828961"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VC-1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Stream queuing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Metadata processing</a:t>
                      </a:r>
                    </a:p>
                    <a:p>
                      <a:pPr latinLnBrk="0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Sequence layer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Entry-point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layer (AP) 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Metadata (SP/MP)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Picture header except bit plane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Bit plane parsing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Slice header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Slice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data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6801"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MPEG2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Stream queuing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Sequence 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 extension headers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Picture/GOP, extension headers &amp; user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Slice header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Slice data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27521"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MPEG4/</a:t>
                      </a:r>
                    </a:p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DivX4,5,6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Stream queuing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Visual object sequence header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Visual Object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header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Visual Object Layer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MB data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RM/HEC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678241"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DivX3.11</a:t>
                      </a:r>
                    </a:p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H263/</a:t>
                      </a:r>
                    </a:p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Sorenson</a:t>
                      </a:r>
                    </a:p>
                    <a:p>
                      <a:pPr latinLnBrk="0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Stream queuing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Picture header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Picture data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27521">
                <a:tc>
                  <a:txBody>
                    <a:bodyPr/>
                    <a:lstStyle/>
                    <a:p>
                      <a:pPr latinLnBrk="0"/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VP8/9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Stream queuing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Frame header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Probability update</a:t>
                      </a:r>
                    </a:p>
                    <a:p>
                      <a:pPr latinLnBrk="0"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 for 2-stage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VSP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Frame data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050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SDE Performance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083119"/>
              </p:ext>
            </p:extLst>
          </p:nvPr>
        </p:nvGraphicFramePr>
        <p:xfrm>
          <a:off x="971600" y="1131590"/>
          <a:ext cx="652697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688"/>
                <a:gridCol w="1281688"/>
                <a:gridCol w="1281688"/>
                <a:gridCol w="1340953"/>
                <a:gridCol w="1340953"/>
              </a:tblGrid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Tier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Cycle count/16x16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Upper bound Bitrate performance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Required Bin Processing Rate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HT/MT (Turbo)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4K60@</a:t>
                      </a:r>
                    </a:p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533Mhz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1080p@30 </a:t>
                      </a:r>
                    </a:p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 channels </a:t>
                      </a:r>
                    </a:p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 </a:t>
                      </a:r>
                      <a:r>
                        <a:rPr lang="en-US" sz="12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MBps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  Bins/cycle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HT/MT (Nominal)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4K30@</a:t>
                      </a:r>
                    </a:p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333Mhz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306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1080p@30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channels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 </a:t>
                      </a:r>
                      <a:r>
                        <a:rPr lang="en-US" sz="12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MBps</a:t>
                      </a:r>
                      <a:endParaRPr lang="en-US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0.85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Bins/cycle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ULT-H (Turbo)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1080p90@</a:t>
                      </a:r>
                    </a:p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326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MHz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1080p@90 </a:t>
                      </a:r>
                    </a:p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channel </a:t>
                      </a:r>
                    </a:p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 Mbps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 Bins/cycle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ULT-H (Nominal)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1080p60@</a:t>
                      </a:r>
                    </a:p>
                    <a:p>
                      <a:pPr latinLnBrk="0"/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217 MHz</a:t>
                      </a:r>
                      <a:endParaRPr lang="en-US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1080p@60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channel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 </a:t>
                      </a:r>
                      <a:r>
                        <a:rPr lang="en-US" sz="12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MBps</a:t>
                      </a:r>
                      <a:endParaRPr lang="en-US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 Bins/cycle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2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278720" y="2307251"/>
            <a:ext cx="8236877" cy="0"/>
          </a:xfrm>
          <a:prstGeom prst="line">
            <a:avLst/>
          </a:prstGeom>
          <a:ln w="1270">
            <a:solidFill>
              <a:schemeClr val="tx1">
                <a:lumMod val="65000"/>
                <a:lumOff val="35000"/>
              </a:schemeClr>
            </a:solidFill>
            <a:prstDash val="sys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8"/>
          <p:cNvSpPr txBox="1"/>
          <p:nvPr/>
        </p:nvSpPr>
        <p:spPr>
          <a:xfrm>
            <a:off x="153154" y="2732178"/>
            <a:ext cx="1361715" cy="3222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4" name="TextBox 27"/>
          <p:cNvSpPr txBox="1"/>
          <p:nvPr/>
        </p:nvSpPr>
        <p:spPr>
          <a:xfrm>
            <a:off x="1979712" y="2730853"/>
            <a:ext cx="1465485" cy="4156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</a:p>
        </p:txBody>
      </p:sp>
      <p:sp>
        <p:nvSpPr>
          <p:cNvPr id="5" name="Oval 4"/>
          <p:cNvSpPr>
            <a:spLocks noChangeAspect="1"/>
          </p:cNvSpPr>
          <p:nvPr/>
        </p:nvSpPr>
        <p:spPr bwMode="auto">
          <a:xfrm>
            <a:off x="2275939" y="1907930"/>
            <a:ext cx="737210" cy="74980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2</a:t>
            </a:r>
          </a:p>
        </p:txBody>
      </p:sp>
      <p:sp>
        <p:nvSpPr>
          <p:cNvPr id="6" name="TextBox 28"/>
          <p:cNvSpPr txBox="1"/>
          <p:nvPr/>
        </p:nvSpPr>
        <p:spPr>
          <a:xfrm>
            <a:off x="3949649" y="2738185"/>
            <a:ext cx="1058299" cy="4156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</a:p>
        </p:txBody>
      </p:sp>
      <p:sp useBgFill="1">
        <p:nvSpPr>
          <p:cNvPr id="7" name="Oval 6"/>
          <p:cNvSpPr>
            <a:spLocks noChangeAspect="1"/>
          </p:cNvSpPr>
          <p:nvPr/>
        </p:nvSpPr>
        <p:spPr bwMode="auto">
          <a:xfrm>
            <a:off x="4115317" y="1907930"/>
            <a:ext cx="766536" cy="74980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3</a:t>
            </a:r>
          </a:p>
        </p:txBody>
      </p:sp>
      <p:sp>
        <p:nvSpPr>
          <p:cNvPr id="8" name="TextBox 29"/>
          <p:cNvSpPr txBox="1"/>
          <p:nvPr/>
        </p:nvSpPr>
        <p:spPr>
          <a:xfrm>
            <a:off x="5652120" y="2731663"/>
            <a:ext cx="1325608" cy="3188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</p:txBody>
      </p:sp>
      <p:sp useBgFill="1">
        <p:nvSpPr>
          <p:cNvPr id="9" name="Oval 8"/>
          <p:cNvSpPr>
            <a:spLocks noChangeAspect="1"/>
          </p:cNvSpPr>
          <p:nvPr/>
        </p:nvSpPr>
        <p:spPr bwMode="auto">
          <a:xfrm>
            <a:off x="7562613" y="1907930"/>
            <a:ext cx="758062" cy="74980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5</a:t>
            </a:r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Qualcomm Office Bold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84633" y="1383417"/>
            <a:ext cx="85747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>
            <a:spLocks noChangeAspect="1"/>
          </p:cNvSpPr>
          <p:nvPr/>
        </p:nvSpPr>
        <p:spPr bwMode="auto">
          <a:xfrm>
            <a:off x="5931656" y="1907930"/>
            <a:ext cx="766536" cy="749808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4</a:t>
            </a:r>
          </a:p>
        </p:txBody>
      </p:sp>
      <p:sp>
        <p:nvSpPr>
          <p:cNvPr id="12" name="Oval 11"/>
          <p:cNvSpPr>
            <a:spLocks noChangeAspect="1"/>
          </p:cNvSpPr>
          <p:nvPr/>
        </p:nvSpPr>
        <p:spPr bwMode="auto">
          <a:xfrm>
            <a:off x="495409" y="1910580"/>
            <a:ext cx="765219" cy="74715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1</a:t>
            </a:r>
          </a:p>
        </p:txBody>
      </p:sp>
      <p:sp>
        <p:nvSpPr>
          <p:cNvPr id="14" name="TextBox 29"/>
          <p:cNvSpPr txBox="1"/>
          <p:nvPr/>
        </p:nvSpPr>
        <p:spPr>
          <a:xfrm>
            <a:off x="7278840" y="2738185"/>
            <a:ext cx="1325608" cy="3188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MISC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961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Encoder Data Flow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973615"/>
            <a:ext cx="6552728" cy="411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01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7727599"/>
              </p:ext>
            </p:extLst>
          </p:nvPr>
        </p:nvGraphicFramePr>
        <p:xfrm>
          <a:off x="176867" y="487526"/>
          <a:ext cx="8643605" cy="4028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9489"/>
                <a:gridCol w="2053983"/>
                <a:gridCol w="3511825"/>
                <a:gridCol w="209830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Video 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Controller ARM9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Video HW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HEVC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Frame queuing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Frame and slice level RC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SPS and PPS packing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Slice header packing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Reference frame management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 for 2-stage VSG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All MB encoding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MB level RC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Stream generation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H264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Frame queuing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Frame and slice level RC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SPS and PPS packing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Slice header packing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Reference frame management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 for 2-stage VSG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All MB encoding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MB level RC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Stream generation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MPEG4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Frame queuing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Frame and packet level RC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Visual Object Sequence packing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Visual Object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header packing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Visual Object Layer header packing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Data partition management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All MB encoding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MB level RC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Stream generation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H263p0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Frame queuing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Frame and GOB level RC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Picture header packing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Plus header packing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All MB encoding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MB level RC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Stream generation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On2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VP8/9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Frame queuing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Buffer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Frame level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RC</a:t>
                      </a:r>
                      <a:endParaRPr lang="en-US" sz="10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Frame header packing 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Probability update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All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MB encoding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MB level RC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Stream generation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95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Engine Tasks (1)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8826895"/>
              </p:ext>
            </p:extLst>
          </p:nvPr>
        </p:nvGraphicFramePr>
        <p:xfrm>
          <a:off x="611560" y="1653902"/>
          <a:ext cx="8136904" cy="1828800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50800" dir="5400000" algn="ctr" rotWithShape="0">
                    <a:schemeClr val="bg1">
                      <a:lumMod val="85000"/>
                    </a:schemeClr>
                  </a:outerShdw>
                </a:effectLst>
                <a:tableStyleId>{5C22544A-7EE6-4342-B048-85BDC9FD1C3A}</a:tableStyleId>
              </a:tblPr>
              <a:tblGrid>
                <a:gridCol w="2449877"/>
                <a:gridCol w="5687027"/>
              </a:tblGrid>
              <a:tr h="236414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 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035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HW SDE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Arithmetic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Encoding for slice data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QP prediction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7025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HW SE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Top/Left Neighbor fetching, Scaling list/Lambda fetching, Collocated MV fetch and data store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MV reconstruction/Intra mode Prediction/BS computation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Residue data Inverse Scan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Command preparation and dispatching for TE/PE/FE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Feedback to TE on RCI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Pipeline control for MEC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Binstream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/Bitstream packing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40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Engine Tasks (2)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434691"/>
              </p:ext>
            </p:extLst>
          </p:nvPr>
        </p:nvGraphicFramePr>
        <p:xfrm>
          <a:off x="190500" y="1062779"/>
          <a:ext cx="8822591" cy="3584136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50800" dir="5400000" algn="ctr" rotWithShape="0">
                    <a:schemeClr val="bg1">
                      <a:lumMod val="85000"/>
                    </a:schemeClr>
                  </a:outerShdw>
                </a:effectLst>
                <a:tableStyleId>{5C22544A-7EE6-4342-B048-85BDC9FD1C3A}</a:tableStyleId>
              </a:tblPr>
              <a:tblGrid>
                <a:gridCol w="2656325"/>
                <a:gridCol w="6166266"/>
              </a:tblGrid>
              <a:tr h="236414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 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120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HW MEC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Subsampled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Search Engine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Integer Search Engine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Fractional Search Engine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MVP (Merge Candidate derivation, Pruning, Skip/Direct candidate calculation)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MVP (Buffer maintenance for neighboring MVs)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Pack the final Modes/MVs to SE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120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HW TE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Forward Quant/Transform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Inverse Quant/Transform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Rate control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Slice boundary detection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Zero Block Detection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Redo Intra Prediction</a:t>
                      </a:r>
                    </a:p>
                  </a:txBody>
                  <a:tcPr/>
                </a:tc>
              </a:tr>
              <a:tr h="7986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HW PE</a:t>
                      </a:r>
                      <a:endParaRPr lang="en-US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Reference Pixel Fetch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Spatial/Temporal Prediction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Redo Intra Prediction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Pixel reconstruction</a:t>
                      </a:r>
                    </a:p>
                  </a:txBody>
                  <a:tcPr/>
                </a:tc>
              </a:tr>
              <a:tr h="499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HW </a:t>
                      </a:r>
                      <a:r>
                        <a:rPr lang="en-US" sz="1200" b="1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</a:t>
                      </a:r>
                      <a:endParaRPr lang="en-US" sz="1200" b="1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In-loop filtering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SAO Algorithm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SAO Processing</a:t>
                      </a:r>
                      <a:endParaRPr lang="en-US" sz="10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49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Encoder Evolution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404222"/>
              </p:ext>
            </p:extLst>
          </p:nvPr>
        </p:nvGraphicFramePr>
        <p:xfrm>
          <a:off x="179512" y="1131590"/>
          <a:ext cx="8784976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244"/>
                <a:gridCol w="2196244"/>
                <a:gridCol w="2196244"/>
                <a:gridCol w="2196244"/>
              </a:tblGrid>
              <a:tr h="139040"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aseline="30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Gen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aseline="30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Gen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baseline="30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Gen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Codec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H.264, MPEG4, H.263, VP8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H.264, MPEG4, H.263, VP8, HEVC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H.264, MPEG4, H.263, VP8, HEVC, VP9</a:t>
                      </a:r>
                    </a:p>
                    <a:p>
                      <a:pPr latinLnBrk="0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Encoding Quality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1080p30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4K30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4K30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4K60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 Range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±96 x ±48</a:t>
                      </a:r>
                      <a:r>
                        <a:rPr lang="en-US" sz="12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(1ref)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±64 x ±32</a:t>
                      </a:r>
                      <a:r>
                        <a:rPr lang="en-US" sz="12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(2ref)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±160 x ±80</a:t>
                      </a:r>
                      <a:r>
                        <a:rPr lang="en-US" sz="12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(1ref)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  96 x ±48</a:t>
                      </a:r>
                      <a:r>
                        <a:rPr lang="en-US" sz="12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(2ref)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±160 x ±80</a:t>
                      </a:r>
                      <a:r>
                        <a:rPr lang="en-US" sz="12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(1ref)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  96 x ±48</a:t>
                      </a:r>
                      <a:r>
                        <a:rPr lang="en-US" sz="12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(2ref)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 Metric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SAD, SATD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SAD, SATD,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SAITD</a:t>
                      </a:r>
                      <a:endParaRPr lang="en-US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SAD, SATD,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SAITD</a:t>
                      </a:r>
                      <a:endParaRPr lang="en-US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Block Size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8x8 (min), 16x16 (max)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8x4/4x8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(min), 32x32(max)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8x4/4x8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(min), 64x64(max)</a:t>
                      </a:r>
                      <a:endParaRPr lang="en-US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0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Slicing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Byte-based,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MB-based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Byte-based,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LCU/MB-based, accurate byte-based</a:t>
                      </a:r>
                      <a:endParaRPr lang="en-US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Byte-based,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LCU/MB-based, accurate byte-based</a:t>
                      </a:r>
                      <a:endParaRPr lang="en-US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WFD Quality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specific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tools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-skip, re-do intra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-skip, re-do intra, 4:4:4</a:t>
                      </a:r>
                      <a:endParaRPr lang="en-US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761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15816" y="2067694"/>
            <a:ext cx="3312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Rate Control</a:t>
            </a:r>
            <a:endParaRPr lang="en-US" sz="4000" b="1" dirty="0">
              <a:solidFill>
                <a:schemeClr val="accent5">
                  <a:lumMod val="50000"/>
                </a:schemeClr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775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Basics</a:t>
            </a:r>
          </a:p>
          <a:p>
            <a:pPr lvl="1"/>
            <a:r>
              <a:rPr lang="en-US" dirty="0" smtClean="0"/>
              <a:t>Changing Quantization Parameter (QP)</a:t>
            </a:r>
          </a:p>
          <a:p>
            <a:pPr lvl="1"/>
            <a:r>
              <a:rPr lang="en-US" dirty="0" smtClean="0"/>
              <a:t>Skip (not encode) some frames</a:t>
            </a:r>
          </a:p>
          <a:p>
            <a:r>
              <a:rPr lang="en-US" dirty="0" smtClean="0"/>
              <a:t>Modes</a:t>
            </a:r>
          </a:p>
          <a:p>
            <a:pPr lvl="1"/>
            <a:r>
              <a:rPr lang="en-US" dirty="0" smtClean="0"/>
              <a:t>Variable Bit-Rate(VBR)</a:t>
            </a:r>
          </a:p>
          <a:p>
            <a:pPr lvl="2"/>
            <a:r>
              <a:rPr lang="en-US" dirty="0" smtClean="0"/>
              <a:t>Maintain constant quality as much as possible</a:t>
            </a:r>
          </a:p>
          <a:p>
            <a:pPr lvl="2"/>
            <a:r>
              <a:rPr lang="en-US" dirty="0"/>
              <a:t>A</a:t>
            </a:r>
            <a:r>
              <a:rPr lang="en-US" dirty="0" smtClean="0"/>
              <a:t>llow bitrate to fluctuate </a:t>
            </a:r>
            <a:r>
              <a:rPr lang="en-US" b="1" dirty="0" smtClean="0"/>
              <a:t>within bounds</a:t>
            </a:r>
          </a:p>
          <a:p>
            <a:pPr lvl="1"/>
            <a:r>
              <a:rPr lang="en-US" dirty="0" smtClean="0"/>
              <a:t>Constant Bit-Rate(CBR)</a:t>
            </a:r>
          </a:p>
          <a:p>
            <a:pPr lvl="2"/>
            <a:r>
              <a:rPr lang="en-US" dirty="0" smtClean="0"/>
              <a:t>Reduce convergence time to target bit-rate as much as possible</a:t>
            </a:r>
          </a:p>
          <a:p>
            <a:pPr lvl="2"/>
            <a:r>
              <a:rPr lang="en-US" dirty="0" smtClean="0"/>
              <a:t>Maintain constant bit-rate within fixed time intervals (e.g. 1s)</a:t>
            </a:r>
          </a:p>
        </p:txBody>
      </p:sp>
    </p:spTree>
    <p:extLst>
      <p:ext uri="{BB962C8B-B14F-4D97-AF65-F5344CB8AC3E}">
        <p14:creationId xmlns:p14="http://schemas.microsoft.com/office/powerpoint/2010/main" val="361670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907704" y="987574"/>
            <a:ext cx="5283199" cy="4064000"/>
            <a:chOff x="1930400" y="1397000"/>
            <a:chExt cx="5283199" cy="4064000"/>
          </a:xfrm>
        </p:grpSpPr>
        <p:sp>
          <p:nvSpPr>
            <p:cNvPr id="5" name="Freeform 4"/>
            <p:cNvSpPr/>
            <p:nvPr/>
          </p:nvSpPr>
          <p:spPr>
            <a:xfrm>
              <a:off x="5205983" y="4160520"/>
              <a:ext cx="2007616" cy="1300480"/>
            </a:xfrm>
            <a:custGeom>
              <a:avLst/>
              <a:gdLst>
                <a:gd name="connsiteX0" fmla="*/ 0 w 2007616"/>
                <a:gd name="connsiteY0" fmla="*/ 130048 h 1300480"/>
                <a:gd name="connsiteX1" fmla="*/ 130048 w 2007616"/>
                <a:gd name="connsiteY1" fmla="*/ 0 h 1300480"/>
                <a:gd name="connsiteX2" fmla="*/ 1877568 w 2007616"/>
                <a:gd name="connsiteY2" fmla="*/ 0 h 1300480"/>
                <a:gd name="connsiteX3" fmla="*/ 2007616 w 2007616"/>
                <a:gd name="connsiteY3" fmla="*/ 130048 h 1300480"/>
                <a:gd name="connsiteX4" fmla="*/ 2007616 w 2007616"/>
                <a:gd name="connsiteY4" fmla="*/ 1170432 h 1300480"/>
                <a:gd name="connsiteX5" fmla="*/ 1877568 w 2007616"/>
                <a:gd name="connsiteY5" fmla="*/ 1300480 h 1300480"/>
                <a:gd name="connsiteX6" fmla="*/ 130048 w 2007616"/>
                <a:gd name="connsiteY6" fmla="*/ 1300480 h 1300480"/>
                <a:gd name="connsiteX7" fmla="*/ 0 w 2007616"/>
                <a:gd name="connsiteY7" fmla="*/ 1170432 h 1300480"/>
                <a:gd name="connsiteX8" fmla="*/ 0 w 2007616"/>
                <a:gd name="connsiteY8" fmla="*/ 130048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7616" h="1300480">
                  <a:moveTo>
                    <a:pt x="0" y="130048"/>
                  </a:moveTo>
                  <a:cubicBezTo>
                    <a:pt x="0" y="58224"/>
                    <a:pt x="58224" y="0"/>
                    <a:pt x="130048" y="0"/>
                  </a:cubicBezTo>
                  <a:lnTo>
                    <a:pt x="1877568" y="0"/>
                  </a:lnTo>
                  <a:cubicBezTo>
                    <a:pt x="1949392" y="0"/>
                    <a:pt x="2007616" y="58224"/>
                    <a:pt x="2007616" y="130048"/>
                  </a:cubicBezTo>
                  <a:lnTo>
                    <a:pt x="2007616" y="1170432"/>
                  </a:lnTo>
                  <a:cubicBezTo>
                    <a:pt x="2007616" y="1242256"/>
                    <a:pt x="1949392" y="1300480"/>
                    <a:pt x="1877568" y="1300480"/>
                  </a:cubicBezTo>
                  <a:lnTo>
                    <a:pt x="130048" y="1300480"/>
                  </a:lnTo>
                  <a:cubicBezTo>
                    <a:pt x="58224" y="1300480"/>
                    <a:pt x="0" y="1242256"/>
                    <a:pt x="0" y="1170432"/>
                  </a:cubicBezTo>
                  <a:lnTo>
                    <a:pt x="0" y="13004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5622" tIns="418456" rIns="93337" bIns="93338" numCol="1" spcCol="1270" anchor="t" anchorCtr="0">
              <a:noAutofit/>
            </a:bodyPr>
            <a:lstStyle/>
            <a:p>
              <a:pPr marL="114300" lvl="1" indent="-114300" defTabSz="57785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r>
                <a:rPr lang="en-US" sz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Best quality</a:t>
              </a:r>
            </a:p>
            <a:p>
              <a:pPr marL="114300" lvl="1" indent="-114300" defTabSz="57785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r>
                <a:rPr lang="en-US" sz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Storage mode</a:t>
              </a:r>
            </a:p>
            <a:p>
              <a:pPr marL="114300" lvl="1" indent="-114300" defTabSz="577850" fontAlgn="base" latinLnBrk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r>
                <a:rPr lang="en-US" sz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Post processing  (editing)</a:t>
              </a:r>
            </a:p>
            <a:p>
              <a:pPr marL="114300" lvl="1" indent="-114300" defTabSz="57785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endParaRPr lang="en-US" sz="13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Freeform 5"/>
            <p:cNvSpPr/>
            <p:nvPr/>
          </p:nvSpPr>
          <p:spPr>
            <a:xfrm>
              <a:off x="1930400" y="4160520"/>
              <a:ext cx="2007616" cy="1300480"/>
            </a:xfrm>
            <a:custGeom>
              <a:avLst/>
              <a:gdLst>
                <a:gd name="connsiteX0" fmla="*/ 0 w 2007616"/>
                <a:gd name="connsiteY0" fmla="*/ 130048 h 1300480"/>
                <a:gd name="connsiteX1" fmla="*/ 130048 w 2007616"/>
                <a:gd name="connsiteY1" fmla="*/ 0 h 1300480"/>
                <a:gd name="connsiteX2" fmla="*/ 1877568 w 2007616"/>
                <a:gd name="connsiteY2" fmla="*/ 0 h 1300480"/>
                <a:gd name="connsiteX3" fmla="*/ 2007616 w 2007616"/>
                <a:gd name="connsiteY3" fmla="*/ 130048 h 1300480"/>
                <a:gd name="connsiteX4" fmla="*/ 2007616 w 2007616"/>
                <a:gd name="connsiteY4" fmla="*/ 1170432 h 1300480"/>
                <a:gd name="connsiteX5" fmla="*/ 1877568 w 2007616"/>
                <a:gd name="connsiteY5" fmla="*/ 1300480 h 1300480"/>
                <a:gd name="connsiteX6" fmla="*/ 130048 w 2007616"/>
                <a:gd name="connsiteY6" fmla="*/ 1300480 h 1300480"/>
                <a:gd name="connsiteX7" fmla="*/ 0 w 2007616"/>
                <a:gd name="connsiteY7" fmla="*/ 1170432 h 1300480"/>
                <a:gd name="connsiteX8" fmla="*/ 0 w 2007616"/>
                <a:gd name="connsiteY8" fmla="*/ 130048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7616" h="1300480">
                  <a:moveTo>
                    <a:pt x="0" y="130048"/>
                  </a:moveTo>
                  <a:cubicBezTo>
                    <a:pt x="0" y="58224"/>
                    <a:pt x="58224" y="0"/>
                    <a:pt x="130048" y="0"/>
                  </a:cubicBezTo>
                  <a:lnTo>
                    <a:pt x="1877568" y="0"/>
                  </a:lnTo>
                  <a:cubicBezTo>
                    <a:pt x="1949392" y="0"/>
                    <a:pt x="2007616" y="58224"/>
                    <a:pt x="2007616" y="130048"/>
                  </a:cubicBezTo>
                  <a:lnTo>
                    <a:pt x="2007616" y="1170432"/>
                  </a:lnTo>
                  <a:cubicBezTo>
                    <a:pt x="2007616" y="1242256"/>
                    <a:pt x="1949392" y="1300480"/>
                    <a:pt x="1877568" y="1300480"/>
                  </a:cubicBezTo>
                  <a:lnTo>
                    <a:pt x="130048" y="1300480"/>
                  </a:lnTo>
                  <a:cubicBezTo>
                    <a:pt x="58224" y="1300480"/>
                    <a:pt x="0" y="1242256"/>
                    <a:pt x="0" y="1170432"/>
                  </a:cubicBezTo>
                  <a:lnTo>
                    <a:pt x="0" y="13004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3337" tIns="418456" rIns="695622" bIns="93338" numCol="1" spcCol="1270" anchor="t" anchorCtr="0">
              <a:noAutofit/>
            </a:bodyPr>
            <a:lstStyle/>
            <a:p>
              <a:pPr marL="114300" lvl="1" indent="-114300" defTabSz="57785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r>
                <a:rPr lang="en-US" sz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Camcorder</a:t>
              </a:r>
            </a:p>
            <a:p>
              <a:pPr marL="114300" lvl="1" indent="-114300" defTabSz="57785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r>
                <a:rPr lang="en-US" sz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WFD</a:t>
              </a:r>
            </a:p>
          </p:txBody>
        </p:sp>
        <p:sp>
          <p:nvSpPr>
            <p:cNvPr id="7" name="Freeform 6"/>
            <p:cNvSpPr/>
            <p:nvPr/>
          </p:nvSpPr>
          <p:spPr>
            <a:xfrm>
              <a:off x="5205983" y="1397000"/>
              <a:ext cx="2007616" cy="1300480"/>
            </a:xfrm>
            <a:custGeom>
              <a:avLst/>
              <a:gdLst>
                <a:gd name="connsiteX0" fmla="*/ 0 w 2007616"/>
                <a:gd name="connsiteY0" fmla="*/ 130048 h 1300480"/>
                <a:gd name="connsiteX1" fmla="*/ 130048 w 2007616"/>
                <a:gd name="connsiteY1" fmla="*/ 0 h 1300480"/>
                <a:gd name="connsiteX2" fmla="*/ 1877568 w 2007616"/>
                <a:gd name="connsiteY2" fmla="*/ 0 h 1300480"/>
                <a:gd name="connsiteX3" fmla="*/ 2007616 w 2007616"/>
                <a:gd name="connsiteY3" fmla="*/ 130048 h 1300480"/>
                <a:gd name="connsiteX4" fmla="*/ 2007616 w 2007616"/>
                <a:gd name="connsiteY4" fmla="*/ 1170432 h 1300480"/>
                <a:gd name="connsiteX5" fmla="*/ 1877568 w 2007616"/>
                <a:gd name="connsiteY5" fmla="*/ 1300480 h 1300480"/>
                <a:gd name="connsiteX6" fmla="*/ 130048 w 2007616"/>
                <a:gd name="connsiteY6" fmla="*/ 1300480 h 1300480"/>
                <a:gd name="connsiteX7" fmla="*/ 0 w 2007616"/>
                <a:gd name="connsiteY7" fmla="*/ 1170432 h 1300480"/>
                <a:gd name="connsiteX8" fmla="*/ 0 w 2007616"/>
                <a:gd name="connsiteY8" fmla="*/ 130048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7616" h="1300480">
                  <a:moveTo>
                    <a:pt x="0" y="130048"/>
                  </a:moveTo>
                  <a:cubicBezTo>
                    <a:pt x="0" y="58224"/>
                    <a:pt x="58224" y="0"/>
                    <a:pt x="130048" y="0"/>
                  </a:cubicBezTo>
                  <a:lnTo>
                    <a:pt x="1877568" y="0"/>
                  </a:lnTo>
                  <a:cubicBezTo>
                    <a:pt x="1949392" y="0"/>
                    <a:pt x="2007616" y="58224"/>
                    <a:pt x="2007616" y="130048"/>
                  </a:cubicBezTo>
                  <a:lnTo>
                    <a:pt x="2007616" y="1170432"/>
                  </a:lnTo>
                  <a:cubicBezTo>
                    <a:pt x="2007616" y="1242256"/>
                    <a:pt x="1949392" y="1300480"/>
                    <a:pt x="1877568" y="1300480"/>
                  </a:cubicBezTo>
                  <a:lnTo>
                    <a:pt x="130048" y="1300480"/>
                  </a:lnTo>
                  <a:cubicBezTo>
                    <a:pt x="58224" y="1300480"/>
                    <a:pt x="0" y="1242256"/>
                    <a:pt x="0" y="1170432"/>
                  </a:cubicBezTo>
                  <a:lnTo>
                    <a:pt x="0" y="13004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5622" tIns="93337" rIns="93337" bIns="418457" numCol="1" spcCol="1270" anchor="t" anchorCtr="0">
              <a:noAutofit/>
            </a:bodyPr>
            <a:lstStyle/>
            <a:p>
              <a:pPr marL="114300" lvl="1" indent="-114300" defTabSz="577850" fontAlgn="base" latinLnBrk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r>
                <a:rPr lang="en-US" sz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MMS</a:t>
              </a:r>
            </a:p>
            <a:p>
              <a:pPr marL="114300" lvl="1" indent="-114300" defTabSz="577850" fontAlgn="base" latinLnBrk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r>
                <a:rPr lang="en-US" sz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Aggressive VT</a:t>
              </a:r>
            </a:p>
            <a:p>
              <a:pPr marL="114300" lvl="1" indent="-114300" defTabSz="577850" fontAlgn="base" latinLnBrk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r>
                <a:rPr lang="en-US" sz="1200" dirty="0" err="1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eMBMS</a:t>
              </a:r>
              <a:endParaRPr lang="en-US" sz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14300" lvl="1" indent="-114300" defTabSz="577850" fontAlgn="base" latinLnBrk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r>
                <a:rPr lang="en-US" sz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HTTP streaming</a:t>
              </a:r>
            </a:p>
            <a:p>
              <a:pPr marL="114300" lvl="1" indent="-114300" defTabSz="57785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endParaRPr lang="en-US" sz="13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14300" lvl="1" indent="-114300" defTabSz="57785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endParaRPr lang="en-US" sz="13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1930400" y="1397000"/>
              <a:ext cx="2007616" cy="1300480"/>
            </a:xfrm>
            <a:custGeom>
              <a:avLst/>
              <a:gdLst>
                <a:gd name="connsiteX0" fmla="*/ 0 w 2007616"/>
                <a:gd name="connsiteY0" fmla="*/ 130048 h 1300480"/>
                <a:gd name="connsiteX1" fmla="*/ 130048 w 2007616"/>
                <a:gd name="connsiteY1" fmla="*/ 0 h 1300480"/>
                <a:gd name="connsiteX2" fmla="*/ 1877568 w 2007616"/>
                <a:gd name="connsiteY2" fmla="*/ 0 h 1300480"/>
                <a:gd name="connsiteX3" fmla="*/ 2007616 w 2007616"/>
                <a:gd name="connsiteY3" fmla="*/ 130048 h 1300480"/>
                <a:gd name="connsiteX4" fmla="*/ 2007616 w 2007616"/>
                <a:gd name="connsiteY4" fmla="*/ 1170432 h 1300480"/>
                <a:gd name="connsiteX5" fmla="*/ 1877568 w 2007616"/>
                <a:gd name="connsiteY5" fmla="*/ 1300480 h 1300480"/>
                <a:gd name="connsiteX6" fmla="*/ 130048 w 2007616"/>
                <a:gd name="connsiteY6" fmla="*/ 1300480 h 1300480"/>
                <a:gd name="connsiteX7" fmla="*/ 0 w 2007616"/>
                <a:gd name="connsiteY7" fmla="*/ 1170432 h 1300480"/>
                <a:gd name="connsiteX8" fmla="*/ 0 w 2007616"/>
                <a:gd name="connsiteY8" fmla="*/ 130048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7616" h="1300480">
                  <a:moveTo>
                    <a:pt x="0" y="130048"/>
                  </a:moveTo>
                  <a:cubicBezTo>
                    <a:pt x="0" y="58224"/>
                    <a:pt x="58224" y="0"/>
                    <a:pt x="130048" y="0"/>
                  </a:cubicBezTo>
                  <a:lnTo>
                    <a:pt x="1877568" y="0"/>
                  </a:lnTo>
                  <a:cubicBezTo>
                    <a:pt x="1949392" y="0"/>
                    <a:pt x="2007616" y="58224"/>
                    <a:pt x="2007616" y="130048"/>
                  </a:cubicBezTo>
                  <a:lnTo>
                    <a:pt x="2007616" y="1170432"/>
                  </a:lnTo>
                  <a:cubicBezTo>
                    <a:pt x="2007616" y="1242256"/>
                    <a:pt x="1949392" y="1300480"/>
                    <a:pt x="1877568" y="1300480"/>
                  </a:cubicBezTo>
                  <a:lnTo>
                    <a:pt x="130048" y="1300480"/>
                  </a:lnTo>
                  <a:cubicBezTo>
                    <a:pt x="58224" y="1300480"/>
                    <a:pt x="0" y="1242256"/>
                    <a:pt x="0" y="1170432"/>
                  </a:cubicBezTo>
                  <a:lnTo>
                    <a:pt x="0" y="13004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3337" tIns="93337" rIns="695622" bIns="418457" numCol="1" spcCol="1270" anchor="t" anchorCtr="0">
              <a:noAutofit/>
            </a:bodyPr>
            <a:lstStyle/>
            <a:p>
              <a:pPr marL="114300" lvl="1" indent="-114300" defTabSz="577850" fontAlgn="base" latinLnBrk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r>
                <a:rPr lang="en-US" sz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Video telephony</a:t>
              </a:r>
            </a:p>
            <a:p>
              <a:pPr marL="114300" lvl="1" indent="-114300" defTabSz="577850" fontAlgn="base" latinLnBrk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r>
                <a:rPr lang="en-US" sz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Cisco </a:t>
              </a:r>
              <a:r>
                <a:rPr lang="en-US" sz="1200" dirty="0" err="1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telepresence</a:t>
              </a:r>
              <a:endParaRPr lang="en-US" sz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14300" lvl="1" indent="-114300" defTabSz="577850" fontAlgn="base" latinLnBrk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r>
                <a:rPr lang="en-US" sz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ALS</a:t>
              </a:r>
            </a:p>
            <a:p>
              <a:pPr marL="114300" lvl="1" indent="-114300" defTabSz="577850" fontAlgn="base" latinLnBrk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r>
                <a:rPr lang="en-US" sz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WFD</a:t>
              </a:r>
            </a:p>
            <a:p>
              <a:pPr marL="0" lvl="1" defTabSz="577850" fontAlgn="base" latinLnBrk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US" sz="13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2771648" y="1628647"/>
              <a:ext cx="1759712" cy="1759712"/>
            </a:xfrm>
            <a:custGeom>
              <a:avLst/>
              <a:gdLst>
                <a:gd name="connsiteX0" fmla="*/ 0 w 1759712"/>
                <a:gd name="connsiteY0" fmla="*/ 1759712 h 1759712"/>
                <a:gd name="connsiteX1" fmla="*/ 1759712 w 1759712"/>
                <a:gd name="connsiteY1" fmla="*/ 0 h 1759712"/>
                <a:gd name="connsiteX2" fmla="*/ 1759712 w 1759712"/>
                <a:gd name="connsiteY2" fmla="*/ 1759712 h 1759712"/>
                <a:gd name="connsiteX3" fmla="*/ 0 w 1759712"/>
                <a:gd name="connsiteY3" fmla="*/ 1759712 h 175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9712" h="1759712">
                  <a:moveTo>
                    <a:pt x="0" y="1759712"/>
                  </a:moveTo>
                  <a:cubicBezTo>
                    <a:pt x="0" y="787850"/>
                    <a:pt x="787850" y="0"/>
                    <a:pt x="1759712" y="0"/>
                  </a:cubicBezTo>
                  <a:lnTo>
                    <a:pt x="1759712" y="1759712"/>
                  </a:lnTo>
                  <a:lnTo>
                    <a:pt x="0" y="1759712"/>
                  </a:lnTo>
                  <a:close/>
                </a:path>
              </a:pathLst>
            </a:custGeom>
            <a:solidFill>
              <a:srgbClr val="0099FF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93208" tIns="693208" rIns="177800" bIns="177800" numCol="1" spcCol="1270" anchor="ctr" anchorCtr="0">
              <a:noAutofit/>
            </a:bodyPr>
            <a:lstStyle/>
            <a:p>
              <a:pPr algn="ctr" defTabSz="1111250" fontAlgn="base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CBR</a:t>
              </a:r>
            </a:p>
          </p:txBody>
        </p:sp>
        <p:sp>
          <p:nvSpPr>
            <p:cNvPr id="10" name="Freeform 9"/>
            <p:cNvSpPr/>
            <p:nvPr/>
          </p:nvSpPr>
          <p:spPr>
            <a:xfrm>
              <a:off x="4612639" y="1628647"/>
              <a:ext cx="1759712" cy="1759713"/>
            </a:xfrm>
            <a:custGeom>
              <a:avLst/>
              <a:gdLst>
                <a:gd name="connsiteX0" fmla="*/ 0 w 1759712"/>
                <a:gd name="connsiteY0" fmla="*/ 1759712 h 1759712"/>
                <a:gd name="connsiteX1" fmla="*/ 1759712 w 1759712"/>
                <a:gd name="connsiteY1" fmla="*/ 0 h 1759712"/>
                <a:gd name="connsiteX2" fmla="*/ 1759712 w 1759712"/>
                <a:gd name="connsiteY2" fmla="*/ 1759712 h 1759712"/>
                <a:gd name="connsiteX3" fmla="*/ 0 w 1759712"/>
                <a:gd name="connsiteY3" fmla="*/ 1759712 h 175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9712" h="1759712">
                  <a:moveTo>
                    <a:pt x="0" y="0"/>
                  </a:moveTo>
                  <a:cubicBezTo>
                    <a:pt x="971862" y="0"/>
                    <a:pt x="1759712" y="787850"/>
                    <a:pt x="1759712" y="1759712"/>
                  </a:cubicBezTo>
                  <a:lnTo>
                    <a:pt x="0" y="17597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693208" rIns="693208" bIns="177801" numCol="1" spcCol="1270" anchor="ctr" anchorCtr="0">
              <a:noAutofit/>
            </a:bodyPr>
            <a:lstStyle/>
            <a:p>
              <a:pPr algn="ctr" defTabSz="1111250" fontAlgn="base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dirty="0">
                  <a:solidFill>
                    <a:srgbClr val="FFFFFF"/>
                  </a:solidFill>
                </a:rPr>
                <a:t>CBR+</a:t>
              </a:r>
            </a:p>
          </p:txBody>
        </p:sp>
        <p:sp>
          <p:nvSpPr>
            <p:cNvPr id="11" name="Freeform 10"/>
            <p:cNvSpPr/>
            <p:nvPr/>
          </p:nvSpPr>
          <p:spPr>
            <a:xfrm rot="21600000">
              <a:off x="4612639" y="3469638"/>
              <a:ext cx="1759713" cy="1759713"/>
            </a:xfrm>
            <a:custGeom>
              <a:avLst/>
              <a:gdLst>
                <a:gd name="connsiteX0" fmla="*/ 0 w 1759712"/>
                <a:gd name="connsiteY0" fmla="*/ 1759712 h 1759712"/>
                <a:gd name="connsiteX1" fmla="*/ 1759712 w 1759712"/>
                <a:gd name="connsiteY1" fmla="*/ 0 h 1759712"/>
                <a:gd name="connsiteX2" fmla="*/ 1759712 w 1759712"/>
                <a:gd name="connsiteY2" fmla="*/ 1759712 h 1759712"/>
                <a:gd name="connsiteX3" fmla="*/ 0 w 1759712"/>
                <a:gd name="connsiteY3" fmla="*/ 1759712 h 175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9712" h="1759712">
                  <a:moveTo>
                    <a:pt x="1759712" y="0"/>
                  </a:moveTo>
                  <a:cubicBezTo>
                    <a:pt x="1759712" y="971862"/>
                    <a:pt x="971862" y="1759712"/>
                    <a:pt x="0" y="1759712"/>
                  </a:cubicBezTo>
                  <a:lnTo>
                    <a:pt x="0" y="0"/>
                  </a:lnTo>
                  <a:lnTo>
                    <a:pt x="1759712" y="0"/>
                  </a:lnTo>
                  <a:close/>
                </a:path>
              </a:pathLst>
            </a:custGeom>
            <a:solidFill>
              <a:srgbClr val="FF993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77801" rIns="693209" bIns="693208" numCol="1" spcCol="1270" anchor="ctr" anchorCtr="0">
              <a:noAutofit/>
            </a:bodyPr>
            <a:lstStyle/>
            <a:p>
              <a:pPr algn="ctr" defTabSz="1111250" fontAlgn="base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VBR+</a:t>
              </a:r>
            </a:p>
          </p:txBody>
        </p:sp>
        <p:sp>
          <p:nvSpPr>
            <p:cNvPr id="12" name="Freeform 11"/>
            <p:cNvSpPr/>
            <p:nvPr/>
          </p:nvSpPr>
          <p:spPr>
            <a:xfrm>
              <a:off x="2771648" y="3469639"/>
              <a:ext cx="1759712" cy="1759713"/>
            </a:xfrm>
            <a:custGeom>
              <a:avLst/>
              <a:gdLst>
                <a:gd name="connsiteX0" fmla="*/ 0 w 1759712"/>
                <a:gd name="connsiteY0" fmla="*/ 1759712 h 1759712"/>
                <a:gd name="connsiteX1" fmla="*/ 1759712 w 1759712"/>
                <a:gd name="connsiteY1" fmla="*/ 0 h 1759712"/>
                <a:gd name="connsiteX2" fmla="*/ 1759712 w 1759712"/>
                <a:gd name="connsiteY2" fmla="*/ 1759712 h 1759712"/>
                <a:gd name="connsiteX3" fmla="*/ 0 w 1759712"/>
                <a:gd name="connsiteY3" fmla="*/ 1759712 h 175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9712" h="1759712">
                  <a:moveTo>
                    <a:pt x="1759712" y="1759712"/>
                  </a:moveTo>
                  <a:cubicBezTo>
                    <a:pt x="787850" y="1759712"/>
                    <a:pt x="0" y="971862"/>
                    <a:pt x="0" y="0"/>
                  </a:cubicBezTo>
                  <a:lnTo>
                    <a:pt x="1759712" y="0"/>
                  </a:lnTo>
                  <a:lnTo>
                    <a:pt x="1759712" y="1759712"/>
                  </a:lnTo>
                  <a:close/>
                </a:path>
              </a:pathLst>
            </a:custGeom>
            <a:solidFill>
              <a:srgbClr val="CC66FF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93208" tIns="177800" rIns="177799" bIns="693209" numCol="1" spcCol="1270" anchor="ctr" anchorCtr="0">
              <a:noAutofit/>
            </a:bodyPr>
            <a:lstStyle/>
            <a:p>
              <a:pPr algn="ctr" defTabSz="1111250" fontAlgn="base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VBR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0172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Rate Control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987574"/>
            <a:ext cx="5982190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10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Perceptual Quantization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Better perceptual quality at same bitrates</a:t>
            </a:r>
          </a:p>
          <a:p>
            <a:pPr lvl="1"/>
            <a:r>
              <a:rPr lang="en-US" dirty="0" smtClean="0"/>
              <a:t>Make use of Human Visual System (HVS) model</a:t>
            </a:r>
          </a:p>
          <a:p>
            <a:pPr lvl="1"/>
            <a:r>
              <a:rPr lang="en-US" dirty="0" smtClean="0"/>
              <a:t>Less sensitive to high frequency components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563946"/>
            <a:ext cx="2997529" cy="1954529"/>
          </a:xfrm>
          <a:prstGeom prst="rect">
            <a:avLst/>
          </a:prstGeo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54730" y="2563946"/>
            <a:ext cx="2931794" cy="1954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hlinkClick r:id="rId4" action="ppaction://hlinkfile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47" y="3219822"/>
            <a:ext cx="1649348" cy="93345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H="1" flipV="1">
            <a:off x="6516216" y="2563946"/>
            <a:ext cx="1796664" cy="730844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lg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6444208" y="3585244"/>
            <a:ext cx="1868672" cy="933231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lg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63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60032" y="2067694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MEC</a:t>
            </a:r>
            <a:endParaRPr lang="en-US" sz="4000" b="1" dirty="0">
              <a:solidFill>
                <a:schemeClr val="accent5">
                  <a:lumMod val="50000"/>
                </a:schemeClr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6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Motion Estimation Control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08" y="1131590"/>
            <a:ext cx="8395656" cy="366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32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278720" y="2307251"/>
            <a:ext cx="8236877" cy="0"/>
          </a:xfrm>
          <a:prstGeom prst="line">
            <a:avLst/>
          </a:prstGeom>
          <a:ln w="1270">
            <a:solidFill>
              <a:schemeClr val="tx1">
                <a:lumMod val="65000"/>
                <a:lumOff val="35000"/>
              </a:schemeClr>
            </a:solidFill>
            <a:prstDash val="sys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8"/>
          <p:cNvSpPr txBox="1"/>
          <p:nvPr/>
        </p:nvSpPr>
        <p:spPr>
          <a:xfrm>
            <a:off x="153154" y="2732178"/>
            <a:ext cx="1361715" cy="3222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4" name="TextBox 27"/>
          <p:cNvSpPr txBox="1"/>
          <p:nvPr/>
        </p:nvSpPr>
        <p:spPr>
          <a:xfrm>
            <a:off x="1979712" y="2730853"/>
            <a:ext cx="1465485" cy="4156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</a:p>
        </p:txBody>
      </p:sp>
      <p:sp>
        <p:nvSpPr>
          <p:cNvPr id="5" name="Oval 4"/>
          <p:cNvSpPr>
            <a:spLocks noChangeAspect="1"/>
          </p:cNvSpPr>
          <p:nvPr/>
        </p:nvSpPr>
        <p:spPr bwMode="auto">
          <a:xfrm>
            <a:off x="2275939" y="1907930"/>
            <a:ext cx="737210" cy="74980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2</a:t>
            </a:r>
          </a:p>
        </p:txBody>
      </p:sp>
      <p:sp>
        <p:nvSpPr>
          <p:cNvPr id="6" name="TextBox 28"/>
          <p:cNvSpPr txBox="1"/>
          <p:nvPr/>
        </p:nvSpPr>
        <p:spPr>
          <a:xfrm>
            <a:off x="3949649" y="2738185"/>
            <a:ext cx="1058299" cy="4156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</a:p>
        </p:txBody>
      </p:sp>
      <p:sp useBgFill="1">
        <p:nvSpPr>
          <p:cNvPr id="7" name="Oval 6"/>
          <p:cNvSpPr>
            <a:spLocks noChangeAspect="1"/>
          </p:cNvSpPr>
          <p:nvPr/>
        </p:nvSpPr>
        <p:spPr bwMode="auto">
          <a:xfrm>
            <a:off x="4115317" y="1907930"/>
            <a:ext cx="766536" cy="74980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3</a:t>
            </a:r>
          </a:p>
        </p:txBody>
      </p:sp>
      <p:sp>
        <p:nvSpPr>
          <p:cNvPr id="8" name="TextBox 29"/>
          <p:cNvSpPr txBox="1"/>
          <p:nvPr/>
        </p:nvSpPr>
        <p:spPr>
          <a:xfrm>
            <a:off x="5652120" y="2731663"/>
            <a:ext cx="1325608" cy="3188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</p:txBody>
      </p:sp>
      <p:sp useBgFill="1">
        <p:nvSpPr>
          <p:cNvPr id="9" name="Oval 8"/>
          <p:cNvSpPr>
            <a:spLocks noChangeAspect="1"/>
          </p:cNvSpPr>
          <p:nvPr/>
        </p:nvSpPr>
        <p:spPr bwMode="auto">
          <a:xfrm>
            <a:off x="7562613" y="1907930"/>
            <a:ext cx="758062" cy="749808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5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284633" y="1383417"/>
            <a:ext cx="85747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>
            <a:spLocks noChangeAspect="1"/>
          </p:cNvSpPr>
          <p:nvPr/>
        </p:nvSpPr>
        <p:spPr bwMode="auto">
          <a:xfrm>
            <a:off x="5931656" y="1907930"/>
            <a:ext cx="766536" cy="74980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4</a:t>
            </a:r>
          </a:p>
        </p:txBody>
      </p:sp>
      <p:sp>
        <p:nvSpPr>
          <p:cNvPr id="12" name="Oval 11"/>
          <p:cNvSpPr>
            <a:spLocks noChangeAspect="1"/>
          </p:cNvSpPr>
          <p:nvPr/>
        </p:nvSpPr>
        <p:spPr bwMode="auto">
          <a:xfrm>
            <a:off x="495409" y="1910580"/>
            <a:ext cx="765219" cy="74715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Qualcomm Office Bold" pitchFamily="34" charset="0"/>
              </a:rPr>
              <a:t>1</a:t>
            </a:r>
          </a:p>
        </p:txBody>
      </p:sp>
      <p:sp>
        <p:nvSpPr>
          <p:cNvPr id="14" name="TextBox 29"/>
          <p:cNvSpPr txBox="1"/>
          <p:nvPr/>
        </p:nvSpPr>
        <p:spPr>
          <a:xfrm>
            <a:off x="7278840" y="2738185"/>
            <a:ext cx="1325608" cy="3188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lvl="0" algn="ctr">
              <a:lnSpc>
                <a:spcPct val="8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Qualcomm Office Regular" pitchFamily="34" charset="0"/>
              </a:defRPr>
            </a:lvl1pPr>
          </a:lstStyle>
          <a:p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MISC</a:t>
            </a:r>
          </a:p>
        </p:txBody>
      </p:sp>
    </p:spTree>
    <p:extLst>
      <p:ext uri="{BB962C8B-B14F-4D97-AF65-F5344CB8AC3E}">
        <p14:creationId xmlns:p14="http://schemas.microsoft.com/office/powerpoint/2010/main" val="3896419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MISC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699792" y="1347614"/>
            <a:ext cx="4752528" cy="3024336"/>
          </a:xfrm>
        </p:spPr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Performance</a:t>
            </a:r>
            <a:r>
              <a:rPr lang="en-US" sz="1600" dirty="0" smtClean="0">
                <a:solidFill>
                  <a:schemeClr val="accent5">
                    <a:lumMod val="50000"/>
                  </a:schemeClr>
                </a:solidFill>
              </a:rPr>
              <a:t>     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Clr>
                <a:srgbClr val="FFC000"/>
              </a:buClr>
            </a:pP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Power 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Clr>
                <a:srgbClr val="FFC000"/>
              </a:buClr>
            </a:pP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Scalability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Clr>
                <a:srgbClr val="FFC000"/>
              </a:buClr>
            </a:pP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Error Concealment</a:t>
            </a:r>
          </a:p>
          <a:p>
            <a:pPr>
              <a:buClr>
                <a:srgbClr val="FFC000"/>
              </a:buClr>
            </a:pP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Value Added Features</a:t>
            </a:r>
          </a:p>
          <a:p>
            <a:pPr>
              <a:buClr>
                <a:srgbClr val="FFC000"/>
              </a:buClr>
            </a:pP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Research</a:t>
            </a:r>
          </a:p>
          <a:p>
            <a:pPr marL="0" indent="0">
              <a:buNone/>
            </a:pPr>
            <a:r>
              <a:rPr lang="en-US" sz="1600" dirty="0" smtClean="0"/>
              <a:t>      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9543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15816" y="2067694"/>
            <a:ext cx="3312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endParaRPr lang="en-US" sz="4000" b="1" dirty="0">
              <a:solidFill>
                <a:schemeClr val="accent5">
                  <a:lumMod val="50000"/>
                </a:schemeClr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26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Static performance and BW analysis</a:t>
            </a:r>
          </a:p>
          <a:p>
            <a:pPr lvl="1"/>
            <a:r>
              <a:rPr lang="en-US" dirty="0" smtClean="0"/>
              <a:t>Linear vs. tile format</a:t>
            </a:r>
          </a:p>
          <a:p>
            <a:pPr lvl="1"/>
            <a:r>
              <a:rPr lang="en-US" dirty="0" smtClean="0"/>
              <a:t>Frame compression ON vs. OFF</a:t>
            </a:r>
          </a:p>
          <a:p>
            <a:pPr lvl="1"/>
            <a:r>
              <a:rPr lang="en-US" dirty="0" smtClean="0"/>
              <a:t>Separate vs. unified RPB/DPB</a:t>
            </a:r>
          </a:p>
          <a:p>
            <a:r>
              <a:rPr lang="en-US" dirty="0" smtClean="0"/>
              <a:t>System-level static analysis</a:t>
            </a:r>
          </a:p>
          <a:p>
            <a:pPr lvl="1"/>
            <a:r>
              <a:rPr lang="en-US" dirty="0" smtClean="0"/>
              <a:t>With system architecture team</a:t>
            </a:r>
          </a:p>
          <a:p>
            <a:r>
              <a:rPr lang="en-US" dirty="0" smtClean="0"/>
              <a:t>Dynamic performance and BW analysis</a:t>
            </a:r>
          </a:p>
          <a:p>
            <a:pPr lvl="1"/>
            <a:r>
              <a:rPr lang="en-US" dirty="0" smtClean="0"/>
              <a:t>Latency curves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348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 Level Static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Video heavy use cases</a:t>
            </a:r>
          </a:p>
          <a:p>
            <a:pPr lvl="1"/>
            <a:r>
              <a:rPr lang="en-US" dirty="0" smtClean="0"/>
              <a:t>Worst case: decode 4K@60fps 10bpp + WFD 1080p@60fps 4:4:4</a:t>
            </a:r>
          </a:p>
          <a:p>
            <a:r>
              <a:rPr lang="en-US" dirty="0" smtClean="0"/>
              <a:t>Source of BW variations</a:t>
            </a:r>
          </a:p>
          <a:p>
            <a:pPr lvl="1"/>
            <a:r>
              <a:rPr lang="en-US" dirty="0" smtClean="0"/>
              <a:t>Various content for decoder</a:t>
            </a:r>
          </a:p>
          <a:p>
            <a:pPr lvl="1"/>
            <a:r>
              <a:rPr lang="en-US" dirty="0" smtClean="0"/>
              <a:t>Start code search for decoder</a:t>
            </a:r>
          </a:p>
          <a:p>
            <a:pPr lvl="1"/>
            <a:r>
              <a:rPr lang="en-US" dirty="0" smtClean="0"/>
              <a:t>Reference read BW variations for encoder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54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Level Static Analysis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11560" y="2170555"/>
            <a:ext cx="817330" cy="506299"/>
          </a:xfrm>
          <a:prstGeom prst="rect">
            <a:avLst/>
          </a:prstGeom>
          <a:solidFill>
            <a:srgbClr val="C00000"/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cs typeface="Arial" charset="0"/>
              </a:rPr>
              <a:t>Video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b="1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Decode</a:t>
            </a:r>
            <a:endParaRPr kumimoji="0" lang="en-US" sz="9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3225963" y="2182936"/>
            <a:ext cx="676578" cy="486760"/>
          </a:xfrm>
          <a:prstGeom prst="rect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MDP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Rotate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1927753" y="2170555"/>
            <a:ext cx="817330" cy="506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Buffer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7" name="Straight Arrow Connector 6"/>
          <p:cNvCxnSpPr>
            <a:stCxn id="4" idx="3"/>
            <a:endCxn id="6" idx="1"/>
          </p:cNvCxnSpPr>
          <p:nvPr/>
        </p:nvCxnSpPr>
        <p:spPr>
          <a:xfrm>
            <a:off x="1428890" y="2423705"/>
            <a:ext cx="498863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lg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auto">
          <a:xfrm>
            <a:off x="5320250" y="2185204"/>
            <a:ext cx="817330" cy="1152151"/>
          </a:xfrm>
          <a:prstGeom prst="rect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MDP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1162793" y="2831056"/>
            <a:ext cx="817330" cy="506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Graphics Buffer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0" name="Straight Arrow Connector 9"/>
          <p:cNvCxnSpPr>
            <a:endCxn id="5" idx="1"/>
          </p:cNvCxnSpPr>
          <p:nvPr/>
        </p:nvCxnSpPr>
        <p:spPr>
          <a:xfrm>
            <a:off x="2745083" y="2423707"/>
            <a:ext cx="480880" cy="2609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lg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9" idx="3"/>
          </p:cNvCxnSpPr>
          <p:nvPr/>
        </p:nvCxnSpPr>
        <p:spPr>
          <a:xfrm flipV="1">
            <a:off x="1980123" y="3084205"/>
            <a:ext cx="3340127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lg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 bwMode="auto">
          <a:xfrm>
            <a:off x="6499761" y="3948175"/>
            <a:ext cx="817330" cy="506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Buffer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3" name="Straight Arrow Connector 12"/>
          <p:cNvCxnSpPr>
            <a:stCxn id="5" idx="3"/>
            <a:endCxn id="24" idx="1"/>
          </p:cNvCxnSpPr>
          <p:nvPr/>
        </p:nvCxnSpPr>
        <p:spPr>
          <a:xfrm>
            <a:off x="3902541" y="2426316"/>
            <a:ext cx="258017" cy="1007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lg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auto">
          <a:xfrm>
            <a:off x="3225963" y="4269434"/>
            <a:ext cx="676578" cy="486760"/>
          </a:xfrm>
          <a:prstGeom prst="rect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MDP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Rotate</a:t>
            </a:r>
          </a:p>
        </p:txBody>
      </p:sp>
      <p:cxnSp>
        <p:nvCxnSpPr>
          <p:cNvPr id="15" name="Elbow Connector 14"/>
          <p:cNvCxnSpPr>
            <a:endCxn id="14" idx="1"/>
          </p:cNvCxnSpPr>
          <p:nvPr/>
        </p:nvCxnSpPr>
        <p:spPr>
          <a:xfrm rot="16200000" flipH="1">
            <a:off x="2200199" y="3487049"/>
            <a:ext cx="1428609" cy="622920"/>
          </a:xfrm>
          <a:prstGeom prst="bentConnector2">
            <a:avLst/>
          </a:prstGeom>
          <a:ln w="19050">
            <a:solidFill>
              <a:schemeClr val="tx1"/>
            </a:solidFill>
            <a:headEnd type="none" w="lg" len="lg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>
            <a:off x="3002344" y="3337355"/>
            <a:ext cx="2317906" cy="504265"/>
          </a:xfrm>
          <a:prstGeom prst="bentConnector3">
            <a:avLst>
              <a:gd name="adj1" fmla="val -213"/>
            </a:avLst>
          </a:prstGeom>
          <a:ln w="19050">
            <a:solidFill>
              <a:schemeClr val="tx1"/>
            </a:solidFill>
            <a:headEnd type="none" w="lg" len="lg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6" idx="3"/>
          </p:cNvCxnSpPr>
          <p:nvPr/>
        </p:nvCxnSpPr>
        <p:spPr>
          <a:xfrm>
            <a:off x="2745083" y="2423705"/>
            <a:ext cx="257261" cy="913650"/>
          </a:xfrm>
          <a:prstGeom prst="bentConnector2">
            <a:avLst/>
          </a:prstGeom>
          <a:ln w="19050">
            <a:solidFill>
              <a:schemeClr val="tx1"/>
            </a:solidFill>
            <a:headEnd type="none" w="lg" len="lg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 bwMode="auto">
          <a:xfrm>
            <a:off x="5320250" y="3625250"/>
            <a:ext cx="817330" cy="1152151"/>
          </a:xfrm>
          <a:prstGeom prst="rect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MDP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Write back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3924224" y="4512814"/>
            <a:ext cx="2945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lg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3"/>
          </p:cNvCxnSpPr>
          <p:nvPr/>
        </p:nvCxnSpPr>
        <p:spPr>
          <a:xfrm flipV="1">
            <a:off x="6137580" y="2761279"/>
            <a:ext cx="362181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lg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8" idx="3"/>
          </p:cNvCxnSpPr>
          <p:nvPr/>
        </p:nvCxnSpPr>
        <p:spPr>
          <a:xfrm flipV="1">
            <a:off x="6137580" y="4201325"/>
            <a:ext cx="362181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lg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 bwMode="auto">
          <a:xfrm>
            <a:off x="7971372" y="3948174"/>
            <a:ext cx="817330" cy="506299"/>
          </a:xfrm>
          <a:prstGeom prst="rect">
            <a:avLst/>
          </a:prstGeom>
          <a:solidFill>
            <a:srgbClr val="C00000"/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cs typeface="Arial" charset="0"/>
              </a:rPr>
              <a:t>Video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b="1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Encode</a:t>
            </a:r>
            <a:endParaRPr kumimoji="0" lang="en-US" sz="9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3" name="Straight Arrow Connector 22"/>
          <p:cNvCxnSpPr>
            <a:stCxn id="12" idx="3"/>
            <a:endCxn id="22" idx="1"/>
          </p:cNvCxnSpPr>
          <p:nvPr/>
        </p:nvCxnSpPr>
        <p:spPr>
          <a:xfrm flipV="1">
            <a:off x="7317091" y="4201324"/>
            <a:ext cx="654281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lg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 bwMode="auto">
          <a:xfrm>
            <a:off x="4160558" y="2174173"/>
            <a:ext cx="817330" cy="506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Buffer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4171261" y="4249895"/>
            <a:ext cx="817330" cy="506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Buffer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5025712" y="4525036"/>
            <a:ext cx="2945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lg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977888" y="2427323"/>
            <a:ext cx="342362" cy="1007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lg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 bwMode="auto">
          <a:xfrm>
            <a:off x="611560" y="1444392"/>
            <a:ext cx="817330" cy="506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Display Picture Buffer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9" name="Straight Arrow Connector 28"/>
          <p:cNvCxnSpPr>
            <a:endCxn id="28" idx="2"/>
          </p:cNvCxnSpPr>
          <p:nvPr/>
        </p:nvCxnSpPr>
        <p:spPr>
          <a:xfrm flipV="1">
            <a:off x="1020225" y="1950691"/>
            <a:ext cx="0" cy="219864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ular Callout 29"/>
          <p:cNvSpPr/>
          <p:nvPr/>
        </p:nvSpPr>
        <p:spPr>
          <a:xfrm>
            <a:off x="1280450" y="957568"/>
            <a:ext cx="1736706" cy="486888"/>
          </a:xfrm>
          <a:prstGeom prst="wedgeRectCallout">
            <a:avLst>
              <a:gd name="adj1" fmla="val -49251"/>
              <a:gd name="adj2" fmla="val 124741"/>
            </a:avLst>
          </a:prstGeom>
          <a:solidFill>
            <a:srgbClr val="000000">
              <a:alpha val="0"/>
            </a:srgbClr>
          </a:solidFill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dirty="0" smtClean="0">
                <a:solidFill>
                  <a:srgbClr val="C00000"/>
                </a:solidFill>
              </a:rPr>
              <a:t>4096x2160p60 4:2:0 8bpc</a:t>
            </a:r>
          </a:p>
          <a:p>
            <a:pPr algn="ctr"/>
            <a:r>
              <a:rPr lang="en-US" sz="1100" b="1" dirty="0" smtClean="0">
                <a:solidFill>
                  <a:srgbClr val="C00000"/>
                </a:solidFill>
              </a:rPr>
              <a:t>Compressed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9761" y="2483195"/>
            <a:ext cx="960955" cy="539836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25000"/>
              </a:schemeClr>
            </a:solidFill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dirty="0" smtClean="0">
                <a:solidFill>
                  <a:srgbClr val="C00000"/>
                </a:solidFill>
              </a:rPr>
              <a:t>Main Panel</a:t>
            </a:r>
          </a:p>
        </p:txBody>
      </p:sp>
      <p:sp>
        <p:nvSpPr>
          <p:cNvPr id="32" name="Rectangular Callout 31"/>
          <p:cNvSpPr/>
          <p:nvPr/>
        </p:nvSpPr>
        <p:spPr>
          <a:xfrm>
            <a:off x="2599349" y="1573130"/>
            <a:ext cx="1736706" cy="377561"/>
          </a:xfrm>
          <a:prstGeom prst="wedgeRectCallout">
            <a:avLst>
              <a:gd name="adj1" fmla="val -49251"/>
              <a:gd name="adj2" fmla="val 124741"/>
            </a:avLst>
          </a:prstGeom>
          <a:solidFill>
            <a:srgbClr val="000000">
              <a:alpha val="0"/>
            </a:srgbClr>
          </a:solidFill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dirty="0" smtClean="0">
                <a:solidFill>
                  <a:srgbClr val="C00000"/>
                </a:solidFill>
              </a:rPr>
              <a:t>4096x2160p60 4:2:0 8bpc</a:t>
            </a:r>
          </a:p>
        </p:txBody>
      </p:sp>
      <p:sp>
        <p:nvSpPr>
          <p:cNvPr id="33" name="Rectangular Callout 32"/>
          <p:cNvSpPr/>
          <p:nvPr/>
        </p:nvSpPr>
        <p:spPr>
          <a:xfrm>
            <a:off x="676462" y="3958931"/>
            <a:ext cx="1736706" cy="334364"/>
          </a:xfrm>
          <a:prstGeom prst="wedgeRectCallout">
            <a:avLst>
              <a:gd name="adj1" fmla="val -4430"/>
              <a:gd name="adj2" fmla="val -249999"/>
            </a:avLst>
          </a:prstGeom>
          <a:solidFill>
            <a:srgbClr val="000000">
              <a:alpha val="0"/>
            </a:srgbClr>
          </a:solidFill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dirty="0" smtClean="0">
                <a:solidFill>
                  <a:srgbClr val="C00000"/>
                </a:solidFill>
              </a:rPr>
              <a:t>MPR @ 60FPS ARGB32</a:t>
            </a:r>
          </a:p>
        </p:txBody>
      </p:sp>
      <p:sp>
        <p:nvSpPr>
          <p:cNvPr id="35" name="Rectangular Callout 34"/>
          <p:cNvSpPr/>
          <p:nvPr/>
        </p:nvSpPr>
        <p:spPr>
          <a:xfrm>
            <a:off x="4775132" y="1565276"/>
            <a:ext cx="1736706" cy="377561"/>
          </a:xfrm>
          <a:prstGeom prst="wedgeRectCallout">
            <a:avLst>
              <a:gd name="adj1" fmla="val -49251"/>
              <a:gd name="adj2" fmla="val 124741"/>
            </a:avLst>
          </a:prstGeom>
          <a:solidFill>
            <a:srgbClr val="000000">
              <a:alpha val="0"/>
            </a:srgbClr>
          </a:solidFill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dirty="0" smtClean="0">
                <a:solidFill>
                  <a:srgbClr val="C00000"/>
                </a:solidFill>
              </a:rPr>
              <a:t>4096x2160p60 4:2:0 8bpc</a:t>
            </a:r>
          </a:p>
        </p:txBody>
      </p:sp>
      <p:sp>
        <p:nvSpPr>
          <p:cNvPr id="36" name="Rectangular Callout 35"/>
          <p:cNvSpPr/>
          <p:nvPr/>
        </p:nvSpPr>
        <p:spPr>
          <a:xfrm>
            <a:off x="6800618" y="4536739"/>
            <a:ext cx="1579419" cy="486888"/>
          </a:xfrm>
          <a:prstGeom prst="wedgeRectCallout">
            <a:avLst>
              <a:gd name="adj1" fmla="val -43851"/>
              <a:gd name="adj2" fmla="val -75259"/>
            </a:avLst>
          </a:prstGeom>
          <a:solidFill>
            <a:srgbClr val="000000">
              <a:alpha val="0"/>
            </a:srgbClr>
          </a:solidFill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dirty="0" smtClean="0">
                <a:solidFill>
                  <a:srgbClr val="C00000"/>
                </a:solidFill>
              </a:rPr>
              <a:t>1080p60 4:2:0 8bpc</a:t>
            </a:r>
          </a:p>
          <a:p>
            <a:pPr algn="ctr"/>
            <a:r>
              <a:rPr lang="en-US" sz="1100" b="1" dirty="0" smtClean="0">
                <a:solidFill>
                  <a:srgbClr val="C00000"/>
                </a:solidFill>
              </a:rPr>
              <a:t>Compressed</a:t>
            </a:r>
          </a:p>
        </p:txBody>
      </p:sp>
    </p:spTree>
    <p:extLst>
      <p:ext uri="{BB962C8B-B14F-4D97-AF65-F5344CB8AC3E}">
        <p14:creationId xmlns:p14="http://schemas.microsoft.com/office/powerpoint/2010/main" val="395274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Latency Tolerance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9756006"/>
              </p:ext>
            </p:extLst>
          </p:nvPr>
        </p:nvGraphicFramePr>
        <p:xfrm>
          <a:off x="467544" y="987574"/>
          <a:ext cx="804487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41346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Variations</a:t>
            </a:r>
            <a:endParaRPr lang="en-US" dirty="0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226346931"/>
              </p:ext>
            </p:extLst>
          </p:nvPr>
        </p:nvGraphicFramePr>
        <p:xfrm>
          <a:off x="1403648" y="987574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6883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QoS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998846"/>
            <a:ext cx="6408712" cy="409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54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15816" y="2067694"/>
            <a:ext cx="3312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endParaRPr lang="en-US" sz="4000" b="1" dirty="0">
              <a:solidFill>
                <a:schemeClr val="accent5">
                  <a:lumMod val="50000"/>
                </a:schemeClr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0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CPU Encode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1275606"/>
            <a:ext cx="5589588" cy="343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23600" y="1275606"/>
            <a:ext cx="2448272" cy="2005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 fontAlgn="auto" latinLnBrk="0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  <a:buClr>
                <a:srgbClr val="911C1F"/>
              </a:buClr>
              <a:buFont typeface="+mj-lt"/>
              <a:buAutoNum type="arabicPeriod"/>
              <a:defRPr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4K@30 encoding with A53 alone</a:t>
            </a:r>
          </a:p>
          <a:p>
            <a:pPr marL="342900" lvl="1" indent="-342900" fontAlgn="auto" latinLnBrk="0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  <a:buClr>
                <a:srgbClr val="911C1F"/>
              </a:buClr>
              <a:buFont typeface="+mj-lt"/>
              <a:buAutoNum type="arabicPeriod"/>
              <a:defRPr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4xA53, 95%@941MHz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 fontAlgn="auto" latinLnBrk="0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  <a:buClr>
                <a:srgbClr val="911C1F"/>
              </a:buClr>
              <a:buFont typeface="+mj-lt"/>
              <a:buAutoNum type="arabicPeriod"/>
              <a:defRPr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Average battery power 9.3W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59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CPU Encode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203598"/>
            <a:ext cx="5809071" cy="342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41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Frame Complexity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2362432"/>
              </p:ext>
            </p:extLst>
          </p:nvPr>
        </p:nvGraphicFramePr>
        <p:xfrm>
          <a:off x="228600" y="990600"/>
          <a:ext cx="7162800" cy="3405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1066800" y="3228975"/>
            <a:ext cx="6248400" cy="0"/>
          </a:xfrm>
          <a:prstGeom prst="line">
            <a:avLst/>
          </a:prstGeom>
          <a:ln w="19050">
            <a:solidFill>
              <a:srgbClr val="FF0000"/>
            </a:solidFill>
            <a:headEnd type="none" w="lg" len="lg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Up-Down Arrow 5"/>
          <p:cNvSpPr/>
          <p:nvPr/>
        </p:nvSpPr>
        <p:spPr>
          <a:xfrm>
            <a:off x="7343100" y="3219450"/>
            <a:ext cx="152400" cy="819150"/>
          </a:xfrm>
          <a:prstGeom prst="upDownArrow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Up-Down Arrow 6"/>
          <p:cNvSpPr/>
          <p:nvPr/>
        </p:nvSpPr>
        <p:spPr>
          <a:xfrm>
            <a:off x="7343100" y="2202287"/>
            <a:ext cx="152400" cy="1026688"/>
          </a:xfrm>
          <a:prstGeom prst="upDownArrow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p-Down Arrow 7"/>
          <p:cNvSpPr/>
          <p:nvPr/>
        </p:nvSpPr>
        <p:spPr>
          <a:xfrm>
            <a:off x="7329150" y="1752600"/>
            <a:ext cx="152400" cy="449687"/>
          </a:xfrm>
          <a:prstGeom prst="upDownArrow">
            <a:avLst/>
          </a:prstGeom>
          <a:solidFill>
            <a:srgbClr val="9537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454283" y="3507854"/>
            <a:ext cx="636234" cy="3048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000" b="1" dirty="0" err="1" smtClean="0"/>
              <a:t>V</a:t>
            </a:r>
            <a:r>
              <a:rPr lang="en-US" sz="1000" b="1" baseline="-25000" dirty="0" err="1" smtClean="0"/>
              <a:t>high</a:t>
            </a:r>
            <a:endParaRPr lang="en-US" sz="1000" b="1" baseline="-250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7472025" y="2563231"/>
            <a:ext cx="988407" cy="3048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000" b="1" dirty="0" err="1" smtClean="0"/>
              <a:t>V</a:t>
            </a:r>
            <a:r>
              <a:rPr lang="en-US" sz="1000" b="1" baseline="-25000" dirty="0" err="1" smtClean="0"/>
              <a:t>mid</a:t>
            </a:r>
            <a:endParaRPr lang="en-US" sz="1000" b="1" baseline="-250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7454283" y="1828800"/>
            <a:ext cx="730193" cy="3048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000" b="1" dirty="0" err="1" smtClean="0"/>
              <a:t>V</a:t>
            </a:r>
            <a:r>
              <a:rPr lang="en-US" sz="1000" b="1" baseline="-25000" dirty="0" err="1" smtClean="0"/>
              <a:t>low</a:t>
            </a:r>
            <a:endParaRPr lang="en-US" sz="1000" b="1" baseline="-25000" dirty="0" smtClean="0"/>
          </a:p>
        </p:txBody>
      </p:sp>
      <p:sp>
        <p:nvSpPr>
          <p:cNvPr id="13" name="Oval 12"/>
          <p:cNvSpPr/>
          <p:nvPr/>
        </p:nvSpPr>
        <p:spPr>
          <a:xfrm>
            <a:off x="5438899" y="2868032"/>
            <a:ext cx="1904201" cy="10508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627467" y="4144489"/>
            <a:ext cx="2516533" cy="57001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400" dirty="0" smtClean="0"/>
              <a:t>Example where per frame </a:t>
            </a:r>
          </a:p>
          <a:p>
            <a:r>
              <a:rPr lang="en-US" sz="1400" dirty="0" smtClean="0"/>
              <a:t>complexity varies significantly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270171" y="3918858"/>
            <a:ext cx="357297" cy="391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lg" len="lg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482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DCVS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9582"/>
            <a:ext cx="9159134" cy="387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3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HW Competitive Analysis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8284726"/>
              </p:ext>
            </p:extLst>
          </p:nvPr>
        </p:nvGraphicFramePr>
        <p:xfrm>
          <a:off x="121258" y="976164"/>
          <a:ext cx="3645726" cy="1944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ontent Placeholder 3"/>
          <p:cNvSpPr txBox="1">
            <a:spLocks/>
          </p:cNvSpPr>
          <p:nvPr/>
        </p:nvSpPr>
        <p:spPr>
          <a:xfrm>
            <a:off x="4067944" y="1408032"/>
            <a:ext cx="4536126" cy="2675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Wingdings" pitchFamily="2" charset="2"/>
              <a:buChar char="§"/>
              <a:defRPr lang="en-US" sz="1800" kern="1200">
                <a:solidFill>
                  <a:srgbClr val="33333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01638" indent="-17303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itchFamily="2" charset="2"/>
              <a:buChar char="§"/>
              <a:defRPr lang="en-US" sz="1600" kern="1200">
                <a:solidFill>
                  <a:srgbClr val="33333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630238" indent="-17303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tx2"/>
              </a:buClr>
              <a:buFont typeface="Wingdings" pitchFamily="2" charset="2"/>
              <a:buChar char="§"/>
              <a:defRPr lang="en-US" sz="1400" kern="1200">
                <a:solidFill>
                  <a:srgbClr val="33333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58838" indent="-17303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Lucida Grande"/>
              <a:buChar char="»"/>
              <a:defRPr lang="en-US" sz="1400" kern="1200">
                <a:solidFill>
                  <a:srgbClr val="33333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087438" indent="-17303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tx2"/>
              </a:buClr>
              <a:buFont typeface="Wingdings" pitchFamily="2" charset="2"/>
              <a:buChar char="§"/>
              <a:defRPr lang="en-US" sz="1400" kern="1200">
                <a:solidFill>
                  <a:srgbClr val="33333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smtClean="0"/>
              <a:t>    4k@30fps video playback capability</a:t>
            </a:r>
          </a:p>
          <a:p>
            <a:pPr lvl="1"/>
            <a:r>
              <a:rPr lang="en-US" sz="1200" dirty="0" smtClean="0"/>
              <a:t>iPhone5s does not truly support 4k30</a:t>
            </a:r>
          </a:p>
          <a:p>
            <a:pPr lvl="2"/>
            <a:endParaRPr lang="en-US" sz="1000" dirty="0" smtClean="0"/>
          </a:p>
          <a:p>
            <a:pPr lvl="1"/>
            <a:endParaRPr lang="en-US" sz="1200" dirty="0" smtClean="0"/>
          </a:p>
          <a:p>
            <a:pPr lvl="1"/>
            <a:endParaRPr lang="en-US" sz="1200" dirty="0" smtClean="0"/>
          </a:p>
          <a:p>
            <a:pPr lvl="1"/>
            <a:endParaRPr lang="en-US" sz="1200" dirty="0" smtClean="0"/>
          </a:p>
          <a:p>
            <a:pPr lvl="1"/>
            <a:endParaRPr lang="en-US" sz="1200" dirty="0" smtClean="0"/>
          </a:p>
          <a:p>
            <a:pPr lvl="1"/>
            <a:endParaRPr lang="en-US" sz="1200" dirty="0" smtClean="0"/>
          </a:p>
          <a:p>
            <a:pPr lvl="1"/>
            <a:endParaRPr lang="en-US" sz="1200" dirty="0" smtClean="0"/>
          </a:p>
          <a:p>
            <a:pPr lvl="1"/>
            <a:endParaRPr lang="en-US" sz="1200" dirty="0" smtClean="0"/>
          </a:p>
          <a:p>
            <a:pPr lvl="1"/>
            <a:endParaRPr lang="en-US" sz="1200" dirty="0" smtClean="0"/>
          </a:p>
          <a:p>
            <a:pPr lvl="1"/>
            <a:r>
              <a:rPr lang="en-US" sz="1200" dirty="0" smtClean="0"/>
              <a:t>Exynos 5420 does not support 4K </a:t>
            </a:r>
            <a:endParaRPr lang="en-US" sz="1400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33441"/>
              </p:ext>
            </p:extLst>
          </p:nvPr>
        </p:nvGraphicFramePr>
        <p:xfrm>
          <a:off x="4559083" y="1981011"/>
          <a:ext cx="3829340" cy="1632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060"/>
                <a:gridCol w="1395726"/>
                <a:gridCol w="880381"/>
                <a:gridCol w="848173"/>
              </a:tblGrid>
              <a:tr h="4297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Profile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Complexity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 smtClean="0">
                          <a:effectLst/>
                        </a:rPr>
                        <a:t>iPhone5s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 smtClean="0">
                          <a:effectLst/>
                        </a:rPr>
                        <a:t>Qualcomm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240512">
                <a:tc rowSpan="3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Baseline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 smtClean="0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ü</a:t>
                      </a:r>
                      <a:endParaRPr lang="en-US" sz="1200" b="0" i="0" u="none" strike="noStrike" dirty="0" smtClean="0">
                        <a:solidFill>
                          <a:srgbClr val="00B05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 smtClean="0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ü</a:t>
                      </a:r>
                      <a:endParaRPr lang="en-US" sz="1200" b="0" i="0" u="none" strike="noStrike" dirty="0" smtClean="0">
                        <a:solidFill>
                          <a:srgbClr val="00B05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/>
                </a:tc>
              </a:tr>
              <a:tr h="240512">
                <a:tc vMerge="1"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 smtClean="0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ü</a:t>
                      </a:r>
                      <a:endParaRPr lang="en-US" sz="1200" b="0" i="0" u="none" strike="noStrike" dirty="0" smtClean="0">
                        <a:solidFill>
                          <a:srgbClr val="00B05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/>
                </a:tc>
              </a:tr>
              <a:tr h="240512">
                <a:tc vMerge="1"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 smtClean="0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ü</a:t>
                      </a:r>
                      <a:endParaRPr lang="en-US" sz="1200" b="0" i="0" u="none" strike="noStrike" dirty="0" smtClean="0">
                        <a:solidFill>
                          <a:srgbClr val="00B05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/>
                </a:tc>
              </a:tr>
              <a:tr h="240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Main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Low/Medium/High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 smtClean="0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ü</a:t>
                      </a:r>
                      <a:endParaRPr lang="en-US" sz="1200" b="0" i="0" u="none" strike="noStrike" dirty="0" smtClean="0">
                        <a:solidFill>
                          <a:srgbClr val="00B05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/>
                </a:tc>
              </a:tr>
              <a:tr h="240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Low/Medium/High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  <a:endParaRPr lang="en-US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 smtClean="0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ü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Down Arrow 7"/>
          <p:cNvSpPr/>
          <p:nvPr/>
        </p:nvSpPr>
        <p:spPr bwMode="auto">
          <a:xfrm>
            <a:off x="4153052" y="2680450"/>
            <a:ext cx="152345" cy="743806"/>
          </a:xfrm>
          <a:prstGeom prst="downArrow">
            <a:avLst/>
          </a:prstGeom>
          <a:gradFill flip="none" rotWithShape="1">
            <a:gsLst>
              <a:gs pos="0">
                <a:srgbClr val="FF0000"/>
              </a:gs>
              <a:gs pos="64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79912" y="2211710"/>
            <a:ext cx="8515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Decoding </a:t>
            </a:r>
          </a:p>
          <a:p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complexity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5" name="Char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4696651"/>
              </p:ext>
            </p:extLst>
          </p:nvPr>
        </p:nvGraphicFramePr>
        <p:xfrm>
          <a:off x="0" y="3003798"/>
          <a:ext cx="3645726" cy="1944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9983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Reduction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1966860"/>
              </p:ext>
            </p:extLst>
          </p:nvPr>
        </p:nvGraphicFramePr>
        <p:xfrm>
          <a:off x="2195736" y="987574"/>
          <a:ext cx="4292390" cy="3685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59832" y="3113622"/>
            <a:ext cx="1440160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 latinLnBrk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00" b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51mA due to design, process change</a:t>
            </a:r>
          </a:p>
          <a:p>
            <a:pPr defTabSz="685800" fontAlgn="auto" latinLnBrk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00" b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35mA due to BW compression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105210" y="2175316"/>
            <a:ext cx="6471" cy="859365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143C66"/>
                </a:gs>
                <a:gs pos="100000">
                  <a:srgbClr val="008080"/>
                </a:gs>
              </a:gsLst>
              <a:lin ang="0" scaled="1"/>
              <a:tileRect/>
            </a:gra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 rot="16200000">
            <a:off x="2664831" y="2512126"/>
            <a:ext cx="62869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200" b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86 mA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3138311" y="3071075"/>
            <a:ext cx="1721721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00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4K Downscaling</a:t>
            </a:r>
            <a:endParaRPr lang="en-US" dirty="0"/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1040703593"/>
              </p:ext>
            </p:extLst>
          </p:nvPr>
        </p:nvGraphicFramePr>
        <p:xfrm>
          <a:off x="539552" y="1205364"/>
          <a:ext cx="4416152" cy="3184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43608" y="4361369"/>
            <a:ext cx="3240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Bandwidth saving from 4K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downscaler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 rot="16200000">
            <a:off x="94438" y="2214195"/>
            <a:ext cx="6219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MB/s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59632" y="1203598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2355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83768" y="2397408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1124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07904" y="1841089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1700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ight Arrow 14"/>
          <p:cNvSpPr/>
          <p:nvPr/>
        </p:nvSpPr>
        <p:spPr>
          <a:xfrm rot="3459390">
            <a:off x="1998049" y="1836190"/>
            <a:ext cx="826675" cy="329714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5056310" y="1131590"/>
            <a:ext cx="3630489" cy="2952328"/>
          </a:xfrm>
        </p:spPr>
        <p:txBody>
          <a:bodyPr>
            <a:normAutofit/>
          </a:bodyPr>
          <a:lstStyle/>
          <a:p>
            <a:pPr latinLnBrk="0"/>
            <a:r>
              <a:rPr lang="en-US" sz="1900" dirty="0" smtClean="0"/>
              <a:t>Motivation: </a:t>
            </a:r>
            <a:r>
              <a:rPr lang="en-US" sz="1900" dirty="0" err="1" smtClean="0"/>
              <a:t>downscaler</a:t>
            </a:r>
            <a:r>
              <a:rPr lang="en-US" sz="1900" dirty="0" smtClean="0"/>
              <a:t> saves both BW and power</a:t>
            </a:r>
          </a:p>
          <a:p>
            <a:pPr lvl="1" latinLnBrk="0"/>
            <a:r>
              <a:rPr lang="en-US" sz="1400" dirty="0" smtClean="0"/>
              <a:t>52% reduction in bandwidth if the 4K output is (inline) downscaled to 1080p</a:t>
            </a:r>
          </a:p>
          <a:p>
            <a:pPr lvl="1" latinLnBrk="0"/>
            <a:r>
              <a:rPr lang="en-US" sz="1400" dirty="0" smtClean="0"/>
              <a:t>With this optimization, Q beats A by 51%</a:t>
            </a:r>
          </a:p>
          <a:p>
            <a:pPr lvl="1" latinLnBrk="0"/>
            <a:r>
              <a:rPr lang="en-US" sz="1400" dirty="0" smtClean="0"/>
              <a:t>Reduction in bandwidth directly contributes to an overall power saving of ~26% for the 4K decode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71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4K DCVS + Downscaling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76" y="1059582"/>
            <a:ext cx="6862092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53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15816" y="2067694"/>
            <a:ext cx="3312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  <a:endParaRPr lang="en-US" sz="4000" b="1" dirty="0">
              <a:solidFill>
                <a:schemeClr val="accent5">
                  <a:lumMod val="50000"/>
                </a:schemeClr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75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9582"/>
            <a:ext cx="8229600" cy="396044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Separate vs. merged encoder &amp; decoder</a:t>
            </a:r>
          </a:p>
          <a:p>
            <a:pPr lvl="1"/>
            <a:r>
              <a:rPr lang="en-US" dirty="0" smtClean="0"/>
              <a:t>High tier: separate for performance and power collapse</a:t>
            </a:r>
          </a:p>
          <a:p>
            <a:pPr lvl="1"/>
            <a:r>
              <a:rPr lang="en-US" dirty="0" smtClean="0"/>
              <a:t>Mid/low tier: merged for area</a:t>
            </a:r>
          </a:p>
          <a:p>
            <a:r>
              <a:rPr lang="en-US" dirty="0" smtClean="0"/>
              <a:t>Memory scalability</a:t>
            </a:r>
          </a:p>
          <a:p>
            <a:pPr lvl="1"/>
            <a:r>
              <a:rPr lang="en-US" dirty="0" smtClean="0"/>
              <a:t>L1, L2, L3 cache size</a:t>
            </a:r>
          </a:p>
          <a:p>
            <a:pPr lvl="1"/>
            <a:r>
              <a:rPr lang="en-US" dirty="0" smtClean="0"/>
              <a:t>On-chip memory size</a:t>
            </a:r>
          </a:p>
          <a:p>
            <a:r>
              <a:rPr lang="en-US" dirty="0" err="1" smtClean="0"/>
              <a:t>Datapath</a:t>
            </a:r>
            <a:r>
              <a:rPr lang="en-US" dirty="0" smtClean="0"/>
              <a:t> scalability</a:t>
            </a:r>
          </a:p>
          <a:p>
            <a:pPr lvl="1"/>
            <a:r>
              <a:rPr lang="en-US" dirty="0" smtClean="0"/>
              <a:t>Multiple transform engine</a:t>
            </a:r>
          </a:p>
          <a:p>
            <a:pPr lvl="1"/>
            <a:r>
              <a:rPr lang="en-US" dirty="0" smtClean="0"/>
              <a:t>Pixel-level parallelism</a:t>
            </a:r>
          </a:p>
          <a:p>
            <a:r>
              <a:rPr lang="en-US" dirty="0" smtClean="0"/>
              <a:t>Multi-pipe scalability</a:t>
            </a:r>
          </a:p>
          <a:p>
            <a:pPr lvl="1"/>
            <a:r>
              <a:rPr lang="en-US" dirty="0" smtClean="0"/>
              <a:t>4K 60fps and beyond</a:t>
            </a:r>
          </a:p>
          <a:p>
            <a:pPr lvl="1"/>
            <a:r>
              <a:rPr lang="en-US" dirty="0" smtClean="0"/>
              <a:t>VSP: multiple engines for consecutive slices/frames, HEVC WPP </a:t>
            </a:r>
          </a:p>
          <a:p>
            <a:pPr lvl="1"/>
            <a:r>
              <a:rPr lang="en-US" dirty="0" smtClean="0"/>
              <a:t>VPP: multiple engines for LCU rows (staggered by 2 MBs)</a:t>
            </a:r>
          </a:p>
          <a:p>
            <a:r>
              <a:rPr lang="en-US" dirty="0" smtClean="0"/>
              <a:t>Bitrate scalability</a:t>
            </a:r>
          </a:p>
          <a:p>
            <a:pPr lvl="1"/>
            <a:r>
              <a:rPr lang="en-US" dirty="0" smtClean="0"/>
              <a:t>Multiple CABAC engines for bitrate &gt; 400Mbps</a:t>
            </a:r>
          </a:p>
          <a:p>
            <a:r>
              <a:rPr lang="en-US" dirty="0" smtClean="0"/>
              <a:t>Hybrid solution</a:t>
            </a:r>
          </a:p>
          <a:p>
            <a:pPr lvl="1"/>
            <a:r>
              <a:rPr lang="en-US" dirty="0" smtClean="0"/>
              <a:t>VSP in SW, VPP in HW</a:t>
            </a:r>
          </a:p>
          <a:p>
            <a:pPr lvl="1"/>
            <a:r>
              <a:rPr lang="en-US" dirty="0" smtClean="0"/>
              <a:t>MEC in HW, rest in SW,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00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15816" y="2067694"/>
            <a:ext cx="5472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Error Concealment</a:t>
            </a:r>
            <a:endParaRPr lang="en-US" sz="4000" b="1" dirty="0">
              <a:solidFill>
                <a:schemeClr val="accent5">
                  <a:lumMod val="50000"/>
                </a:schemeClr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39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Concealment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Error can be detected in following modules</a:t>
            </a:r>
          </a:p>
          <a:p>
            <a:pPr lvl="1"/>
            <a:r>
              <a:rPr lang="en-US" dirty="0" smtClean="0"/>
              <a:t>FW</a:t>
            </a:r>
          </a:p>
          <a:p>
            <a:pPr lvl="1"/>
            <a:r>
              <a:rPr lang="en-US" dirty="0" smtClean="0"/>
              <a:t>CCE</a:t>
            </a:r>
          </a:p>
          <a:p>
            <a:pPr lvl="1"/>
            <a:r>
              <a:rPr lang="en-US" dirty="0" smtClean="0"/>
              <a:t>SDE</a:t>
            </a:r>
          </a:p>
          <a:p>
            <a:pPr lvl="1"/>
            <a:r>
              <a:rPr lang="en-US" dirty="0" smtClean="0"/>
              <a:t>SE</a:t>
            </a:r>
          </a:p>
          <a:p>
            <a:r>
              <a:rPr lang="en-US" dirty="0" smtClean="0"/>
              <a:t>Error detection in FW involves</a:t>
            </a:r>
          </a:p>
          <a:p>
            <a:pPr lvl="1"/>
            <a:r>
              <a:rPr lang="en-US" dirty="0" smtClean="0"/>
              <a:t>Range checking of SPS/PPS and slice header data</a:t>
            </a:r>
          </a:p>
          <a:p>
            <a:pPr lvl="1"/>
            <a:r>
              <a:rPr lang="en-US" dirty="0" smtClean="0"/>
              <a:t>Checking for lost NAL units</a:t>
            </a:r>
          </a:p>
          <a:p>
            <a:pPr lvl="1"/>
            <a:r>
              <a:rPr lang="en-US" dirty="0" smtClean="0"/>
              <a:t>Watch-dog timer in case of HW hangs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08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Scenarios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083543"/>
            <a:ext cx="4802547" cy="4059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779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Concealment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78" y="1000359"/>
            <a:ext cx="8044870" cy="341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685079" y="4458883"/>
            <a:ext cx="5686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Merge Mode concealment vs.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Colocated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concealment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3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15816" y="2067694"/>
            <a:ext cx="55446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Value Added Features</a:t>
            </a:r>
            <a:endParaRPr lang="en-US" sz="4000" b="1" dirty="0">
              <a:solidFill>
                <a:schemeClr val="accent5">
                  <a:lumMod val="50000"/>
                </a:schemeClr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73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Added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Video stats for scene analysis</a:t>
            </a:r>
          </a:p>
          <a:p>
            <a:pPr lvl="1"/>
            <a:r>
              <a:rPr lang="en-US" dirty="0" smtClean="0"/>
              <a:t>[HW] Motion estimation, block texture, frame disparity, etc. </a:t>
            </a:r>
          </a:p>
          <a:p>
            <a:pPr lvl="1"/>
            <a:r>
              <a:rPr lang="en-US" dirty="0" smtClean="0"/>
              <a:t>[SW] Post processing</a:t>
            </a:r>
          </a:p>
          <a:p>
            <a:pPr lvl="1"/>
            <a:r>
              <a:rPr lang="en-US" dirty="0" smtClean="0"/>
              <a:t>[App] Scene change detection, object tracking, video analysis</a:t>
            </a:r>
          </a:p>
          <a:p>
            <a:r>
              <a:rPr lang="en-US" dirty="0" smtClean="0"/>
              <a:t>Electronic Image Stabilization (EIS)</a:t>
            </a:r>
          </a:p>
          <a:p>
            <a:pPr lvl="1"/>
            <a:r>
              <a:rPr lang="en-US" dirty="0" smtClean="0"/>
              <a:t>Correct camera shake</a:t>
            </a:r>
          </a:p>
          <a:p>
            <a:pPr lvl="1"/>
            <a:r>
              <a:rPr lang="en-US" dirty="0" smtClean="0"/>
              <a:t>Compensate rolling shutter effect</a:t>
            </a:r>
          </a:p>
          <a:p>
            <a:r>
              <a:rPr lang="en-US" dirty="0" smtClean="0"/>
              <a:t>Video </a:t>
            </a:r>
            <a:r>
              <a:rPr lang="en-US" dirty="0"/>
              <a:t>over modem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4090859"/>
            <a:ext cx="3498160" cy="9809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591" y="2970179"/>
            <a:ext cx="4433601" cy="212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56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15816" y="2067694"/>
            <a:ext cx="3312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endParaRPr lang="en-US" sz="4000" b="1" dirty="0">
              <a:solidFill>
                <a:schemeClr val="accent5">
                  <a:lumMod val="50000"/>
                </a:schemeClr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17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- H.266/NGVC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59582"/>
            <a:ext cx="8136904" cy="368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4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- Screen Content Coding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9582"/>
            <a:ext cx="8229600" cy="1800199"/>
          </a:xfrm>
        </p:spPr>
        <p:txBody>
          <a:bodyPr>
            <a:normAutofit/>
          </a:bodyPr>
          <a:lstStyle/>
          <a:p>
            <a:r>
              <a:rPr lang="en-US" dirty="0" smtClean="0"/>
              <a:t>HEVC extension (started April 2014)</a:t>
            </a:r>
          </a:p>
          <a:p>
            <a:pPr lvl="1"/>
            <a:r>
              <a:rPr lang="en-US" dirty="0" smtClean="0"/>
              <a:t>Synthetic (graphics &amp; text)</a:t>
            </a:r>
          </a:p>
          <a:p>
            <a:pPr lvl="1"/>
            <a:r>
              <a:rPr lang="en-US" dirty="0" smtClean="0"/>
              <a:t>Intra block copying, palette mode, etc.</a:t>
            </a:r>
          </a:p>
          <a:p>
            <a:pPr lvl="1"/>
            <a:r>
              <a:rPr lang="en-US" dirty="0" smtClean="0"/>
              <a:t>Average improvement ~ 50%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887761"/>
            <a:ext cx="6810452" cy="206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99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19872" y="2211710"/>
            <a:ext cx="3672408" cy="857250"/>
          </a:xfrm>
        </p:spPr>
        <p:txBody>
          <a:bodyPr/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Thank you!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13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19872" y="2211710"/>
            <a:ext cx="4176464" cy="85725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Backup slides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84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Team Organization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90831906"/>
              </p:ext>
            </p:extLst>
          </p:nvPr>
        </p:nvGraphicFramePr>
        <p:xfrm>
          <a:off x="1187624" y="987574"/>
          <a:ext cx="6984776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616" y="3147814"/>
            <a:ext cx="165618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Usecase</a:t>
            </a: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analysis</a:t>
            </a:r>
          </a:p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Algo</a:t>
            </a: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development</a:t>
            </a:r>
          </a:p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Test vector generation</a:t>
            </a:r>
          </a:p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System modeling</a:t>
            </a:r>
          </a:p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Performance modeling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Power modeling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15816" y="3147814"/>
            <a:ext cx="16561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Microarchitecture</a:t>
            </a:r>
          </a:p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RTL</a:t>
            </a:r>
          </a:p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HW emulation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36601" y="3147814"/>
            <a:ext cx="16561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UVM framework</a:t>
            </a:r>
          </a:p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Functional verification</a:t>
            </a:r>
          </a:p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Coverage</a:t>
            </a:r>
          </a:p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Virtual platform</a:t>
            </a:r>
          </a:p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HW emulation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1093" y="3147814"/>
            <a:ext cx="16561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Software for playback, telephony, streaming, etc.</a:t>
            </a:r>
          </a:p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Various drivers</a:t>
            </a:r>
          </a:p>
          <a:p>
            <a:pPr marL="171450" indent="-171450" latinLnBrk="0">
              <a:buFont typeface="Wingdings" panose="05000000000000000000" pitchFamily="2" charset="2"/>
              <a:buChar char="q"/>
            </a:pPr>
            <a:r>
              <a:rPr lang="en-US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Usecase</a:t>
            </a: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analysis</a:t>
            </a:r>
          </a:p>
        </p:txBody>
      </p:sp>
    </p:spTree>
    <p:extLst>
      <p:ext uri="{BB962C8B-B14F-4D97-AF65-F5344CB8AC3E}">
        <p14:creationId xmlns:p14="http://schemas.microsoft.com/office/powerpoint/2010/main" val="296238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3478"/>
            <a:ext cx="7848872" cy="492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8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Playback Power Analysis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9024024"/>
              </p:ext>
            </p:extLst>
          </p:nvPr>
        </p:nvGraphicFramePr>
        <p:xfrm>
          <a:off x="3406" y="1242756"/>
          <a:ext cx="5060712" cy="3338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1598853"/>
              </p:ext>
            </p:extLst>
          </p:nvPr>
        </p:nvGraphicFramePr>
        <p:xfrm>
          <a:off x="4970605" y="1245169"/>
          <a:ext cx="3967705" cy="3338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Picture 2" descr="https://encrypted-tbn2.gstatic.com/images?q=tbn:ANd9GcTr7Knds6NqCf7daPgjKgk6BfHFAdgi0U5TKKIR8Z18mT9xET_r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5" r="22034" b="34264"/>
          <a:stretch/>
        </p:blipFill>
        <p:spPr bwMode="auto">
          <a:xfrm>
            <a:off x="3635896" y="3864091"/>
            <a:ext cx="318905" cy="343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https://encrypted-tbn1.gstatic.com/images?q=tbn:ANd9GcQvn6l06AXqjz36WNWv8-iE015gteKls92RI3nqT1ZdAkhCghIqLpil0xcu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210" y="2964851"/>
            <a:ext cx="614440" cy="61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604111" y="3875541"/>
            <a:ext cx="2194832" cy="435504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e Semibold" pitchFamily="34" charset="0"/>
              </a:rPr>
              <a:t>Only plays simple Baseline clips</a:t>
            </a:r>
          </a:p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e Semibold" pitchFamily="34" charset="0"/>
              </a:rPr>
              <a:t>Not a commercial 4K solution</a:t>
            </a:r>
          </a:p>
        </p:txBody>
      </p:sp>
      <p:sp>
        <p:nvSpPr>
          <p:cNvPr id="10" name="Left Arrow 9"/>
          <p:cNvSpPr/>
          <p:nvPr/>
        </p:nvSpPr>
        <p:spPr bwMode="auto">
          <a:xfrm>
            <a:off x="6380790" y="3939902"/>
            <a:ext cx="271201" cy="306188"/>
          </a:xfrm>
          <a:prstGeom prst="leftArrow">
            <a:avLst/>
          </a:prstGeom>
          <a:solidFill>
            <a:srgbClr val="92D050"/>
          </a:solidFill>
          <a:ln>
            <a:noFill/>
          </a:ln>
          <a:ex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US" sz="1400" b="0" dirty="0" err="1" smtClean="0">
              <a:solidFill>
                <a:srgbClr val="FFFFFF"/>
              </a:solidFill>
              <a:latin typeface="Qualcomm Office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78013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 Die Size</a:t>
            </a:r>
            <a:endParaRPr lang="en-US" dirty="0"/>
          </a:p>
        </p:txBody>
      </p:sp>
      <p:sp>
        <p:nvSpPr>
          <p:cNvPr id="10" name="Content Placeholder 43"/>
          <p:cNvSpPr>
            <a:spLocks noGrp="1"/>
          </p:cNvSpPr>
          <p:nvPr>
            <p:ph idx="1"/>
          </p:nvPr>
        </p:nvSpPr>
        <p:spPr>
          <a:xfrm>
            <a:off x="323528" y="3405951"/>
            <a:ext cx="8424936" cy="1614072"/>
          </a:xfrm>
        </p:spPr>
        <p:txBody>
          <a:bodyPr>
            <a:norm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Re-evaluate practical worst case</a:t>
            </a: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Resource sharing (SRAM size reduction)</a:t>
            </a: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Low tier trade area for compression efficiency/video quality</a:t>
            </a: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Targeting PD optimization to improve utilization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15566"/>
            <a:ext cx="8415983" cy="249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27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Die Size Reduction Roadmap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89492"/>
            <a:ext cx="7957617" cy="415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584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Fastest HEVC Enablement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563638"/>
            <a:ext cx="8780612" cy="280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6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My Roadmap</a:t>
            </a:r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575681510"/>
              </p:ext>
            </p:extLst>
          </p:nvPr>
        </p:nvGraphicFramePr>
        <p:xfrm>
          <a:off x="467544" y="771550"/>
          <a:ext cx="8136904" cy="1656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Content Placeholder 2"/>
          <p:cNvSpPr txBox="1">
            <a:spLocks/>
          </p:cNvSpPr>
          <p:nvPr/>
        </p:nvSpPr>
        <p:spPr>
          <a:xfrm>
            <a:off x="683568" y="2283718"/>
            <a:ext cx="2304256" cy="2598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 smtClean="0"/>
              <a:t>Multi-standards </a:t>
            </a:r>
          </a:p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 smtClean="0"/>
              <a:t>4K, 10bit</a:t>
            </a:r>
          </a:p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 smtClean="0"/>
              <a:t>Area </a:t>
            </a:r>
          </a:p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 smtClean="0"/>
              <a:t>Power </a:t>
            </a:r>
          </a:p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/>
              <a:t>P</a:t>
            </a:r>
            <a:r>
              <a:rPr lang="en-US" sz="1400" dirty="0" smtClean="0"/>
              <a:t>erformance</a:t>
            </a:r>
          </a:p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 smtClean="0"/>
              <a:t>SW + FW + HW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203848" y="2298061"/>
            <a:ext cx="2304256" cy="2598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 smtClean="0"/>
              <a:t>Preprocessing</a:t>
            </a:r>
          </a:p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 err="1" smtClean="0"/>
              <a:t>Postprocessing</a:t>
            </a:r>
            <a:endParaRPr lang="en-US" sz="1400" dirty="0" smtClean="0"/>
          </a:p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 smtClean="0"/>
              <a:t>IP/connected </a:t>
            </a:r>
            <a:r>
              <a:rPr lang="en-US" sz="1400" dirty="0" smtClean="0"/>
              <a:t>camera</a:t>
            </a:r>
          </a:p>
          <a:p>
            <a:pPr lvl="1" latinLnBrk="0">
              <a:buClr>
                <a:schemeClr val="accent5">
                  <a:lumMod val="50000"/>
                </a:schemeClr>
              </a:buClr>
            </a:pPr>
            <a:r>
              <a:rPr lang="en-US" sz="800" dirty="0" smtClean="0"/>
              <a:t>Video Stabilization</a:t>
            </a:r>
          </a:p>
          <a:p>
            <a:pPr lvl="1" latinLnBrk="0">
              <a:buClr>
                <a:schemeClr val="accent5">
                  <a:lumMod val="50000"/>
                </a:schemeClr>
              </a:buClr>
            </a:pPr>
            <a:r>
              <a:rPr lang="en-US" sz="800" dirty="0" smtClean="0"/>
              <a:t>120/240 fps encoding, 1/8</a:t>
            </a:r>
            <a:r>
              <a:rPr lang="en-US" sz="800" baseline="30000" dirty="0" smtClean="0"/>
              <a:t>th</a:t>
            </a:r>
            <a:r>
              <a:rPr lang="en-US" sz="800" dirty="0" smtClean="0"/>
              <a:t> playback</a:t>
            </a:r>
            <a:endParaRPr lang="en-US" sz="800" dirty="0" smtClean="0"/>
          </a:p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 smtClean="0"/>
              <a:t>Video surveillance</a:t>
            </a:r>
          </a:p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 smtClean="0"/>
              <a:t>Video </a:t>
            </a:r>
            <a:r>
              <a:rPr lang="en-US" sz="1400" dirty="0" smtClean="0"/>
              <a:t>telephony</a:t>
            </a:r>
          </a:p>
          <a:p>
            <a:pPr lvl="1" latinLnBrk="0">
              <a:buClr>
                <a:schemeClr val="accent5">
                  <a:lumMod val="50000"/>
                </a:schemeClr>
              </a:buClr>
            </a:pPr>
            <a:r>
              <a:rPr lang="en-US" sz="800" dirty="0" smtClean="0"/>
              <a:t>Basic rate adaptation</a:t>
            </a:r>
          </a:p>
          <a:p>
            <a:pPr lvl="1" latinLnBrk="0">
              <a:buClr>
                <a:schemeClr val="accent5">
                  <a:lumMod val="50000"/>
                </a:schemeClr>
              </a:buClr>
            </a:pPr>
            <a:r>
              <a:rPr lang="en-US" sz="800" dirty="0" smtClean="0"/>
              <a:t>Dynamic FPS/resolution</a:t>
            </a:r>
          </a:p>
          <a:p>
            <a:pPr lvl="1" latinLnBrk="0">
              <a:buClr>
                <a:schemeClr val="accent5">
                  <a:lumMod val="50000"/>
                </a:schemeClr>
              </a:buClr>
            </a:pPr>
            <a:r>
              <a:rPr lang="en-US" sz="800" dirty="0" smtClean="0"/>
              <a:t>vs. </a:t>
            </a:r>
            <a:r>
              <a:rPr lang="en-US" sz="800" dirty="0" err="1" smtClean="0"/>
              <a:t>Facetime</a:t>
            </a:r>
            <a:r>
              <a:rPr lang="en-US" sz="800" dirty="0" smtClean="0"/>
              <a:t>/Skype</a:t>
            </a:r>
            <a:endParaRPr lang="en-US" sz="800" dirty="0" smtClean="0"/>
          </a:p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 err="1" smtClean="0"/>
              <a:t>IoT</a:t>
            </a:r>
            <a:r>
              <a:rPr lang="en-US" sz="1400" dirty="0" smtClean="0"/>
              <a:t>/IoE </a:t>
            </a:r>
            <a:endParaRPr lang="en-US" sz="1400" dirty="0" smtClean="0"/>
          </a:p>
          <a:p>
            <a:pPr lvl="1" latinLnBrk="0">
              <a:buClr>
                <a:schemeClr val="accent5">
                  <a:lumMod val="50000"/>
                </a:schemeClr>
              </a:buClr>
            </a:pPr>
            <a:r>
              <a:rPr lang="en-US" sz="800" dirty="0" smtClean="0"/>
              <a:t>Ultra low-cost solution</a:t>
            </a:r>
            <a:endParaRPr lang="en-US" sz="800" dirty="0" smtClean="0"/>
          </a:p>
          <a:p>
            <a:pPr latinLnBrk="0">
              <a:buClr>
                <a:schemeClr val="accent5">
                  <a:lumMod val="50000"/>
                </a:schemeClr>
              </a:buClr>
            </a:pPr>
            <a:endParaRPr lang="en-US" sz="1400" dirty="0" smtClean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868144" y="2283717"/>
            <a:ext cx="2664296" cy="2598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 smtClean="0"/>
              <a:t>ADAS (automotive)</a:t>
            </a:r>
          </a:p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 smtClean="0"/>
              <a:t>Augmented reality</a:t>
            </a:r>
          </a:p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 smtClean="0"/>
              <a:t>Face detection</a:t>
            </a:r>
          </a:p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 smtClean="0"/>
              <a:t>Face recognition</a:t>
            </a:r>
          </a:p>
          <a:p>
            <a:pPr latinLnBrk="0">
              <a:buClr>
                <a:schemeClr val="accent5">
                  <a:lumMod val="50000"/>
                </a:schemeClr>
              </a:buClr>
            </a:pPr>
            <a:r>
              <a:rPr lang="en-US" sz="1400" dirty="0" smtClean="0"/>
              <a:t>Hand gesture detection</a:t>
            </a:r>
          </a:p>
          <a:p>
            <a:pPr latinLnBrk="0">
              <a:buClr>
                <a:schemeClr val="accent5">
                  <a:lumMod val="50000"/>
                </a:schemeClr>
              </a:buClr>
            </a:pPr>
            <a:endParaRPr lang="en-US" sz="1400" dirty="0" smtClean="0"/>
          </a:p>
          <a:p>
            <a:pPr latinLnBrk="0">
              <a:buClr>
                <a:schemeClr val="accent5">
                  <a:lumMod val="50000"/>
                </a:schemeClr>
              </a:buClr>
            </a:pPr>
            <a:endParaRPr lang="en-US" sz="1400" dirty="0" smtClean="0"/>
          </a:p>
          <a:p>
            <a:pPr latinLnBrk="0">
              <a:buClr>
                <a:schemeClr val="accent5">
                  <a:lumMod val="50000"/>
                </a:schemeClr>
              </a:buClr>
            </a:pPr>
            <a:endParaRPr lang="en-US" sz="1400" dirty="0" smtClean="0"/>
          </a:p>
          <a:p>
            <a:pPr latinLnBrk="0">
              <a:buClr>
                <a:schemeClr val="accent5">
                  <a:lumMod val="50000"/>
                </a:schemeClr>
              </a:buClr>
            </a:pPr>
            <a:endParaRPr lang="en-US" sz="1400" dirty="0" smtClean="0"/>
          </a:p>
          <a:p>
            <a:pPr latinLnBrk="0">
              <a:buClr>
                <a:schemeClr val="accent5">
                  <a:lumMod val="50000"/>
                </a:schemeClr>
              </a:buClr>
            </a:pP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1319485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My Advantage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619736729"/>
              </p:ext>
            </p:extLst>
          </p:nvPr>
        </p:nvGraphicFramePr>
        <p:xfrm>
          <a:off x="1547664" y="98757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849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C.pptx" id="{48C5DA4F-3C7A-446E-909E-B2481E29B103}" vid="{050F935E-5168-4399-B72D-7A70AE05EE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SoC</Template>
  <TotalTime>13204</TotalTime>
  <Words>2464</Words>
  <Application>Microsoft Office PowerPoint</Application>
  <PresentationFormat>On-screen Show (16:9)</PresentationFormat>
  <Paragraphs>823</Paragraphs>
  <Slides>71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1" baseType="lpstr">
      <vt:lpstr>Calibre Semibold</vt:lpstr>
      <vt:lpstr>맑은 고딕</vt:lpstr>
      <vt:lpstr>Arial</vt:lpstr>
      <vt:lpstr>Calibri</vt:lpstr>
      <vt:lpstr>Qualcomm Office Bold</vt:lpstr>
      <vt:lpstr>Qualcomm Office Regular</vt:lpstr>
      <vt:lpstr>Qualcomm Office Semibold</vt:lpstr>
      <vt:lpstr>Times New Roman</vt:lpstr>
      <vt:lpstr>Wingdings</vt:lpstr>
      <vt:lpstr>SoC</vt:lpstr>
      <vt:lpstr>PowerPoint Presentation</vt:lpstr>
      <vt:lpstr>PowerPoint Presentation</vt:lpstr>
      <vt:lpstr>A Competitive Solution</vt:lpstr>
      <vt:lpstr>Market Trends</vt:lpstr>
      <vt:lpstr>Basic Usecase</vt:lpstr>
      <vt:lpstr>Video Codec Solution</vt:lpstr>
      <vt:lpstr>PowerPoint Presentation</vt:lpstr>
      <vt:lpstr>System Overview</vt:lpstr>
      <vt:lpstr>Software Overview</vt:lpstr>
      <vt:lpstr>Firmware Tasks</vt:lpstr>
      <vt:lpstr>Hardware Architecture</vt:lpstr>
      <vt:lpstr>Architecture Options</vt:lpstr>
      <vt:lpstr>Concurrency Measurement (max frame rate)</vt:lpstr>
      <vt:lpstr>Engine Configuration</vt:lpstr>
      <vt:lpstr>PowerPoint Presentation</vt:lpstr>
      <vt:lpstr>Decoder Dataflow</vt:lpstr>
      <vt:lpstr>PowerPoint Presentation</vt:lpstr>
      <vt:lpstr>PowerPoint Presentation</vt:lpstr>
      <vt:lpstr>SDE Performance</vt:lpstr>
      <vt:lpstr>PowerPoint Presentation</vt:lpstr>
      <vt:lpstr>Encoder Data Flow</vt:lpstr>
      <vt:lpstr>PowerPoint Presentation</vt:lpstr>
      <vt:lpstr>Engine Tasks (1)</vt:lpstr>
      <vt:lpstr>Engine Tasks (2)</vt:lpstr>
      <vt:lpstr>Encoder Evolution</vt:lpstr>
      <vt:lpstr>PowerPoint Presentation</vt:lpstr>
      <vt:lpstr>Background</vt:lpstr>
      <vt:lpstr>Applications</vt:lpstr>
      <vt:lpstr>Rate Control</vt:lpstr>
      <vt:lpstr>Perceptual Quantization</vt:lpstr>
      <vt:lpstr>PowerPoint Presentation</vt:lpstr>
      <vt:lpstr>Motion Estimation Control</vt:lpstr>
      <vt:lpstr>PowerPoint Presentation</vt:lpstr>
      <vt:lpstr>MISC</vt:lpstr>
      <vt:lpstr>PowerPoint Presentation</vt:lpstr>
      <vt:lpstr>Performance</vt:lpstr>
      <vt:lpstr>Video Level Static Analysis</vt:lpstr>
      <vt:lpstr>System Level Static Analysis</vt:lpstr>
      <vt:lpstr>Dynamic Latency Tolerance</vt:lpstr>
      <vt:lpstr>Performance Variations</vt:lpstr>
      <vt:lpstr>QoS</vt:lpstr>
      <vt:lpstr>PowerPoint Presentation</vt:lpstr>
      <vt:lpstr>CPU Encode</vt:lpstr>
      <vt:lpstr>CPU Encode</vt:lpstr>
      <vt:lpstr>Frame Complexity</vt:lpstr>
      <vt:lpstr>DCVS</vt:lpstr>
      <vt:lpstr>HW Competitive Analysis</vt:lpstr>
      <vt:lpstr>Power Reduction</vt:lpstr>
      <vt:lpstr>4K Downscaling</vt:lpstr>
      <vt:lpstr>4K DCVS + Downscaling</vt:lpstr>
      <vt:lpstr>PowerPoint Presentation</vt:lpstr>
      <vt:lpstr>Scalability</vt:lpstr>
      <vt:lpstr>PowerPoint Presentation</vt:lpstr>
      <vt:lpstr>Error Concealment</vt:lpstr>
      <vt:lpstr>Scenarios</vt:lpstr>
      <vt:lpstr>Error Concealment</vt:lpstr>
      <vt:lpstr>PowerPoint Presentation</vt:lpstr>
      <vt:lpstr>Value Added Features</vt:lpstr>
      <vt:lpstr>PowerPoint Presentation</vt:lpstr>
      <vt:lpstr>Research - H.266/NGVC</vt:lpstr>
      <vt:lpstr>Research - Screen Content Coding</vt:lpstr>
      <vt:lpstr>Thank you!</vt:lpstr>
      <vt:lpstr>Backup slides</vt:lpstr>
      <vt:lpstr>Team Organization</vt:lpstr>
      <vt:lpstr>PowerPoint Presentation</vt:lpstr>
      <vt:lpstr>Playback Power Analysis</vt:lpstr>
      <vt:lpstr>Video Die Size</vt:lpstr>
      <vt:lpstr>Die Size Reduction Roadmap</vt:lpstr>
      <vt:lpstr>Fastest HEVC Enablement</vt:lpstr>
      <vt:lpstr>My Roadmap</vt:lpstr>
      <vt:lpstr>My Advantage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Xu, Kelvin</cp:lastModifiedBy>
  <cp:revision>202</cp:revision>
  <dcterms:created xsi:type="dcterms:W3CDTF">2014-04-01T16:27:38Z</dcterms:created>
  <dcterms:modified xsi:type="dcterms:W3CDTF">2015-07-08T12:21:18Z</dcterms:modified>
</cp:coreProperties>
</file>